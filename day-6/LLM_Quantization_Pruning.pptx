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Memory Requirements (GB)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VRAM Required (GB)</c:v>
                </c:pt>
              </c:strCache>
            </c:strRef>
          </c:tx>
          <c:spPr>
            <a:solidFill>
              <a:srgbClr val="6366F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366F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366F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GPT-3 (FP32)</c:v>
                  </c:pt>
                  <c:pt idx="1">
                    <c:v>LLaMA2-70B (FP32)</c:v>
                  </c:pt>
                  <c:pt idx="2">
                    <c:v>LLaMA2-13B (FP32)</c:v>
                  </c:pt>
                  <c:pt idx="3">
                    <c:v>Mistral-7B (FP32)</c:v>
                  </c:pt>
                  <c:pt idx="4">
                    <c:v>Mistral-7B (INT4)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700</c:v>
                </c:pt>
                <c:pt idx="1">
                  <c:v>280</c:v>
                </c:pt>
                <c:pt idx="2">
                  <c:v>52</c:v>
                </c:pt>
                <c:pt idx="3">
                  <c:v>28</c:v>
                </c:pt>
                <c:pt idx="4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Topic: techniques that make large language models practical to deploy — quantization and pruning.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GPT-3 at FP32 needs ~700 GB — that's nearly 9 A100 GPUs. With INT4 quantization, Mistral-7B drops to just 4 GB — a single consumer GPU.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precision tier. FP32 is the default; INT8 is nearly lossless; INT4 is aggressive but works well with GPTQ/AWQ calibration.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PTQ is the most practical approach — plug-and-play. QAT requires more work but retains better quality, especially useful for INT4 deployments.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Pruning mimics how neuroscience says the brain works — removing underused connections over time. In LLMs, many weights are near-zero and safe to remove.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Unstructured gives the best accuracy-sparsity tradeoff but needs hardware like NVIDIA's 2:4 sparsity format. Structured pruning works on any hardware.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Side-by-side: quantization is broader-support and easier; pruning can achieve higher compression but needs more care and hardware alignment.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AWQ (Activation-aware Weight Quantization) is another strong contender for quantization — outperforms GPTQ on many benchmarks. vLLM supports both GPTQ and AWQ for production serving.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Summary: Start with quantization (lowest effort, big gains). Add pruning for further compression. Combine with LoRA fine-tuning for quality recovery. Always benchmark on your target hardware.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2926080" cy="2926080"/>
          </a:xfrm>
          <a:prstGeom prst="ellipse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457200"/>
            <a:ext cx="2011680" cy="2011680"/>
          </a:xfrm>
          <a:prstGeom prst="ellipse">
            <a:avLst/>
          </a:prstGeom>
          <a:solidFill>
            <a:srgbClr val="6366F1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731520" y="4572000"/>
            <a:ext cx="2560320" cy="2560320"/>
          </a:xfrm>
          <a:prstGeom prst="ellipse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57200"/>
            <a:ext cx="64008" cy="64008"/>
          </a:xfrm>
          <a:prstGeom prst="ellipse">
            <a:avLst/>
          </a:prstGeom>
          <a:solidFill>
            <a:srgbClr val="6366F1">
              <a:alpha val="5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804672"/>
            <a:ext cx="64008" cy="64008"/>
          </a:xfrm>
          <a:prstGeom prst="ellipse">
            <a:avLst/>
          </a:prstGeom>
          <a:solidFill>
            <a:srgbClr val="6366F1">
              <a:alpha val="5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152144"/>
            <a:ext cx="64008" cy="64008"/>
          </a:xfrm>
          <a:prstGeom prst="ellipse">
            <a:avLst/>
          </a:prstGeom>
          <a:solidFill>
            <a:srgbClr val="6366F1">
              <a:alpha val="5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457200"/>
            <a:ext cx="64008" cy="64008"/>
          </a:xfrm>
          <a:prstGeom prst="ellipse">
            <a:avLst/>
          </a:prstGeom>
          <a:solidFill>
            <a:srgbClr val="6366F1">
              <a:alpha val="5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96112" y="804672"/>
            <a:ext cx="64008" cy="64008"/>
          </a:xfrm>
          <a:prstGeom prst="ellipse">
            <a:avLst/>
          </a:prstGeom>
          <a:solidFill>
            <a:srgbClr val="6366F1">
              <a:alpha val="5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96112" y="1152144"/>
            <a:ext cx="64008" cy="64008"/>
          </a:xfrm>
          <a:prstGeom prst="ellipse">
            <a:avLst/>
          </a:prstGeom>
          <a:solidFill>
            <a:srgbClr val="6366F1">
              <a:alpha val="5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243584" y="457200"/>
            <a:ext cx="64008" cy="64008"/>
          </a:xfrm>
          <a:prstGeom prst="ellipse">
            <a:avLst/>
          </a:prstGeom>
          <a:solidFill>
            <a:srgbClr val="6366F1">
              <a:alpha val="5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243584" y="804672"/>
            <a:ext cx="64008" cy="64008"/>
          </a:xfrm>
          <a:prstGeom prst="ellipse">
            <a:avLst/>
          </a:prstGeom>
          <a:solidFill>
            <a:srgbClr val="6366F1">
              <a:alpha val="5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243584" y="1152144"/>
            <a:ext cx="64008" cy="64008"/>
          </a:xfrm>
          <a:prstGeom prst="ellipse">
            <a:avLst/>
          </a:prstGeom>
          <a:solidFill>
            <a:srgbClr val="6366F1">
              <a:alpha val="5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591056" y="457200"/>
            <a:ext cx="64008" cy="64008"/>
          </a:xfrm>
          <a:prstGeom prst="ellipse">
            <a:avLst/>
          </a:prstGeom>
          <a:solidFill>
            <a:srgbClr val="6366F1">
              <a:alpha val="5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591056" y="804672"/>
            <a:ext cx="64008" cy="64008"/>
          </a:xfrm>
          <a:prstGeom prst="ellipse">
            <a:avLst/>
          </a:prstGeom>
          <a:solidFill>
            <a:srgbClr val="6366F1">
              <a:alpha val="5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591056" y="1152144"/>
            <a:ext cx="64008" cy="64008"/>
          </a:xfrm>
          <a:prstGeom prst="ellipse">
            <a:avLst/>
          </a:prstGeom>
          <a:solidFill>
            <a:srgbClr val="6366F1">
              <a:alpha val="5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938528" y="457200"/>
            <a:ext cx="64008" cy="64008"/>
          </a:xfrm>
          <a:prstGeom prst="ellipse">
            <a:avLst/>
          </a:prstGeom>
          <a:solidFill>
            <a:srgbClr val="6366F1">
              <a:alpha val="5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938528" y="804672"/>
            <a:ext cx="64008" cy="64008"/>
          </a:xfrm>
          <a:prstGeom prst="ellipse">
            <a:avLst/>
          </a:prstGeom>
          <a:solidFill>
            <a:srgbClr val="6366F1">
              <a:alpha val="5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938528" y="1152144"/>
            <a:ext cx="64008" cy="64008"/>
          </a:xfrm>
          <a:prstGeom prst="ellipse">
            <a:avLst/>
          </a:prstGeom>
          <a:solidFill>
            <a:srgbClr val="6366F1">
              <a:alpha val="55000"/>
            </a:srgbClr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685800" cy="68580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502920" y="2331720"/>
            <a:ext cx="2286000" cy="310896"/>
          </a:xfrm>
          <a:prstGeom prst="roundRect">
            <a:avLst>
              <a:gd name="adj" fmla="val 14706"/>
            </a:avLst>
          </a:prstGeom>
          <a:solidFill>
            <a:srgbClr val="6366F1"/>
          </a:solidFill>
          <a:ln/>
        </p:spPr>
      </p:sp>
      <p:sp>
        <p:nvSpPr>
          <p:cNvPr id="22" name="Text 19"/>
          <p:cNvSpPr/>
          <p:nvPr/>
        </p:nvSpPr>
        <p:spPr>
          <a:xfrm>
            <a:off x="502920" y="2350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COMPRESSION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02920" y="278892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&amp;</a:t>
            </a:r>
            <a:endParaRPr lang="en-US" sz="4200" dirty="0"/>
          </a:p>
        </p:txBody>
      </p:sp>
      <p:sp>
        <p:nvSpPr>
          <p:cNvPr id="24" name="Text 21"/>
          <p:cNvSpPr/>
          <p:nvPr/>
        </p:nvSpPr>
        <p:spPr>
          <a:xfrm>
            <a:off x="502920" y="356616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 in LLMs</a:t>
            </a:r>
            <a:endParaRPr lang="en-US" sz="4200" dirty="0"/>
          </a:p>
        </p:txBody>
      </p:sp>
      <p:sp>
        <p:nvSpPr>
          <p:cNvPr id="25" name="Text 22"/>
          <p:cNvSpPr/>
          <p:nvPr/>
        </p:nvSpPr>
        <p:spPr>
          <a:xfrm>
            <a:off x="502920" y="44348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compression techniques to reduce model size,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footprint, and inference latency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8" name="Text 24"/>
          <p:cNvSpPr/>
          <p:nvPr/>
        </p:nvSpPr>
        <p:spPr>
          <a:xfrm>
            <a:off x="228600" y="494690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Ruthran Raghavan  |  Chief AI Scientist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257800" y="49469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ruthranraghavan.com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 Problem in LLMs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Compression Matters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4048" y="1700784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7276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LLMs require hundreds of GB of VRAM at full FP32 precision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84048" y="2231136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10312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consumer GPUs have only 8 – 24 GB of VRAM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84048" y="2761488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63347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costs at scale are prohibitively expensive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84048" y="3291840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16382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and edge deployment is impossible without compression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3749040"/>
            <a:ext cx="3840480" cy="1005840"/>
          </a:xfrm>
          <a:prstGeom prst="roundRect">
            <a:avLst>
              <a:gd name="adj" fmla="val 9091"/>
            </a:avLst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913632"/>
            <a:ext cx="384048" cy="38404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51560" y="3858768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= Accessibility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051560" y="417880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&amp; pruning unlock LLM deployment on consumer hardware and at the edge.</a:t>
            </a:r>
            <a:endParaRPr lang="en-US" sz="11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4480560" y="1005840"/>
          <a:ext cx="43891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Shape 1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0" name="Text 15"/>
          <p:cNvSpPr/>
          <p:nvPr/>
        </p:nvSpPr>
        <p:spPr>
          <a:xfrm>
            <a:off x="228600" y="494690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Ruthran Raghavan  |  Chief AI Scientist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5257800" y="49469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ruthranraghavan.com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8016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09728"/>
            <a:ext cx="7955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Quantization?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65760" y="1051560"/>
            <a:ext cx="8412480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097280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reduces the numerical precision of model weights and activations — for example, from 32-bit floats (FP32) down to 8-bit integers (INT8) or 4-bit integers (INT4). This directly cuts memory usage and speeds up computation.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65760" y="1920240"/>
            <a:ext cx="1901952" cy="1874520"/>
          </a:xfrm>
          <a:prstGeom prst="roundRect">
            <a:avLst>
              <a:gd name="adj" fmla="val 487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2011680"/>
            <a:ext cx="1719072" cy="347472"/>
          </a:xfrm>
          <a:prstGeom prst="roundRect">
            <a:avLst>
              <a:gd name="adj" fmla="val 15789"/>
            </a:avLst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2029968"/>
            <a:ext cx="1719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FP32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245059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bits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65760" y="2761488"/>
            <a:ext cx="1901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precision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quality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267712" y="267004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468880" y="1920240"/>
            <a:ext cx="1901952" cy="1874520"/>
          </a:xfrm>
          <a:prstGeom prst="roundRect">
            <a:avLst>
              <a:gd name="adj" fmla="val 487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560320" y="2011680"/>
            <a:ext cx="1719072" cy="347472"/>
          </a:xfrm>
          <a:prstGeom prst="roundRect">
            <a:avLst>
              <a:gd name="adj" fmla="val 15789"/>
            </a:avLst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2560320" y="2029968"/>
            <a:ext cx="1719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FP16/BF16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468880" y="245059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bits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468880" y="2761488"/>
            <a:ext cx="1901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precision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smaller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370832" y="267004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572000" y="1920240"/>
            <a:ext cx="1901952" cy="1874520"/>
          </a:xfrm>
          <a:prstGeom prst="roundRect">
            <a:avLst>
              <a:gd name="adj" fmla="val 487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663440" y="2011680"/>
            <a:ext cx="1719072" cy="347472"/>
          </a:xfrm>
          <a:prstGeom prst="roundRect">
            <a:avLst>
              <a:gd name="adj" fmla="val 15789"/>
            </a:avLst>
          </a:prstGeom>
          <a:solidFill>
            <a:srgbClr val="10B981"/>
          </a:solidFill>
          <a:ln/>
        </p:spPr>
      </p:sp>
      <p:sp>
        <p:nvSpPr>
          <p:cNvPr id="21" name="Text 18"/>
          <p:cNvSpPr/>
          <p:nvPr/>
        </p:nvSpPr>
        <p:spPr>
          <a:xfrm>
            <a:off x="4663440" y="2029968"/>
            <a:ext cx="1719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0" y="245059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bits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72000" y="2761488"/>
            <a:ext cx="1901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smaller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quality loss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473952" y="267004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675120" y="1920240"/>
            <a:ext cx="1901952" cy="1874520"/>
          </a:xfrm>
          <a:prstGeom prst="roundRect">
            <a:avLst>
              <a:gd name="adj" fmla="val 487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766560" y="2011680"/>
            <a:ext cx="1719072" cy="347472"/>
          </a:xfrm>
          <a:prstGeom prst="roundRect">
            <a:avLst>
              <a:gd name="adj" fmla="val 15789"/>
            </a:avLst>
          </a:prstGeom>
          <a:solidFill>
            <a:srgbClr val="6366F1"/>
          </a:solidFill>
          <a:ln/>
        </p:spPr>
      </p:sp>
      <p:sp>
        <p:nvSpPr>
          <p:cNvPr id="27" name="Text 24"/>
          <p:cNvSpPr/>
          <p:nvPr/>
        </p:nvSpPr>
        <p:spPr>
          <a:xfrm>
            <a:off x="6766560" y="2029968"/>
            <a:ext cx="1719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INT4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675120" y="245059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bits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675120" y="2761488"/>
            <a:ext cx="1901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 smaller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tradeoff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65760" y="3977640"/>
            <a:ext cx="2670048" cy="795528"/>
          </a:xfrm>
          <a:prstGeom prst="roundRect">
            <a:avLst>
              <a:gd name="adj" fmla="val 9195"/>
            </a:avLst>
          </a:prstGeom>
          <a:solidFill>
            <a:srgbClr val="D1FAE5"/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142232"/>
            <a:ext cx="301752" cy="301752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914400" y="41330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inference speed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3291840" y="3977640"/>
            <a:ext cx="2670048" cy="795528"/>
          </a:xfrm>
          <a:prstGeom prst="roundRect">
            <a:avLst>
              <a:gd name="adj" fmla="val 9195"/>
            </a:avLst>
          </a:prstGeom>
          <a:solidFill>
            <a:srgbClr val="EEF2FF"/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4142232"/>
            <a:ext cx="301752" cy="301752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3840480" y="41330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memory footprint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6217920" y="3977640"/>
            <a:ext cx="2670048" cy="795528"/>
          </a:xfrm>
          <a:prstGeom prst="roundRect">
            <a:avLst>
              <a:gd name="adj" fmla="val 9195"/>
            </a:avLst>
          </a:prstGeom>
          <a:solidFill>
            <a:srgbClr val="FEF3C7"/>
          </a:solidFill>
          <a:ln/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142232"/>
            <a:ext cx="301752" cy="301752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6766560" y="41330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 accuracy tradeoff</a:t>
            </a:r>
            <a:endParaRPr lang="en-US" sz="1200" dirty="0"/>
          </a:p>
        </p:txBody>
      </p:sp>
      <p:sp>
        <p:nvSpPr>
          <p:cNvPr id="40" name="Shape 3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41" name="Text 34"/>
          <p:cNvSpPr/>
          <p:nvPr/>
        </p:nvSpPr>
        <p:spPr>
          <a:xfrm>
            <a:off x="228600" y="494690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Ruthran Raghavan  |  Chief AI Scientist</a:t>
            </a:r>
            <a:endParaRPr lang="en-US" sz="900" dirty="0"/>
          </a:p>
        </p:txBody>
      </p:sp>
      <p:sp>
        <p:nvSpPr>
          <p:cNvPr id="42" name="Text 35"/>
          <p:cNvSpPr/>
          <p:nvPr/>
        </p:nvSpPr>
        <p:spPr>
          <a:xfrm>
            <a:off x="5257800" y="49469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ruthranraghavan.com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Quantization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931920" cy="3794760"/>
          </a:xfrm>
          <a:prstGeom prst="roundRect">
            <a:avLst>
              <a:gd name="adj" fmla="val 241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3931920" cy="685800"/>
          </a:xfrm>
          <a:prstGeom prst="roundRect">
            <a:avLst>
              <a:gd name="adj" fmla="val 13333"/>
            </a:avLst>
          </a:prstGeom>
          <a:solidFill>
            <a:srgbClr val="6366F1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600200"/>
            <a:ext cx="3931920" cy="1371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Post-Training Quantization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(PTQ)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18470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after training is complete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441448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236829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retrain or fine-tune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962656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288950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simple to apply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483864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4107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accuracy drop at INT4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005072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3931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Popular: GPTQ, AWQ, bitsandbytes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846320" y="1051560"/>
            <a:ext cx="3931920" cy="3794760"/>
          </a:xfrm>
          <a:prstGeom prst="roundRect">
            <a:avLst>
              <a:gd name="adj" fmla="val 241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051560"/>
            <a:ext cx="3931920" cy="68580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4846320" y="1600200"/>
            <a:ext cx="3931920" cy="137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109728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Quantization-Aware Training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144475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(QAT)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0" y="192024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5230368" y="18470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quantization during training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029200" y="2441448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5230368" y="236829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adapts to lower precision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029200" y="2962656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5230368" y="288950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accuracy than PTQ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029200" y="3483864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5230368" y="34107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training pipeline access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029200" y="400507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5230368" y="3931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QLoRA, LLM.int8()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206240" y="256032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7" name="Text 34"/>
          <p:cNvSpPr/>
          <p:nvPr/>
        </p:nvSpPr>
        <p:spPr>
          <a:xfrm>
            <a:off x="228600" y="494690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Ruthran Raghavan  |  Chief AI Scientist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257800" y="49469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ruthranraghavan.com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3657600" cy="3657600"/>
          </a:xfrm>
          <a:prstGeom prst="ellipse">
            <a:avLst/>
          </a:prstGeom>
          <a:solidFill>
            <a:srgbClr val="6366F1">
              <a:alpha val="10000"/>
            </a:srgbClr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10B981">
              <a:alpha val="12000"/>
            </a:srgbClr>
          </a:solidFill>
          <a:ln w="6350">
            <a:solidFill>
              <a:srgbClr val="10B98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8368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70432" y="713232"/>
            <a:ext cx="1645920" cy="292608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/>
        </p:spPr>
      </p:sp>
      <p:sp>
        <p:nvSpPr>
          <p:cNvPr id="6" name="Text 3"/>
          <p:cNvSpPr/>
          <p:nvPr/>
        </p:nvSpPr>
        <p:spPr>
          <a:xfrm>
            <a:off x="1170432" y="731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PRUNING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170432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Pruning?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457200" y="1920240"/>
            <a:ext cx="5486400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19659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 removes redundant or low-importance weights from a trained neural network, creating a sparser model that requires fewer parameters and fewer floating-point operations (FLOPs).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2999232"/>
            <a:ext cx="2578608" cy="1783080"/>
          </a:xfrm>
          <a:prstGeom prst="roundRect">
            <a:avLst>
              <a:gd name="adj" fmla="val 5128"/>
            </a:avLst>
          </a:prstGeom>
          <a:solidFill>
            <a:srgbClr val="1E293B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3090672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57200" y="3675888"/>
            <a:ext cx="2578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weights can be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zeroed out with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quality loss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291840" y="2999232"/>
            <a:ext cx="2578608" cy="1783080"/>
          </a:xfrm>
          <a:prstGeom prst="roundRect">
            <a:avLst>
              <a:gd name="adj" fmla="val 5128"/>
            </a:avLst>
          </a:prstGeom>
          <a:solidFill>
            <a:srgbClr val="1E293B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91840" y="3090672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– 10×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3291840" y="3675888"/>
            <a:ext cx="2578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achievable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sparse-aware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support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126480" y="2999232"/>
            <a:ext cx="2578608" cy="1783080"/>
          </a:xfrm>
          <a:prstGeom prst="roundRect">
            <a:avLst>
              <a:gd name="adj" fmla="val 5128"/>
            </a:avLst>
          </a:prstGeom>
          <a:solidFill>
            <a:srgbClr val="1E293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26480" y="3090672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SparseGPT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126480" y="3675888"/>
            <a:ext cx="2578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prunes LLMs to 50%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 in one pass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&lt;1% perplexity loss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1" name="Text 17"/>
          <p:cNvSpPr/>
          <p:nvPr/>
        </p:nvSpPr>
        <p:spPr>
          <a:xfrm>
            <a:off x="228600" y="494690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Ruthran Raghavan  |  Chief AI Scientist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5257800" y="49469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ruthranraghavan.com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8016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09728"/>
            <a:ext cx="7955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Pruning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65760" y="1051560"/>
            <a:ext cx="3931920" cy="3794760"/>
          </a:xfrm>
          <a:prstGeom prst="roundRect">
            <a:avLst>
              <a:gd name="adj" fmla="val 241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1051560"/>
            <a:ext cx="3931920" cy="68580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/>
        </p:spPr>
      </p:sp>
      <p:sp>
        <p:nvSpPr>
          <p:cNvPr id="7" name="Shape 4"/>
          <p:cNvSpPr/>
          <p:nvPr/>
        </p:nvSpPr>
        <p:spPr>
          <a:xfrm>
            <a:off x="365760" y="1600200"/>
            <a:ext cx="3931920" cy="1371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09728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Pruning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144475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5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weight removal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1920240"/>
            <a:ext cx="91440" cy="9144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" y="18470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individual weights (not structures)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2441448"/>
            <a:ext cx="91440" cy="9144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3" name="Text 10"/>
          <p:cNvSpPr/>
          <p:nvPr/>
        </p:nvSpPr>
        <p:spPr>
          <a:xfrm>
            <a:off x="749808" y="236829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accuracy at high sparsity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2962656"/>
            <a:ext cx="91440" cy="9144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5" name="Text 12"/>
          <p:cNvSpPr/>
          <p:nvPr/>
        </p:nvSpPr>
        <p:spPr>
          <a:xfrm>
            <a:off x="749808" y="288950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sparse, irregular weight matrices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3483864"/>
            <a:ext cx="91440" cy="9144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7" name="Text 14"/>
          <p:cNvSpPr/>
          <p:nvPr/>
        </p:nvSpPr>
        <p:spPr>
          <a:xfrm>
            <a:off x="749808" y="34107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sparse kernels for real speedups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8640" y="4005072"/>
            <a:ext cx="91440" cy="9144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9" name="Text 16"/>
          <p:cNvSpPr/>
          <p:nvPr/>
        </p:nvSpPr>
        <p:spPr>
          <a:xfrm>
            <a:off x="749808" y="3931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tools: SparseGPT, Wanda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846320" y="1051560"/>
            <a:ext cx="3931920" cy="3794760"/>
          </a:xfrm>
          <a:prstGeom prst="roundRect">
            <a:avLst>
              <a:gd name="adj" fmla="val 241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846320" y="1051560"/>
            <a:ext cx="3931920" cy="685800"/>
          </a:xfrm>
          <a:prstGeom prst="roundRect">
            <a:avLst>
              <a:gd name="adj" fmla="val 13333"/>
            </a:avLst>
          </a:prstGeom>
          <a:solidFill>
            <a:srgbClr val="6366F1"/>
          </a:solidFill>
          <a:ln/>
        </p:spPr>
      </p:sp>
      <p:sp>
        <p:nvSpPr>
          <p:cNvPr id="22" name="Shape 19"/>
          <p:cNvSpPr/>
          <p:nvPr/>
        </p:nvSpPr>
        <p:spPr>
          <a:xfrm>
            <a:off x="4846320" y="1600200"/>
            <a:ext cx="3931920" cy="1371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3" name="Text 20"/>
          <p:cNvSpPr/>
          <p:nvPr/>
        </p:nvSpPr>
        <p:spPr>
          <a:xfrm>
            <a:off x="4937760" y="109728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Pruning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937760" y="144475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structure removal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029200" y="1920240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6" name="Text 23"/>
          <p:cNvSpPr/>
          <p:nvPr/>
        </p:nvSpPr>
        <p:spPr>
          <a:xfrm>
            <a:off x="5230368" y="18470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neurons, heads, or entire layers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5029200" y="2441448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8" name="Text 25"/>
          <p:cNvSpPr/>
          <p:nvPr/>
        </p:nvSpPr>
        <p:spPr>
          <a:xfrm>
            <a:off x="5230368" y="236829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matrices — no sparse hardware needed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5029200" y="2962656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0" name="Text 27"/>
          <p:cNvSpPr/>
          <p:nvPr/>
        </p:nvSpPr>
        <p:spPr>
          <a:xfrm>
            <a:off x="5230368" y="288950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with standard GPU inference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5029200" y="3483864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2" name="Text 29"/>
          <p:cNvSpPr/>
          <p:nvPr/>
        </p:nvSpPr>
        <p:spPr>
          <a:xfrm>
            <a:off x="5230368" y="34107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accuracy cost than unstructured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5029200" y="4005072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4" name="Text 31"/>
          <p:cNvSpPr/>
          <p:nvPr/>
        </p:nvSpPr>
        <p:spPr>
          <a:xfrm>
            <a:off x="5230368" y="3931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tools: LLM-Pruner, ShortGPT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4224528" y="2514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8" name="Text 34"/>
          <p:cNvSpPr/>
          <p:nvPr/>
        </p:nvSpPr>
        <p:spPr>
          <a:xfrm>
            <a:off x="228600" y="494690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Ruthran Raghavan  |  Chief AI Scientist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5257800" y="49469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ruthranraghavan.com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8016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09728"/>
            <a:ext cx="7955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vs Pruning: At a Glance</a:t>
            </a:r>
            <a:endParaRPr lang="en-US" sz="2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3995928"/>
        </p:xfrm>
        <a:graphic>
          <a:graphicData uri="http://schemas.openxmlformats.org/drawingml/2006/table">
            <a:tbl>
              <a:tblPr/>
              <a:tblGrid>
                <a:gridCol w="1920240"/>
                <a:gridCol w="3246120"/>
                <a:gridCol w="3246120"/>
              </a:tblGrid>
              <a:tr h="4434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changes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of weights &amp; activations (bit-width)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weights (zeros or removed structures)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technique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 FP32 → INT8 / INT4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out or remove low-magnitude weights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savings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 – 8× (FP16 → INT4)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10× at high sparsity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 gains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 – 4× with INT8/INT4 kernels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 – 10× with sparse-capable hardware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at INT8 (≈ FP16); moderate at INT4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≤ 50% sparsity; higher beyond that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needed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GPU/CPU with INT kernels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 HW for unstructured (e.g., NVIDIA A100 2:4)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Ease of 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easy — PTQ needs no retraining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— often needs fine-tuning to recover quality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Popular tools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bitsandbytes, GPTQ, AWQ, llama.cpp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SparseGPT, Wanda, LLM-Pruner, ShortGPT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8" name="Text 3"/>
          <p:cNvSpPr/>
          <p:nvPr/>
        </p:nvSpPr>
        <p:spPr>
          <a:xfrm>
            <a:off x="228600" y="494690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Ruthran Raghavan  |  Chief AI Scientist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5257800" y="49469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ruthranraghavan.com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8016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09728"/>
            <a:ext cx="7955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Tools &amp; Frameworks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65760" y="1097280"/>
            <a:ext cx="2670048" cy="1719072"/>
          </a:xfrm>
          <a:prstGeom prst="roundRect">
            <a:avLst>
              <a:gd name="adj" fmla="val 53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75488" y="1225296"/>
            <a:ext cx="1188720" cy="246888"/>
          </a:xfrm>
          <a:prstGeom prst="roundRect">
            <a:avLst>
              <a:gd name="adj" fmla="val 14815"/>
            </a:avLst>
          </a:prstGeom>
          <a:solidFill>
            <a:srgbClr val="6366F1"/>
          </a:solidFill>
          <a:ln/>
        </p:spPr>
      </p:sp>
      <p:sp>
        <p:nvSpPr>
          <p:cNvPr id="7" name="Text 4"/>
          <p:cNvSpPr/>
          <p:nvPr/>
        </p:nvSpPr>
        <p:spPr>
          <a:xfrm>
            <a:off x="475488" y="12344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Quantization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75488" y="1572768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llama.cpp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75488" y="1938528"/>
            <a:ext cx="24505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CPU-friendly GGUF format. Runs Mistral, LLaMA, Phi on consumer hardware at INT4/INT8 with no GPU needed.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1097280"/>
            <a:ext cx="2670048" cy="1719072"/>
          </a:xfrm>
          <a:prstGeom prst="roundRect">
            <a:avLst>
              <a:gd name="adj" fmla="val 53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10128" y="1225296"/>
            <a:ext cx="1188720" cy="246888"/>
          </a:xfrm>
          <a:prstGeom prst="roundRect">
            <a:avLst>
              <a:gd name="adj" fmla="val 14815"/>
            </a:avLst>
          </a:prstGeom>
          <a:solidFill>
            <a:srgbClr val="6366F1"/>
          </a:solidFill>
          <a:ln/>
        </p:spPr>
      </p:sp>
      <p:sp>
        <p:nvSpPr>
          <p:cNvPr id="12" name="Text 9"/>
          <p:cNvSpPr/>
          <p:nvPr/>
        </p:nvSpPr>
        <p:spPr>
          <a:xfrm>
            <a:off x="3310128" y="12344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Quantization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310128" y="1572768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bitsandbytes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310128" y="1938528"/>
            <a:ext cx="24505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 &amp; 4-bit quantization for PyTorch. Drop-in HuggingFace integration. Powers QLoRA fine-tuning.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035040" y="1097280"/>
            <a:ext cx="2670048" cy="1719072"/>
          </a:xfrm>
          <a:prstGeom prst="roundRect">
            <a:avLst>
              <a:gd name="adj" fmla="val 53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44768" y="1225296"/>
            <a:ext cx="1188720" cy="246888"/>
          </a:xfrm>
          <a:prstGeom prst="roundRect">
            <a:avLst>
              <a:gd name="adj" fmla="val 14815"/>
            </a:avLst>
          </a:prstGeom>
          <a:solidFill>
            <a:srgbClr val="6366F1"/>
          </a:solidFill>
          <a:ln/>
        </p:spPr>
      </p:sp>
      <p:sp>
        <p:nvSpPr>
          <p:cNvPr id="17" name="Text 14"/>
          <p:cNvSpPr/>
          <p:nvPr/>
        </p:nvSpPr>
        <p:spPr>
          <a:xfrm>
            <a:off x="6144768" y="12344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Quantization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144768" y="1572768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GPTQ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144768" y="1938528"/>
            <a:ext cx="24505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Layer-wise second-order quantization. State-of-the-art accuracy at INT4. Wide model support.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65760" y="2999232"/>
            <a:ext cx="2670048" cy="1719072"/>
          </a:xfrm>
          <a:prstGeom prst="roundRect">
            <a:avLst>
              <a:gd name="adj" fmla="val 53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5488" y="3127248"/>
            <a:ext cx="1188720" cy="246888"/>
          </a:xfrm>
          <a:prstGeom prst="roundRect">
            <a:avLst>
              <a:gd name="adj" fmla="val 14815"/>
            </a:avLst>
          </a:prstGeom>
          <a:solidFill>
            <a:srgbClr val="1E293B"/>
          </a:solidFill>
          <a:ln/>
        </p:spPr>
      </p:sp>
      <p:sp>
        <p:nvSpPr>
          <p:cNvPr id="22" name="Text 19"/>
          <p:cNvSpPr/>
          <p:nvPr/>
        </p:nvSpPr>
        <p:spPr>
          <a:xfrm>
            <a:off x="475488" y="313639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Pruning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75488" y="347472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SparseGPT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475488" y="3840480"/>
            <a:ext cx="24505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 unstructured pruning using approximate sparse regression. Achieves 50% sparsity with no retraining.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200400" y="2999232"/>
            <a:ext cx="2670048" cy="1719072"/>
          </a:xfrm>
          <a:prstGeom prst="roundRect">
            <a:avLst>
              <a:gd name="adj" fmla="val 53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310128" y="3127248"/>
            <a:ext cx="1188720" cy="246888"/>
          </a:xfrm>
          <a:prstGeom prst="roundRect">
            <a:avLst>
              <a:gd name="adj" fmla="val 14815"/>
            </a:avLst>
          </a:prstGeom>
          <a:solidFill>
            <a:srgbClr val="1E293B"/>
          </a:solidFill>
          <a:ln/>
        </p:spPr>
      </p:sp>
      <p:sp>
        <p:nvSpPr>
          <p:cNvPr id="27" name="Text 24"/>
          <p:cNvSpPr/>
          <p:nvPr/>
        </p:nvSpPr>
        <p:spPr>
          <a:xfrm>
            <a:off x="3310128" y="313639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Pruning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310128" y="347472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Wanda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3310128" y="3840480"/>
            <a:ext cx="24505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fast pruning using weight magnitude × activation norm. No back-propagation needed. Very fast.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035040" y="2999232"/>
            <a:ext cx="2670048" cy="1719072"/>
          </a:xfrm>
          <a:prstGeom prst="roundRect">
            <a:avLst>
              <a:gd name="adj" fmla="val 53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144768" y="3127248"/>
            <a:ext cx="1188720" cy="246888"/>
          </a:xfrm>
          <a:prstGeom prst="roundRect">
            <a:avLst>
              <a:gd name="adj" fmla="val 14815"/>
            </a:avLst>
          </a:prstGeom>
          <a:solidFill>
            <a:srgbClr val="1E293B"/>
          </a:solidFill>
          <a:ln/>
        </p:spPr>
      </p:sp>
      <p:sp>
        <p:nvSpPr>
          <p:cNvPr id="32" name="Text 29"/>
          <p:cNvSpPr/>
          <p:nvPr/>
        </p:nvSpPr>
        <p:spPr>
          <a:xfrm>
            <a:off x="6144768" y="313639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Pruning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144768" y="347472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LLM-Pruner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6144768" y="3840480"/>
            <a:ext cx="24505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pruning that removes non-critical model sub-structures followed by fast LoRA-based recovery.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7" name="Text 33"/>
          <p:cNvSpPr/>
          <p:nvPr/>
        </p:nvSpPr>
        <p:spPr>
          <a:xfrm>
            <a:off x="228600" y="494690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Ruthran Raghavan  |  Chief AI Scientist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5257800" y="49469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ruthranraghavan.com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371600"/>
            <a:ext cx="3200400" cy="3200400"/>
          </a:xfrm>
          <a:prstGeom prst="ellipse">
            <a:avLst/>
          </a:prstGeom>
          <a:solidFill>
            <a:srgbClr val="6366F1">
              <a:alpha val="12000"/>
            </a:srgbClr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840480"/>
            <a:ext cx="2286000" cy="2286000"/>
          </a:xfrm>
          <a:prstGeom prst="ellipse">
            <a:avLst/>
          </a:prstGeom>
          <a:solidFill>
            <a:srgbClr val="10B981">
              <a:alpha val="12000"/>
            </a:srgbClr>
          </a:solidFill>
          <a:ln w="6350">
            <a:solidFill>
              <a:srgbClr val="10B98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4864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50292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8229600" cy="758952"/>
          </a:xfrm>
          <a:prstGeom prst="roundRect">
            <a:avLst>
              <a:gd name="adj" fmla="val 9639"/>
            </a:avLst>
          </a:prstGeom>
          <a:solidFill>
            <a:srgbClr val="1E293B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645920"/>
            <a:ext cx="118872" cy="1188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39903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is the easiest win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1700784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PTQ (GPTQ, AWQ, bitsandbytes) requires no retraining and delivers 4–8× memory savings with minimal quality loss.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7200" y="2203704"/>
            <a:ext cx="8229600" cy="758952"/>
          </a:xfrm>
          <a:prstGeom prst="roundRect">
            <a:avLst>
              <a:gd name="adj" fmla="val 9639"/>
            </a:avLst>
          </a:prstGeom>
          <a:solidFill>
            <a:srgbClr val="1E293B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2523744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227685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 unlocks model sparsity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68680" y="2578608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pruning (SparseGPT, Wanda) can remove 50%+ of weights. Structured pruning creates smaller, dense sub-models.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" y="3081528"/>
            <a:ext cx="8229600" cy="758952"/>
          </a:xfrm>
          <a:prstGeom prst="roundRect">
            <a:avLst>
              <a:gd name="adj" fmla="val 9639"/>
            </a:avLst>
          </a:prstGeom>
          <a:solidFill>
            <a:srgbClr val="1E293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0080" y="3401568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315468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for maximum efficiency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68680" y="345643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= Quantization + LoRA fine-tuning. GPTQ + sparse kernels can deliver exceptional throughput at scale.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57200" y="3959352"/>
            <a:ext cx="8229600" cy="758952"/>
          </a:xfrm>
          <a:prstGeom prst="roundRect">
            <a:avLst>
              <a:gd name="adj" fmla="val 9639"/>
            </a:avLst>
          </a:prstGeom>
          <a:solidFill>
            <a:srgbClr val="1E293B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0080" y="4279392"/>
            <a:ext cx="118872" cy="118872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0" name="Text 17"/>
          <p:cNvSpPr/>
          <p:nvPr/>
        </p:nvSpPr>
        <p:spPr>
          <a:xfrm>
            <a:off x="868680" y="403250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alignment is critical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68680" y="4334256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INT8/INT4 gains require optimized kernels (vLLM, TensorRT). Unstructured pruning needs sparse-capable hardware for real speedups.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4" name="Text 20"/>
          <p:cNvSpPr/>
          <p:nvPr/>
        </p:nvSpPr>
        <p:spPr>
          <a:xfrm>
            <a:off x="228600" y="494690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Ruthran Raghavan  |  Chief AI Scientist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5257800" y="49469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ruthranraghavan.com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Quantization &amp; Pruning in LLMs</dc:title>
  <dc:subject>PptxGenJS Presentation</dc:subject>
  <dc:creator>PptxGenJS</dc:creator>
  <cp:lastModifiedBy>PptxGenJS</cp:lastModifiedBy>
  <cp:revision>1</cp:revision>
  <dcterms:created xsi:type="dcterms:W3CDTF">2026-06-21T13:23:42Z</dcterms:created>
  <dcterms:modified xsi:type="dcterms:W3CDTF">2026-06-21T13:23:42Z</dcterms:modified>
</cp:coreProperties>
</file>