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1B4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1B4B"/>
                </a:solidFill>
                <a:latin typeface="Arial"/>
              </a:rPr>
              <a:t>Model Size (Billion Parameters)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Parameters (Billions)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1B4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2C55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GPT-3</c:v>
                  </c:pt>
                  <c:pt idx="1">
                    <c:v>LLaMA-2 70B</c:v>
                  </c:pt>
                  <c:pt idx="2">
                    <c:v>Llama-3.1 70B</c:v>
                  </c:pt>
                  <c:pt idx="3">
                    <c:v>Phi-4 14B</c:v>
                  </c:pt>
                  <c:pt idx="4">
                    <c:v>Gemma-3 12B</c:v>
                  </c:pt>
                  <c:pt idx="5">
                    <c:v>Phi-4-Mini 3.8B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175</c:v>
                </c:pt>
                <c:pt idx="1">
                  <c:v>70</c:v>
                </c:pt>
                <c:pt idx="2">
                  <c:v>70</c:v>
                </c:pt>
                <c:pt idx="3">
                  <c:v>14</c:v>
                </c:pt>
                <c:pt idx="4">
                  <c:v>12</c:v>
                </c:pt>
                <c:pt idx="5">
                  <c:v>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1B4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Welcome! Today we'll learn about LoRA and QLoRA — two clever tricks that let anyone fine-tune massive AI models cheaply and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numbers give learners a sense of scale. The point: these models are MASSIVE, so training or even loading them is a big challenge.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insight: LoRA and QLoRA make fine-tuning accessible to everyone, not just billion-dollar labs.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insight of LoRA: freeze the big pre-trained model, add small trainable matrices on top. Only those new matrices get updated during fine-tuning.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rank (8 in this example) controls the information bottleneck. Low rank = fast &amp; small; high rank = more expressive but bigger.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most use cases: r=8, alpha=16, target q_proj and v_proj. This is the standard HuggingFace PEFT default and works well for 90% of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LoRA ecosystem exploded in 2023–2025. Hugging Face PEFT library, Unsloth, and LlamaFactory made it easy for anyone to fine-tune. Key insight: LoRA made open-source AI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LoRA transformed AI art. Artists use CivitAI to share LoRA models for free — a community of millions. Flux.1 in 2024 was a massive quality leap. Video LoRAs in 2025 are the new frontier.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QLoRA was a breakthrough in 2023. The key insight: backpropagation through a quantized model is possible! The quantized base model provides stable gradients; the LoRA adapters capture new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NF4 is the key innovation — it's specifically calibrated for the normal distribution of neural network weights, losing almost no information vs FP16 for this specific use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2025 trend: QLoRA fine-tuning has become mainstream. Unsloth made it 2x faster and 80% cheaper. Most AI startups now use QLoRA to customize open-source models for their products.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 line: QLoRA has democratized fine-tuning. In 2025, students, startups, and individual developers routinely fine-tune 7B–13B models on consumer hardware. Even 70B models are accessible to small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message: LoRA and QLoRA democratized AI fine-tuning. What was only possible for Google/OpenAI in 2022 is now possible for a college student with a gaming PC in 2025. The future of AI is open!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7C3AED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2011680" cy="201168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3200400"/>
            <a:ext cx="2743200" cy="27432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-548640"/>
            <a:ext cx="1371600" cy="1371600"/>
          </a:xfrm>
          <a:prstGeom prst="ellipse">
            <a:avLst/>
          </a:prstGeom>
          <a:solidFill>
            <a:srgbClr val="EC4899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5720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82296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118872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5720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82296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18872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280160" y="45720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280160" y="82296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280160" y="118872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45720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645920" y="82296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645920" y="118872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2011680" y="45720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2011680" y="82296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2011680" y="1188720"/>
            <a:ext cx="73152" cy="73152"/>
          </a:xfrm>
          <a:prstGeom prst="ellipse">
            <a:avLst/>
          </a:prstGeom>
          <a:solidFill>
            <a:srgbClr val="7C3AED">
              <a:alpha val="60000"/>
            </a:srgbClr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731520" cy="7315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57200" y="2331720"/>
            <a:ext cx="2743200" cy="329184"/>
          </a:xfrm>
          <a:prstGeom prst="roundRect">
            <a:avLst>
              <a:gd name="adj" fmla="val 13889"/>
            </a:avLst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23500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PARAMETER-EFFICIENT FINE-TUNING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57200" y="274320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7000" dirty="0"/>
          </a:p>
        </p:txBody>
      </p:sp>
      <p:sp>
        <p:nvSpPr>
          <p:cNvPr id="25" name="Text 22"/>
          <p:cNvSpPr/>
          <p:nvPr/>
        </p:nvSpPr>
        <p:spPr>
          <a:xfrm>
            <a:off x="457200" y="36118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QLoRA</a:t>
            </a:r>
            <a:endParaRPr lang="en-US" sz="4800" dirty="0"/>
          </a:p>
        </p:txBody>
      </p:sp>
      <p:sp>
        <p:nvSpPr>
          <p:cNvPr id="26" name="Text 23"/>
          <p:cNvSpPr/>
          <p:nvPr/>
        </p:nvSpPr>
        <p:spPr>
          <a:xfrm>
            <a:off x="457200" y="45262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AI new tricks — without breaking the bank!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9" name="Text 25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Are GIANT Brains!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big is a language model?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84048" y="1636776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" y="15087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has 175 BILLION numbers (parameters)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84048" y="2112264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984248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3.1 (405B) has 405 billion numbers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84048" y="2587752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245973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storing GPT-3 takes 700 GB of space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84048" y="3063240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293522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GPT-3 used 570 GB of internet text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384048" y="3538728"/>
            <a:ext cx="91440" cy="914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" y="34107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learned from more text than you could read in 100,000 years!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365760" y="39319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02336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22960" y="4005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English!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75488" y="4279392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if you read EVERY book, website, article, and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 page ever written. That's what an LLM does!</a:t>
            </a:r>
            <a:endParaRPr lang="en-US" sz="12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663440" y="1005840"/>
          <a:ext cx="42519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2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17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&amp; The Cost Problem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Fine-Tuning?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365760" y="1572768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02920" y="1627632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LLMs already know LOADS from pre-training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2139696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219456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Fine-tuning = teach it ONE specific skill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65760" y="2706624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02920" y="27614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Examples: become a doctor AI, legal assistant, or coding helper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5760" y="3273552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02920" y="3328416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You show it new examples, it learns from them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65760" y="393192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02336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22960" y="400507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English!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5488" y="4279392"/>
            <a:ext cx="39136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already know how to read &amp; write. Fine-tuning is like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 special cooking class — you gain new skills without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how to read!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754880" y="109728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But... Full Fine-Tuning is EXPENSIVE!</a:t>
            </a:r>
            <a:endParaRPr lang="en-US" sz="1400" dirty="0"/>
          </a:p>
        </p:txBody>
      </p:sp>
      <p:sp>
        <p:nvSpPr>
          <p:cNvPr id="19" name="Shape 15"/>
          <p:cNvSpPr/>
          <p:nvPr/>
        </p:nvSpPr>
        <p:spPr>
          <a:xfrm>
            <a:off x="4754880" y="157276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0" name="Text 16"/>
          <p:cNvSpPr/>
          <p:nvPr/>
        </p:nvSpPr>
        <p:spPr>
          <a:xfrm>
            <a:off x="4864608" y="161848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🏎️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5321808" y="16093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GPT-3 from scratch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321808" y="1874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$4,600,000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7269480" y="191109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~46 Lamborghinis!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754880" y="235000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1"/>
          <p:cNvSpPr/>
          <p:nvPr/>
        </p:nvSpPr>
        <p:spPr>
          <a:xfrm>
            <a:off x="4864608" y="239572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5321808" y="2386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fine-tune LLaMA-2 70B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321808" y="26517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$50,000+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7269480" y="268833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 A100 GPUs + weeks!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754880" y="312724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DCFCE7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4864608" y="317296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1800" dirty="0"/>
          </a:p>
        </p:txBody>
      </p:sp>
      <p:sp>
        <p:nvSpPr>
          <p:cNvPr id="31" name="Text 27"/>
          <p:cNvSpPr/>
          <p:nvPr/>
        </p:nvSpPr>
        <p:spPr>
          <a:xfrm>
            <a:off x="5321808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fine-tune Llama-3 7B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5321808" y="3429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~$10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7269480" y="346557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One pizza dinner!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4754880" y="3904488"/>
            <a:ext cx="4160520" cy="685800"/>
          </a:xfrm>
          <a:prstGeom prst="roundRect">
            <a:avLst>
              <a:gd name="adj" fmla="val 10667"/>
            </a:avLst>
          </a:prstGeom>
          <a:solidFill>
            <a:srgbClr val="CCFBF1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5" name="Text 31"/>
          <p:cNvSpPr/>
          <p:nvPr/>
        </p:nvSpPr>
        <p:spPr>
          <a:xfrm>
            <a:off x="4864608" y="3950208"/>
            <a:ext cx="411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5321808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fine-tune 70B model</a:t>
            </a:r>
            <a:endParaRPr lang="en-US" sz="1200" dirty="0"/>
          </a:p>
        </p:txBody>
      </p:sp>
      <p:sp>
        <p:nvSpPr>
          <p:cNvPr id="37" name="Text 33"/>
          <p:cNvSpPr/>
          <p:nvPr/>
        </p:nvSpPr>
        <p:spPr>
          <a:xfrm>
            <a:off x="5321808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~$50-100</a:t>
            </a:r>
            <a:endParaRPr lang="en-US" sz="1500" dirty="0"/>
          </a:p>
        </p:txBody>
      </p:sp>
      <p:sp>
        <p:nvSpPr>
          <p:cNvPr id="38" name="Text 34"/>
          <p:cNvSpPr/>
          <p:nvPr/>
        </p:nvSpPr>
        <p:spPr>
          <a:xfrm>
            <a:off x="7269480" y="4242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Single consumer GPU!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1" name="Text 36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42" name="Text 37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6576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61872" y="594360"/>
            <a:ext cx="1828800" cy="310896"/>
          </a:xfrm>
          <a:prstGeom prst="roundRect">
            <a:avLst>
              <a:gd name="adj" fmla="val 11765"/>
            </a:avLst>
          </a:prstGeom>
          <a:solidFill>
            <a:srgbClr val="F97316"/>
          </a:solidFill>
          <a:ln/>
        </p:spPr>
      </p:sp>
      <p:sp>
        <p:nvSpPr>
          <p:cNvPr id="6" name="Text 3"/>
          <p:cNvSpPr/>
          <p:nvPr/>
        </p:nvSpPr>
        <p:spPr>
          <a:xfrm>
            <a:off x="1261872" y="612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LoRA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= Magic Sticky Notes!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457200" y="1783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Low-Rank Adaptation of Large Language Models  •  Hu et al., Microsoft 2021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65760" y="2176272"/>
            <a:ext cx="2697480" cy="2633472"/>
          </a:xfrm>
          <a:prstGeom prst="roundRect">
            <a:avLst>
              <a:gd name="adj" fmla="val 3472"/>
            </a:avLst>
          </a:prstGeom>
          <a:solidFill>
            <a:srgbClr val="3D151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6576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75488" y="272491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Fine-Tuning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66928" y="3127248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063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ALL billions of weights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3520440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3456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expensive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66928" y="3913632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7" name="Text 14"/>
          <p:cNvSpPr/>
          <p:nvPr/>
        </p:nvSpPr>
        <p:spPr>
          <a:xfrm>
            <a:off x="713232" y="38496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huge GPUs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4306824"/>
            <a:ext cx="82296" cy="82296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42428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weeks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46120" y="2176272"/>
            <a:ext cx="2697480" cy="2633472"/>
          </a:xfrm>
          <a:prstGeom prst="roundRect">
            <a:avLst>
              <a:gd name="adj" fmla="val 3472"/>
            </a:avLst>
          </a:prstGeom>
          <a:solidFill>
            <a:srgbClr val="3D201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4612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3355848" y="272491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447288" y="3127248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3593592" y="3063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original brain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447288" y="352044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93592" y="3456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tiny 'adapter' layers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447288" y="391363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93592" y="38496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train the adapters!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447288" y="4306824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3593592" y="42428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100× cheaper &amp; faster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126480" y="2176272"/>
            <a:ext cx="2697480" cy="2633472"/>
          </a:xfrm>
          <a:prstGeom prst="roundRect">
            <a:avLst>
              <a:gd name="adj" fmla="val 3472"/>
            </a:avLst>
          </a:prstGeom>
          <a:solidFill>
            <a:srgbClr val="0F2D1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22402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6236208" y="2724912"/>
            <a:ext cx="2478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Result?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6327648" y="3127248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5" name="Text 32"/>
          <p:cNvSpPr/>
          <p:nvPr/>
        </p:nvSpPr>
        <p:spPr>
          <a:xfrm>
            <a:off x="6473952" y="30632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smart brain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327648" y="352044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4"/>
          <p:cNvSpPr/>
          <p:nvPr/>
        </p:nvSpPr>
        <p:spPr>
          <a:xfrm>
            <a:off x="6473952" y="345643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specialized skills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6327648" y="3913632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9" name="Text 36"/>
          <p:cNvSpPr/>
          <p:nvPr/>
        </p:nvSpPr>
        <p:spPr>
          <a:xfrm>
            <a:off x="6473952" y="384962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file (~50MB!)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327648" y="4306824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8"/>
          <p:cNvSpPr/>
          <p:nvPr/>
        </p:nvSpPr>
        <p:spPr>
          <a:xfrm>
            <a:off x="6473952" y="424281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adapters freely!</a:t>
            </a: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4" name="Text 40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LoRA Works: The Maths Made Fun!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Idea: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65760" y="146304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changing one GIANT matrix (W), LoRA learns two TINY matrices (A and B) whose product approximates the change!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365760" y="224028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230428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W_new  =  W  +  B × A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65760" y="2907792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291693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051560" y="293522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frozen matrix (HUGE: 4096×4096)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65760" y="3273552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</p:sp>
      <p:sp>
        <p:nvSpPr>
          <p:cNvPr id="13" name="Text 10"/>
          <p:cNvSpPr/>
          <p:nvPr/>
        </p:nvSpPr>
        <p:spPr>
          <a:xfrm>
            <a:off x="365760" y="328269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051560" y="330098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matrix — tall &amp; thin (e.g. 4096 × 8)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65760" y="3639312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22C55E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364845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51560" y="36667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matrix — short &amp; wide (e.g. 8 × 4096)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65760" y="4005072"/>
            <a:ext cx="594360" cy="292608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365760" y="40142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rank=8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051560" y="40325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'8' is the rank — like the number of lanes on a highway!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365760" y="4315968"/>
            <a:ext cx="3931920" cy="502920"/>
          </a:xfrm>
          <a:prstGeom prst="roundRect">
            <a:avLst>
              <a:gd name="adj" fmla="val 10909"/>
            </a:avLst>
          </a:prstGeom>
          <a:solidFill>
            <a:srgbClr val="FEF9C3"/>
          </a:solidFill>
          <a:ln w="6350">
            <a:solidFill>
              <a:srgbClr val="EAB30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75488" y="4361688"/>
            <a:ext cx="37124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Bookmarks on a giant book — not rewriting every page!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1234440"/>
            <a:ext cx="1920240" cy="2468880"/>
          </a:xfrm>
          <a:prstGeom prst="roundRect">
            <a:avLst>
              <a:gd name="adj" fmla="val 2857"/>
            </a:avLst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19456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3600" dirty="0"/>
          </a:p>
        </p:txBody>
      </p:sp>
      <p:sp>
        <p:nvSpPr>
          <p:cNvPr id="25" name="Text 22"/>
          <p:cNvSpPr/>
          <p:nvPr/>
        </p:nvSpPr>
        <p:spPr>
          <a:xfrm>
            <a:off x="4572000" y="37490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 × 4096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16.7M numbers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62940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4"/>
          <p:cNvSpPr/>
          <p:nvPr/>
        </p:nvSpPr>
        <p:spPr>
          <a:xfrm>
            <a:off x="6601968" y="269748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7086600" y="1234440"/>
            <a:ext cx="502920" cy="246888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086600" y="2331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995160" y="3749040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4096×8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7635240" y="233172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7086600" y="2926080"/>
            <a:ext cx="1783080" cy="4572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7086600" y="296265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7086600" y="342900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8×4096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858000" y="3840480"/>
            <a:ext cx="2057400" cy="841248"/>
          </a:xfrm>
          <a:prstGeom prst="roundRect">
            <a:avLst>
              <a:gd name="adj" fmla="val 8696"/>
            </a:avLst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949440" y="38953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A+B together: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94944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65,536 numbers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256× FEWER than W!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0" name="Text 36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LoRA's 3 Key Settings (The Control Knobs!)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78992"/>
            <a:ext cx="2697480" cy="376732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65760" y="107899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" y="1399032"/>
            <a:ext cx="2697480" cy="1371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438912" y="114300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Rank (r)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6733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'shortcuts' does LoRA use?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30352" y="210312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4   →  Smallest, fastest (simple tasks)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30352" y="251460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8   →  Most popular sweet spot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0352" y="292608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" y="2862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16  →  Better quality, more memory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30352" y="333756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667512" y="3273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64  →  Almost like full training!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7200" y="37947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EDE9FE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48640" y="386791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Most people start with r=8 or r=16. Higher rank = better results, but costs more!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18688" y="1078992"/>
            <a:ext cx="2697480" cy="376732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218688" y="107899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</p:sp>
      <p:sp>
        <p:nvSpPr>
          <p:cNvPr id="22" name="Shape 19"/>
          <p:cNvSpPr/>
          <p:nvPr/>
        </p:nvSpPr>
        <p:spPr>
          <a:xfrm>
            <a:off x="3218688" y="1399032"/>
            <a:ext cx="2697480" cy="13716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Text 20"/>
          <p:cNvSpPr/>
          <p:nvPr/>
        </p:nvSpPr>
        <p:spPr>
          <a:xfrm>
            <a:off x="3291840" y="114300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Alpha (α)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310128" y="16733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LOUD should the new shortcuts be?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3383280" y="210312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3520440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8  (with r=8)  →  1× strength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83280" y="251460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8" name="Text 25"/>
          <p:cNvSpPr/>
          <p:nvPr/>
        </p:nvSpPr>
        <p:spPr>
          <a:xfrm>
            <a:off x="3520440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16 (with r=8)  →  2× strength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383280" y="292608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3520440" y="2862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32 (with r=8)  →  4× strength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83280" y="333756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2" name="Text 29"/>
          <p:cNvSpPr/>
          <p:nvPr/>
        </p:nvSpPr>
        <p:spPr>
          <a:xfrm>
            <a:off x="3520440" y="3273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alpha = 2 × rank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310128" y="37947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FFF7ED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01568" y="386791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Alpha controls how much the LoRA adapters influence the output. Too high = forget original skills!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6071616" y="1078992"/>
            <a:ext cx="2697480" cy="376732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071616" y="1078992"/>
            <a:ext cx="2697480" cy="457200"/>
          </a:xfrm>
          <a:prstGeom prst="roundRect">
            <a:avLst>
              <a:gd name="adj" fmla="val 20000"/>
            </a:avLst>
          </a:prstGeom>
          <a:solidFill>
            <a:srgbClr val="22C55E"/>
          </a:solidFill>
          <a:ln/>
        </p:spPr>
      </p:sp>
      <p:sp>
        <p:nvSpPr>
          <p:cNvPr id="37" name="Shape 34"/>
          <p:cNvSpPr/>
          <p:nvPr/>
        </p:nvSpPr>
        <p:spPr>
          <a:xfrm>
            <a:off x="6071616" y="1399032"/>
            <a:ext cx="2697480" cy="1371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8" name="Text 35"/>
          <p:cNvSpPr/>
          <p:nvPr/>
        </p:nvSpPr>
        <p:spPr>
          <a:xfrm>
            <a:off x="6144768" y="1143000"/>
            <a:ext cx="25511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Target Modules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163056" y="1673352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parts of the brain do we update?</a:t>
            </a:r>
            <a:endParaRPr lang="en-US" sz="1150" dirty="0"/>
          </a:p>
        </p:txBody>
      </p:sp>
      <p:sp>
        <p:nvSpPr>
          <p:cNvPr id="40" name="Shape 37"/>
          <p:cNvSpPr/>
          <p:nvPr/>
        </p:nvSpPr>
        <p:spPr>
          <a:xfrm>
            <a:off x="6236208" y="210312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1" name="Text 38"/>
          <p:cNvSpPr/>
          <p:nvPr/>
        </p:nvSpPr>
        <p:spPr>
          <a:xfrm>
            <a:off x="6373368" y="203911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q_proj, v_proj  →  Attention (most popular)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36208" y="251460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3" name="Text 40"/>
          <p:cNvSpPr/>
          <p:nvPr/>
        </p:nvSpPr>
        <p:spPr>
          <a:xfrm>
            <a:off x="6373368" y="245059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k_proj, o_proj  →  Also attention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236208" y="292608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5" name="Text 42"/>
          <p:cNvSpPr/>
          <p:nvPr/>
        </p:nvSpPr>
        <p:spPr>
          <a:xfrm>
            <a:off x="6373368" y="28620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linear layers →  Best quality!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236208" y="3337560"/>
            <a:ext cx="82296" cy="82296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7" name="Text 44"/>
          <p:cNvSpPr/>
          <p:nvPr/>
        </p:nvSpPr>
        <p:spPr>
          <a:xfrm>
            <a:off x="6373368" y="327355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lm_head         →  Output layer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163056" y="3794760"/>
            <a:ext cx="2514600" cy="914400"/>
          </a:xfrm>
          <a:prstGeom prst="roundRect">
            <a:avLst>
              <a:gd name="adj" fmla="val 6000"/>
            </a:avLst>
          </a:prstGeom>
          <a:solidFill>
            <a:srgbClr val="DCFCE7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254496" y="3867912"/>
            <a:ext cx="2331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Attention layers (q,v) are usually enough. Add more layers for harder tasks!</a:t>
            </a:r>
            <a:endParaRPr lang="en-US" sz="1050" dirty="0"/>
          </a:p>
        </p:txBody>
      </p:sp>
      <p:sp>
        <p:nvSpPr>
          <p:cNvPr id="51" name="Shape 4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2" name="Text 48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in the Wild: Real Models 2021 – 2025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02412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74420" y="1417320"/>
            <a:ext cx="0" cy="228600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691640"/>
            <a:ext cx="150876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3192" y="174650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Paper (Microsoft)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93192" y="202082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GPT-3, GPT-2 — 10,000× fewer params trained vs full!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0040" y="2532888"/>
            <a:ext cx="150876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93192" y="258775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LoRA experiments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93192" y="28620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full fine-tuning quality on NLP benchmarks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1965960" y="100584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5" name="Text 12"/>
          <p:cNvSpPr/>
          <p:nvPr/>
        </p:nvSpPr>
        <p:spPr>
          <a:xfrm>
            <a:off x="1965960" y="1024128"/>
            <a:ext cx="1508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720340" y="1417320"/>
            <a:ext cx="0" cy="22860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965960" y="1691640"/>
            <a:ext cx="150876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2039112" y="1746504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LoRA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039112" y="2020824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create custom art styles in minutes for FREE!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1965960" y="2532888"/>
            <a:ext cx="150876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3B82F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2039112" y="2587752"/>
            <a:ext cx="1380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character LoRAs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039112" y="2862072"/>
            <a:ext cx="1380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CivitAI launches — 100,000+ LoRA models today!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611880" y="100584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</p:sp>
      <p:sp>
        <p:nvSpPr>
          <p:cNvPr id="24" name="Text 21"/>
          <p:cNvSpPr/>
          <p:nvPr/>
        </p:nvSpPr>
        <p:spPr>
          <a:xfrm>
            <a:off x="3611880" y="1024128"/>
            <a:ext cx="17830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4503420" y="1417320"/>
            <a:ext cx="0" cy="228600"/>
          </a:xfrm>
          <a:prstGeom prst="line">
            <a:avLst/>
          </a:prstGeom>
          <a:noFill/>
          <a:ln w="25400">
            <a:solidFill>
              <a:srgbClr val="F97316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11880" y="1691640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3685032" y="1746504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Alpaca-LoRA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3685032" y="2020824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$100 ChatGPT" — LLaMA-7B fine-tuned for $100!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3611880" y="2532888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3685032" y="2587752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WizardLM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3685032" y="2862072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reasoning via LoRA on LLaMA — beat ChatGPT!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3611880" y="3374136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3685032" y="3429000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LoRA ecosystem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3685032" y="370332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community fine-tunes appear overnight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611880" y="4215384"/>
            <a:ext cx="178308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3685032" y="4270248"/>
            <a:ext cx="1655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Llama (Meta)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3685032" y="4544568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specialist — LLaMA2 with LoRA for code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532120" y="100584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/>
        </p:spPr>
      </p:sp>
      <p:sp>
        <p:nvSpPr>
          <p:cNvPr id="39" name="Text 36"/>
          <p:cNvSpPr/>
          <p:nvPr/>
        </p:nvSpPr>
        <p:spPr>
          <a:xfrm>
            <a:off x="5532120" y="102412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6446520" y="1417320"/>
            <a:ext cx="0" cy="228600"/>
          </a:xfrm>
          <a:prstGeom prst="line">
            <a:avLst/>
          </a:prstGeom>
          <a:noFill/>
          <a:ln w="25400">
            <a:solidFill>
              <a:srgbClr val="22C55E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532120" y="1691640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5605272" y="174650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 8B / 70B (Meta)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5605272" y="2020824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LoRA ecosystem; best open model in 2024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5532120" y="2532888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5605272" y="2587752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/ Small / Medium</a:t>
            </a:r>
            <a:endParaRPr lang="en-US" sz="1050" dirty="0"/>
          </a:p>
        </p:txBody>
      </p:sp>
      <p:sp>
        <p:nvSpPr>
          <p:cNvPr id="46" name="Text 43"/>
          <p:cNvSpPr/>
          <p:nvPr/>
        </p:nvSpPr>
        <p:spPr>
          <a:xfrm>
            <a:off x="5605272" y="2862072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Microsoft's tiny-but-smart models, LoRA-friendly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5532120" y="3374136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5605272" y="342900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Flux.1 Dev / Schnell LoRAs</a:t>
            </a:r>
            <a:endParaRPr lang="en-US" sz="1050" dirty="0"/>
          </a:p>
        </p:txBody>
      </p:sp>
      <p:sp>
        <p:nvSpPr>
          <p:cNvPr id="49" name="Text 46"/>
          <p:cNvSpPr/>
          <p:nvPr/>
        </p:nvSpPr>
        <p:spPr>
          <a:xfrm>
            <a:off x="5605272" y="3703320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Revolutionized AI image generation — photorealistic!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5532120" y="4215384"/>
            <a:ext cx="182880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1" name="Text 48"/>
          <p:cNvSpPr/>
          <p:nvPr/>
        </p:nvSpPr>
        <p:spPr>
          <a:xfrm>
            <a:off x="5605272" y="4270248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2 (Google)</a:t>
            </a:r>
            <a:endParaRPr lang="en-US" sz="1050" dirty="0"/>
          </a:p>
        </p:txBody>
      </p:sp>
      <p:sp>
        <p:nvSpPr>
          <p:cNvPr id="52" name="Text 49"/>
          <p:cNvSpPr/>
          <p:nvPr/>
        </p:nvSpPr>
        <p:spPr>
          <a:xfrm>
            <a:off x="5605272" y="454456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2B, 9B, 27B — great quality with LoRA fine-tuning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7498080" y="10058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C4899"/>
          </a:solidFill>
          <a:ln/>
        </p:spPr>
      </p:sp>
      <p:sp>
        <p:nvSpPr>
          <p:cNvPr id="54" name="Text 51"/>
          <p:cNvSpPr/>
          <p:nvPr/>
        </p:nvSpPr>
        <p:spPr>
          <a:xfrm>
            <a:off x="7498080" y="1024128"/>
            <a:ext cx="1463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8229600" y="1417320"/>
            <a:ext cx="0" cy="228600"/>
          </a:xfrm>
          <a:prstGeom prst="line">
            <a:avLst/>
          </a:prstGeom>
          <a:noFill/>
          <a:ln w="25400">
            <a:solidFill>
              <a:srgbClr val="EC4899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498080" y="1691640"/>
            <a:ext cx="146304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7" name="Text 54"/>
          <p:cNvSpPr/>
          <p:nvPr/>
        </p:nvSpPr>
        <p:spPr>
          <a:xfrm>
            <a:off x="7571232" y="1746504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17B (Meta)</a:t>
            </a:r>
            <a:endParaRPr lang="en-US" sz="1050" dirty="0"/>
          </a:p>
        </p:txBody>
      </p:sp>
      <p:sp>
        <p:nvSpPr>
          <p:cNvPr id="58" name="Text 55"/>
          <p:cNvSpPr/>
          <p:nvPr/>
        </p:nvSpPr>
        <p:spPr>
          <a:xfrm>
            <a:off x="7571232" y="2020824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Mixture-of-Experts — LoRA fine-tunes for specialization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7498080" y="2532888"/>
            <a:ext cx="146304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0" name="Text 57"/>
          <p:cNvSpPr/>
          <p:nvPr/>
        </p:nvSpPr>
        <p:spPr>
          <a:xfrm>
            <a:off x="7571232" y="2587752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(China)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7571232" y="2862072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champion — community LoRA fine-tunes everywhere</a:t>
            </a:r>
            <a:endParaRPr lang="en-US" sz="950" dirty="0"/>
          </a:p>
        </p:txBody>
      </p:sp>
      <p:sp>
        <p:nvSpPr>
          <p:cNvPr id="62" name="Shape 59"/>
          <p:cNvSpPr/>
          <p:nvPr/>
        </p:nvSpPr>
        <p:spPr>
          <a:xfrm>
            <a:off x="7498080" y="3374136"/>
            <a:ext cx="146304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3" name="Text 60"/>
          <p:cNvSpPr/>
          <p:nvPr/>
        </p:nvSpPr>
        <p:spPr>
          <a:xfrm>
            <a:off x="7571232" y="3429000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3 (Google)</a:t>
            </a:r>
            <a:endParaRPr lang="en-US" sz="1050" dirty="0"/>
          </a:p>
        </p:txBody>
      </p:sp>
      <p:sp>
        <p:nvSpPr>
          <p:cNvPr id="64" name="Text 61"/>
          <p:cNvSpPr/>
          <p:nvPr/>
        </p:nvSpPr>
        <p:spPr>
          <a:xfrm>
            <a:off x="7571232" y="3703320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1B–27B family; 4B fits easily on laptop with LoRA!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7498080" y="4215384"/>
            <a:ext cx="1463040" cy="749808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 w="3810">
            <a:solidFill>
              <a:srgbClr val="EC4899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6" name="Text 63"/>
          <p:cNvSpPr/>
          <p:nvPr/>
        </p:nvSpPr>
        <p:spPr>
          <a:xfrm>
            <a:off x="7571232" y="4270248"/>
            <a:ext cx="13350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(Alibaba)</a:t>
            </a:r>
            <a:endParaRPr lang="en-US" sz="1050" dirty="0"/>
          </a:p>
        </p:txBody>
      </p:sp>
      <p:sp>
        <p:nvSpPr>
          <p:cNvPr id="67" name="Text 64"/>
          <p:cNvSpPr/>
          <p:nvPr/>
        </p:nvSpPr>
        <p:spPr>
          <a:xfrm>
            <a:off x="7571232" y="4544568"/>
            <a:ext cx="1335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powerhouse with strong LoRA support</a:t>
            </a:r>
            <a:endParaRPr lang="en-US" sz="950" dirty="0"/>
          </a:p>
        </p:txBody>
      </p:sp>
      <p:sp>
        <p:nvSpPr>
          <p:cNvPr id="69" name="Shape 6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70" name="Text 66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71" name="Text 67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3840480"/>
            <a:ext cx="2286000" cy="22860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EC489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for Art! (Image Generation Models)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 know LoRA started a REVOLUTION in AI art? 🎨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20040" y="1463040"/>
            <a:ext cx="2057400" cy="338328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3192" y="15544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3B82F6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" y="15727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1901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Diffusion 1.5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11480" y="23591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big LoRA wave! Artists trained custom characters &amp; styles in hours on a home PC.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93192" y="3429000"/>
            <a:ext cx="1911096" cy="1188720"/>
          </a:xfrm>
          <a:prstGeom prst="roundRect">
            <a:avLst>
              <a:gd name="adj" fmla="val 4615"/>
            </a:avLst>
          </a:prstGeom>
          <a:solidFill>
            <a:srgbClr val="0F1A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4930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 Fact: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37490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1.5 LoRA = ~5MB file. Works on ANY GPU!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514600" y="1463040"/>
            <a:ext cx="2057400" cy="338328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587752" y="15544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/>
        </p:spPr>
      </p:sp>
      <p:sp>
        <p:nvSpPr>
          <p:cNvPr id="18" name="Text 15"/>
          <p:cNvSpPr/>
          <p:nvPr/>
        </p:nvSpPr>
        <p:spPr>
          <a:xfrm>
            <a:off x="2587752" y="15727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06040" y="1901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SDXL LoRA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606040" y="23591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resolution, more realistic. SDXL LoRAs enabled photorealistic portraits.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587752" y="3429000"/>
            <a:ext cx="1911096" cy="1188720"/>
          </a:xfrm>
          <a:prstGeom prst="roundRect">
            <a:avLst>
              <a:gd name="adj" fmla="val 4615"/>
            </a:avLst>
          </a:prstGeom>
          <a:solidFill>
            <a:srgbClr val="0F1A2A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651760" y="34930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 Fact: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651760" y="37490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CivitAI now has 100,000+ LoRA models for download!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709160" y="1463040"/>
            <a:ext cx="2057400" cy="338328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782312" y="15544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6" name="Text 23"/>
          <p:cNvSpPr/>
          <p:nvPr/>
        </p:nvSpPr>
        <p:spPr>
          <a:xfrm>
            <a:off x="4782312" y="15727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800600" y="1901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Flux.1 Dev / Schnell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800600" y="23591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Game-changer! Photorealistic humans, consistent characters, stunning quality.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782312" y="3429000"/>
            <a:ext cx="1911096" cy="1188720"/>
          </a:xfrm>
          <a:prstGeom prst="roundRect">
            <a:avLst>
              <a:gd name="adj" fmla="val 4615"/>
            </a:avLst>
          </a:prstGeom>
          <a:solidFill>
            <a:srgbClr val="0F1A2A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34930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 Fact: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846320" y="37490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Flux.1 LoRAs created in under 20 minutes on one GPU!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6903720" y="1463040"/>
            <a:ext cx="2057400" cy="3383280"/>
          </a:xfrm>
          <a:prstGeom prst="roundRect">
            <a:avLst>
              <a:gd name="adj" fmla="val 4444"/>
            </a:avLst>
          </a:prstGeom>
          <a:solidFill>
            <a:srgbClr val="1E2A3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976872" y="1554480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22C55E"/>
          </a:solidFill>
          <a:ln/>
        </p:spPr>
      </p:sp>
      <p:sp>
        <p:nvSpPr>
          <p:cNvPr id="34" name="Text 31"/>
          <p:cNvSpPr/>
          <p:nvPr/>
        </p:nvSpPr>
        <p:spPr>
          <a:xfrm>
            <a:off x="6976872" y="157276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995160" y="19019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Wan2.1 (Video LoRAs)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995160" y="2359152"/>
            <a:ext cx="1874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LoRAs now work for VIDEO generation! Custom motion styles, characters in motion.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6976872" y="3429000"/>
            <a:ext cx="1911096" cy="1188720"/>
          </a:xfrm>
          <a:prstGeom prst="roundRect">
            <a:avLst>
              <a:gd name="adj" fmla="val 4615"/>
            </a:avLst>
          </a:prstGeom>
          <a:solidFill>
            <a:srgbClr val="0F1A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040880" y="349300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Fun Fact: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040880" y="3749040"/>
            <a:ext cx="17830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video style LoRA — under $5 of compute!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42" name="Text 38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QLoRA?  (Even Smarter Than LoRA!)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65760" y="1051560"/>
            <a:ext cx="8412480" cy="658368"/>
          </a:xfrm>
          <a:prstGeom prst="roundRect">
            <a:avLst>
              <a:gd name="adj" fmla="val 11111"/>
            </a:avLst>
          </a:prstGeom>
          <a:solidFill>
            <a:srgbClr val="CCFBF1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= Quantized LoRA  •  Dettmers, Pagnoni, Holtzman et al. — "QLoRA: Efficient Finetuning of Quantized LLMs" (2023)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🍳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22860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63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37744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239572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960120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 Quantize the Model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75488" y="2852928"/>
            <a:ext cx="2496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ENTIRE model to 4-bit NF4 precision. A 70B model that needed 140GB now fits in 35GB!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108960" y="31089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3218688" y="22860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63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28416" y="2377440"/>
            <a:ext cx="411480" cy="4114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3328416" y="239572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813048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Add LoRA Adapters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328416" y="2852928"/>
            <a:ext cx="2496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add tiny LoRA layers on top of the quantized model. Only these small adapters get trained!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961888" y="3108960"/>
            <a:ext cx="9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071616" y="2286000"/>
            <a:ext cx="2697480" cy="205740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63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181344" y="2377440"/>
            <a:ext cx="411480" cy="4114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2" name="Text 19"/>
          <p:cNvSpPr/>
          <p:nvPr/>
        </p:nvSpPr>
        <p:spPr>
          <a:xfrm>
            <a:off x="6181344" y="2395728"/>
            <a:ext cx="41148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665976" y="237744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Train &amp; Merge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6181344" y="2852928"/>
            <a:ext cx="24963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LoRA adapters. The frozen 4-bit model provides context; LoRA provides new knowledge!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" y="4434840"/>
            <a:ext cx="8412480" cy="594360"/>
          </a:xfrm>
          <a:prstGeom prst="roundRect">
            <a:avLst>
              <a:gd name="adj" fmla="val 12308"/>
            </a:avLst>
          </a:prstGeom>
          <a:solidFill>
            <a:srgbClr val="1E1B4B"/>
          </a:solidFill>
          <a:ln/>
        </p:spPr>
      </p:sp>
      <p:sp>
        <p:nvSpPr>
          <p:cNvPr id="26" name="Text 23"/>
          <p:cNvSpPr/>
          <p:nvPr/>
        </p:nvSpPr>
        <p:spPr>
          <a:xfrm>
            <a:off x="502920" y="44805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🤯 WOW STAT: Guanaco-65B (the first QLoRA model) beat ChatGPT-3.5 on 9 out of 11 benchmarks — trained on ONE 48GB GPU in just 24 hours!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5760" y="5084064"/>
            <a:ext cx="8412480" cy="0"/>
          </a:xfrm>
          <a:prstGeom prst="roundRect">
            <a:avLst>
              <a:gd name="adj" fmla="val Infinity"/>
            </a:avLst>
          </a:prstGeom>
          <a:solidFill>
            <a:srgbClr val="FEF9C3"/>
          </a:solidFill>
          <a:ln w="12700">
            <a:solidFill>
              <a:srgbClr val="EAB308"/>
            </a:solidFill>
            <a:prstDash val="solid"/>
          </a:ln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5175504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822960" y="5157216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English!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475488" y="5431536"/>
            <a:ext cx="8211312" cy="-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28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3840480"/>
            <a:ext cx="2743200" cy="27432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658368" cy="6583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07008" y="603504"/>
            <a:ext cx="1920240" cy="301752"/>
          </a:xfrm>
          <a:prstGeom prst="roundRect">
            <a:avLst>
              <a:gd name="adj" fmla="val 12121"/>
            </a:avLst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1207008" y="6217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QLORA'S SECRETS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11480" y="1115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QLoRA's 3 Special Powers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365760" y="192024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3D2015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20116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F9731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20299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87552" y="20116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Quantization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75488" y="2505456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4 bits instead of 32!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871216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Text 11"/>
          <p:cNvSpPr/>
          <p:nvPr/>
        </p:nvSpPr>
        <p:spPr>
          <a:xfrm>
            <a:off x="694944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Normal: each weight = 32 bits (full precision)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3218688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3"/>
          <p:cNvSpPr/>
          <p:nvPr/>
        </p:nvSpPr>
        <p:spPr>
          <a:xfrm>
            <a:off x="694944" y="31638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NF4: each weight = only 4 bits (8× smaller!)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48640" y="3566160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" y="35112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 = 'Normal Float' — specially designed to preserve AI weight distributions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548640" y="3913632"/>
            <a:ext cx="82296" cy="8229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0" name="Text 17"/>
          <p:cNvSpPr/>
          <p:nvPr/>
        </p:nvSpPr>
        <p:spPr>
          <a:xfrm>
            <a:off x="694944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70B model: 280 GB → only 35 GB!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57200" y="42976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F0A24"/>
          </a:solidFill>
          <a:ln w="6350">
            <a:solidFill>
              <a:srgbClr val="F9731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0352" y="433425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describing a color with 4 crayons instead of a full 32-color box — surprisingly accurate!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18688" y="192024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1D1040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310128" y="20116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3310128" y="20299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0" y="20116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Quantization (DQ)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28416" y="2505456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the compression!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3401568" y="2871216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9" name="Text 26"/>
          <p:cNvSpPr/>
          <p:nvPr/>
        </p:nvSpPr>
        <p:spPr>
          <a:xfrm>
            <a:off x="3547872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needs 'constants' to work properly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401568" y="3218688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8"/>
          <p:cNvSpPr/>
          <p:nvPr/>
        </p:nvSpPr>
        <p:spPr>
          <a:xfrm>
            <a:off x="3547872" y="31638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quantizes THOSE constants too!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3401568" y="3566160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0"/>
          <p:cNvSpPr/>
          <p:nvPr/>
        </p:nvSpPr>
        <p:spPr>
          <a:xfrm>
            <a:off x="3547872" y="35112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an extra ~0.5 bits per parameter</a:t>
            </a:r>
            <a:endParaRPr lang="en-US" sz="1050" dirty="0"/>
          </a:p>
        </p:txBody>
      </p:sp>
      <p:sp>
        <p:nvSpPr>
          <p:cNvPr id="34" name="Shape 31"/>
          <p:cNvSpPr/>
          <p:nvPr/>
        </p:nvSpPr>
        <p:spPr>
          <a:xfrm>
            <a:off x="3401568" y="3913632"/>
            <a:ext cx="82296" cy="8229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5" name="Text 32"/>
          <p:cNvSpPr/>
          <p:nvPr/>
        </p:nvSpPr>
        <p:spPr>
          <a:xfrm>
            <a:off x="3547872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~3 GB saved on a 65B model — for free!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3310128" y="42976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F0A24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3383280" y="433425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zipping a zip file — you compress the thing you used to compress! Every bit counts!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071616" y="1920240"/>
            <a:ext cx="2697480" cy="2926080"/>
          </a:xfrm>
          <a:prstGeom prst="roundRect">
            <a:avLst>
              <a:gd name="adj" fmla="val 3390"/>
            </a:avLst>
          </a:prstGeom>
          <a:solidFill>
            <a:srgbClr val="0A202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163056" y="2011680"/>
            <a:ext cx="457200" cy="457200"/>
          </a:xfrm>
          <a:prstGeom prst="roundRect">
            <a:avLst>
              <a:gd name="adj" fmla="val 8000"/>
            </a:avLst>
          </a:prstGeom>
          <a:solidFill>
            <a:srgbClr val="14B8A6"/>
          </a:solidFill>
          <a:ln/>
        </p:spPr>
      </p:sp>
      <p:sp>
        <p:nvSpPr>
          <p:cNvPr id="40" name="Text 37"/>
          <p:cNvSpPr/>
          <p:nvPr/>
        </p:nvSpPr>
        <p:spPr>
          <a:xfrm>
            <a:off x="6163056" y="2029968"/>
            <a:ext cx="457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693408" y="2011680"/>
            <a:ext cx="1965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Paged Optimizers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6181344" y="2505456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 memory from hard drive!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6254496" y="2871216"/>
            <a:ext cx="82296" cy="822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4" name="Text 41"/>
          <p:cNvSpPr/>
          <p:nvPr/>
        </p:nvSpPr>
        <p:spPr>
          <a:xfrm>
            <a:off x="6400800" y="28163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(VRAM) is tiny &amp; precious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6254496" y="3218688"/>
            <a:ext cx="82296" cy="822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6" name="Text 43"/>
          <p:cNvSpPr/>
          <p:nvPr/>
        </p:nvSpPr>
        <p:spPr>
          <a:xfrm>
            <a:off x="6400800" y="31638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VRAM runs out, optimizer states move to CPU RAM</a:t>
            </a:r>
            <a:endParaRPr lang="en-US" sz="1050" dirty="0"/>
          </a:p>
        </p:txBody>
      </p:sp>
      <p:sp>
        <p:nvSpPr>
          <p:cNvPr id="47" name="Shape 44"/>
          <p:cNvSpPr/>
          <p:nvPr/>
        </p:nvSpPr>
        <p:spPr>
          <a:xfrm>
            <a:off x="6254496" y="3566160"/>
            <a:ext cx="82296" cy="822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8" name="Text 45"/>
          <p:cNvSpPr/>
          <p:nvPr/>
        </p:nvSpPr>
        <p:spPr>
          <a:xfrm>
            <a:off x="6400800" y="35112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crashes! Training continues smoothly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6254496" y="3913632"/>
            <a:ext cx="82296" cy="82296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50" name="Text 47"/>
          <p:cNvSpPr/>
          <p:nvPr/>
        </p:nvSpPr>
        <p:spPr>
          <a:xfrm>
            <a:off x="6400800" y="38587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NVIDIA unified memory tech</a:t>
            </a:r>
            <a:endParaRPr lang="en-US" sz="1050" dirty="0"/>
          </a:p>
        </p:txBody>
      </p:sp>
      <p:sp>
        <p:nvSpPr>
          <p:cNvPr id="51" name="Shape 48"/>
          <p:cNvSpPr/>
          <p:nvPr/>
        </p:nvSpPr>
        <p:spPr>
          <a:xfrm>
            <a:off x="6163056" y="429768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F0A24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36208" y="4334256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Like overflow parking — when the garage is full, spill into the street temporarily!</a:t>
            </a:r>
            <a:endParaRPr lang="en-US" sz="950" dirty="0"/>
          </a:p>
        </p:txBody>
      </p:sp>
      <p:sp>
        <p:nvSpPr>
          <p:cNvPr id="54" name="Shape 5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55" name="Text 51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56" name="Text 52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B8A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in the Wild: Real Models 2023 – 2026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20040" y="100584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14B8A6"/>
          </a:solidFill>
          <a:ln/>
        </p:spPr>
      </p:sp>
      <p:sp>
        <p:nvSpPr>
          <p:cNvPr id="6" name="Text 3"/>
          <p:cNvSpPr/>
          <p:nvPr/>
        </p:nvSpPr>
        <p:spPr>
          <a:xfrm>
            <a:off x="320040" y="102412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" y="1508760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EF9C3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93192" y="154533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Guanaco-65B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93192" y="18013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ChatGPT! Trained in 24hrs on ONE 48GB GPU!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" y="22037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93192" y="224028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OpenHermes 2.5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192" y="249631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7B + QLoRA — exceptional instruction following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320040" y="2898648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14B8A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93192" y="293522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NousHermes-2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3192" y="319125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Llama-2 70B QLoRA — great at complex reasoning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2514600" y="100584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7C3AED"/>
          </a:solidFill>
          <a:ln/>
        </p:spPr>
      </p:sp>
      <p:sp>
        <p:nvSpPr>
          <p:cNvPr id="17" name="Text 14"/>
          <p:cNvSpPr/>
          <p:nvPr/>
        </p:nvSpPr>
        <p:spPr>
          <a:xfrm>
            <a:off x="2514600" y="102412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2514600" y="1508760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2587752" y="154533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WizardLM-2 (Microsoft)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587752" y="18013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on Mistral 8×22B — rival to GPT-4!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514600" y="22037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2587752" y="224028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Hermes-3 Llama 3.1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587752" y="249631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 70B + QLoRA — top open-source model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2514600" y="2898648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2587752" y="293522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Phi-3 Mini + QLoRA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587752" y="319125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3.8B model fine-tuned on ONE gaming GPU (8GB!)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514600" y="3593592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2587752" y="3630168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 9B QLoRA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2587752" y="38862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model fine-tuned on single consumer GPU!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2514600" y="4288536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2587752" y="432511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3.2 3B QLoRA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2587752" y="458114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model, huge performance — edge device ready!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4709160" y="1005840"/>
            <a:ext cx="2057400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4709160" y="1024128"/>
            <a:ext cx="20574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4709160" y="1508760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4782312" y="1545336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DeepSeek-R1 + QLoRA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4782312" y="1801368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god — fine-tuned for specific domains cheaply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4709160" y="2203704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EF9C3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39" name="Text 36"/>
          <p:cNvSpPr/>
          <p:nvPr/>
        </p:nvSpPr>
        <p:spPr>
          <a:xfrm>
            <a:off x="4782312" y="2240280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 3.8B QLoRA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782312" y="2496312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6GB VRAM with QLoRA! Laptop AI!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709160" y="2898648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4782312" y="2935224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Gemma-3 4B QLoRA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782312" y="3191256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— fine-tunes in 30 min on consumer hardware!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4709160" y="3593592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5" name="Text 42"/>
          <p:cNvSpPr/>
          <p:nvPr/>
        </p:nvSpPr>
        <p:spPr>
          <a:xfrm>
            <a:off x="4782312" y="3630168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 Scout 17B QLoRA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4782312" y="3886200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17B MoE model fine-tuned on a single A100 GPU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709160" y="4288536"/>
            <a:ext cx="205740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48" name="Text 45"/>
          <p:cNvSpPr/>
          <p:nvPr/>
        </p:nvSpPr>
        <p:spPr>
          <a:xfrm>
            <a:off x="4782312" y="4325112"/>
            <a:ext cx="1929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 7B QLoRA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782312" y="4581144"/>
            <a:ext cx="19293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Alibaba's multilingual model — cheaply customizable</a:t>
            </a:r>
            <a:endParaRPr lang="en-US" sz="950" dirty="0"/>
          </a:p>
        </p:txBody>
      </p:sp>
      <p:sp>
        <p:nvSpPr>
          <p:cNvPr id="50" name="Shape 47"/>
          <p:cNvSpPr/>
          <p:nvPr/>
        </p:nvSpPr>
        <p:spPr>
          <a:xfrm>
            <a:off x="6967728" y="1005840"/>
            <a:ext cx="2011680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/>
        </p:spPr>
      </p:sp>
      <p:sp>
        <p:nvSpPr>
          <p:cNvPr id="51" name="Text 48"/>
          <p:cNvSpPr/>
          <p:nvPr/>
        </p:nvSpPr>
        <p:spPr>
          <a:xfrm>
            <a:off x="6967728" y="1024128"/>
            <a:ext cx="2011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6967728" y="1508760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3" name="Text 50"/>
          <p:cNvSpPr/>
          <p:nvPr/>
        </p:nvSpPr>
        <p:spPr>
          <a:xfrm>
            <a:off x="7040880" y="1545336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PEFT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040880" y="180136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go-to library for LoRA &amp; QLoRA in Python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6967728" y="2203704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FEF9C3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/>
          <p:nvPr/>
        </p:nvSpPr>
        <p:spPr>
          <a:xfrm>
            <a:off x="7040880" y="2240280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Unsloth 🦥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7040880" y="2496312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faster training, 80% less memory! Free &amp; open source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6967728" y="2898648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59" name="Text 56"/>
          <p:cNvSpPr/>
          <p:nvPr/>
        </p:nvSpPr>
        <p:spPr>
          <a:xfrm>
            <a:off x="7040880" y="2935224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LlamaFactory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7040880" y="3191256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web UI for fine-tuning any model with QLoRA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6967728" y="3593592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2" name="Text 59"/>
          <p:cNvSpPr/>
          <p:nvPr/>
        </p:nvSpPr>
        <p:spPr>
          <a:xfrm>
            <a:off x="7040880" y="3630168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Axolotl</a:t>
            </a:r>
            <a:endParaRPr lang="en-US" sz="1000" dirty="0"/>
          </a:p>
        </p:txBody>
      </p:sp>
      <p:sp>
        <p:nvSpPr>
          <p:cNvPr id="63" name="Text 60"/>
          <p:cNvSpPr/>
          <p:nvPr/>
        </p:nvSpPr>
        <p:spPr>
          <a:xfrm>
            <a:off x="7040880" y="3886200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fine-tuning config tool for QLoRA</a:t>
            </a:r>
            <a:endParaRPr lang="en-US" sz="950" dirty="0"/>
          </a:p>
        </p:txBody>
      </p:sp>
      <p:sp>
        <p:nvSpPr>
          <p:cNvPr id="64" name="Shape 61"/>
          <p:cNvSpPr/>
          <p:nvPr/>
        </p:nvSpPr>
        <p:spPr>
          <a:xfrm>
            <a:off x="6967728" y="4288536"/>
            <a:ext cx="2011680" cy="621792"/>
          </a:xfrm>
          <a:prstGeom prst="roundRect">
            <a:avLst>
              <a:gd name="adj" fmla="val 10294"/>
            </a:avLst>
          </a:prstGeom>
          <a:solidFill>
            <a:srgbClr val="F8FAFC"/>
          </a:solidFill>
          <a:ln w="381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65" name="Text 62"/>
          <p:cNvSpPr/>
          <p:nvPr/>
        </p:nvSpPr>
        <p:spPr>
          <a:xfrm>
            <a:off x="7040880" y="4325112"/>
            <a:ext cx="1883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+ GGUF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7040880" y="4581144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QLoRA-fine-tuned models locally on any laptop!</a:t>
            </a:r>
            <a:endParaRPr lang="en-US" sz="950" dirty="0"/>
          </a:p>
        </p:txBody>
      </p:sp>
      <p:sp>
        <p:nvSpPr>
          <p:cNvPr id="68" name="Shape 6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9" name="Text 65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70" name="Text 66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1B4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" y="146304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09728"/>
            <a:ext cx="7955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Showdown: Full Training vs LoRA vs QLoRA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4005072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057400"/>
                <a:gridCol w="2057400"/>
              </a:tblGrid>
              <a:tr h="50017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Compare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Fine-Tuning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B8A6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Memory (70B model)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160+ GB (2× A100!)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40–80 GB (1–2 GPUs)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16–35 GB (1 GPU!)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 Trained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70B (100%)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~0.1–1% (70M–700M)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~0.1–1% (quantized)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Cost (70B)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$50,000+ 😱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$500–5,000 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$50–500 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vs Full 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(baseline)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96–99%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92–97%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Time (70B)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Weeks (multi-GPU)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to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(single GPU) 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can use this?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big research labs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with GPUs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EVERYONE! 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017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tools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DeepSpeed, Megatron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PEFT, Unsloth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Unsloth, LlamaFactory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</a:tr>
            </a:tbl>
          </a:graphicData>
        </a:graphic>
      </p:graphicFrame>
      <p:sp>
        <p:nvSpPr>
          <p:cNvPr id="7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3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F9731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3474720"/>
            <a:ext cx="2743200" cy="274320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-914400"/>
            <a:ext cx="1828800" cy="1828800"/>
          </a:xfrm>
          <a:prstGeom prst="ellipse">
            <a:avLst/>
          </a:prstGeom>
          <a:solidFill>
            <a:srgbClr val="EC4899">
              <a:alpha val="12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502920"/>
            <a:ext cx="658368" cy="658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47548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This! 🎉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365760" y="1325880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2D1A0A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1024128" y="14356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= Tiny Sticky Notes for AI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5488" y="1856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big brain, add tiny adapter layers. Only ~0.1% of parameters are trained — but the AI learns new skills perfectly!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" y="2514600"/>
            <a:ext cx="3977640" cy="347472"/>
          </a:xfrm>
          <a:prstGeom prst="roundRect">
            <a:avLst>
              <a:gd name="adj" fmla="val 10526"/>
            </a:avLst>
          </a:prstGeom>
          <a:solidFill>
            <a:srgbClr val="0A0A18"/>
          </a:solidFill>
          <a:ln w="381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Fine-tune Llama-3 70B with just 100M trainable params!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800600" y="1325880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0A2020"/>
          </a:solidFill>
          <a:ln w="1016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10328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🗜️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5458968" y="14356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= Sticky Notes on a Compressed Brain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910328" y="18562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squish the model to 4-bit NF4 (8× smaller). THEN add LoRA adapters. Result: fine-tune 70B models on ONE gaming GPU!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910328" y="2514600"/>
            <a:ext cx="3977640" cy="347472"/>
          </a:xfrm>
          <a:prstGeom prst="roundRect">
            <a:avLst>
              <a:gd name="adj" fmla="val 10526"/>
            </a:avLst>
          </a:prstGeom>
          <a:solidFill>
            <a:srgbClr val="0A0A18"/>
          </a:solidFill>
          <a:ln w="3810">
            <a:solidFill>
              <a:srgbClr val="14B8A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983480" y="25420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Phi-4-Mini fine-tunes on 6GB VRAM — cheaper than Netflix!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365760" y="3154680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0A1F12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7548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024128" y="3264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Cost Savings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75488" y="36850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GPT-3 training: $4.6 million. LoRA on Llama-3 7B: ~$10. QLoRA on a 70B model: ~$50-100. Students can now fine-tune giant models!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75488" y="4343400"/>
            <a:ext cx="3977640" cy="347472"/>
          </a:xfrm>
          <a:prstGeom prst="roundRect">
            <a:avLst>
              <a:gd name="adj" fmla="val 10526"/>
            </a:avLst>
          </a:prstGeom>
          <a:solidFill>
            <a:srgbClr val="0A0A18"/>
          </a:solidFill>
          <a:ln w="381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Alpaca-LoRA 2023: $100 → ChatGPT-level chatbot!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4800600" y="3154680"/>
            <a:ext cx="4206240" cy="1664208"/>
          </a:xfrm>
          <a:prstGeom prst="roundRect">
            <a:avLst>
              <a:gd name="adj" fmla="val 5495"/>
            </a:avLst>
          </a:prstGeom>
          <a:solidFill>
            <a:srgbClr val="1A0A2D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0328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5458968" y="3264408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Everywhere in 2025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910328" y="3685032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4, DeepSeek-R1, Gemma 3, Phi-4, Qwen3 — ALL have huge LoRA/QLoRA fine-tune ecosystems. Flux.1 LoRAs changed AI art forever!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910328" y="4343400"/>
            <a:ext cx="3977640" cy="347472"/>
          </a:xfrm>
          <a:prstGeom prst="roundRect">
            <a:avLst>
              <a:gd name="adj" fmla="val 10526"/>
            </a:avLst>
          </a:prstGeom>
          <a:solidFill>
            <a:srgbClr val="0A0A18"/>
          </a:solidFill>
          <a:ln w="3810">
            <a:solidFill>
              <a:srgbClr val="7C3AE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43708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CivitAI: 100,000+ LoRA image models — all FREE to download!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29"/>
          <p:cNvSpPr/>
          <p:nvPr/>
        </p:nvSpPr>
        <p:spPr>
          <a:xfrm>
            <a:off x="228600" y="4946904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 Raghavan  |  Chief AI Scientist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5257800" y="49469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ruthranraghavan.com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LoRA &amp; QLoRA: Teaching AI New Tricks</dc:title>
  <dc:subject>PptxGenJS Presentation</dc:subject>
  <dc:creator>PptxGenJS</dc:creator>
  <cp:lastModifiedBy>PptxGenJS</cp:lastModifiedBy>
  <cp:revision>1</cp:revision>
  <dcterms:created xsi:type="dcterms:W3CDTF">2026-06-21T13:23:42Z</dcterms:created>
  <dcterms:modified xsi:type="dcterms:W3CDTF">2026-06-21T13:23:42Z</dcterms:modified>
</cp:coreProperties>
</file>