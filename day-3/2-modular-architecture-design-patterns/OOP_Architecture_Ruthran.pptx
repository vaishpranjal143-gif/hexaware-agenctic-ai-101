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3B82F6"/>
          </a:solidFill>
          <a:ln w="12700">
            <a:solidFill>
              <a:srgbClr val="3B82F6"/>
            </a:solidFill>
            <a:prstDash val="solid"/>
          </a:ln>
        </p:spPr>
      </p:sp>
      <p:sp>
        <p:nvSpPr>
          <p:cNvPr id="3" name="Shape 1"/>
          <p:cNvSpPr/>
          <p:nvPr/>
        </p:nvSpPr>
        <p:spPr>
          <a:xfrm>
            <a:off x="0" y="3474720"/>
            <a:ext cx="9144000" cy="1668780"/>
          </a:xfrm>
          <a:prstGeom prst="rect">
            <a:avLst/>
          </a:prstGeom>
          <a:solidFill>
            <a:srgbClr val="080E18"/>
          </a:solidFill>
          <a:ln w="12700">
            <a:solidFill>
              <a:srgbClr val="080E18"/>
            </a:solidFill>
            <a:prstDash val="solid"/>
          </a:ln>
        </p:spPr>
      </p:sp>
      <p:sp>
        <p:nvSpPr>
          <p:cNvPr id="4" name="Text 2"/>
          <p:cNvSpPr/>
          <p:nvPr/>
        </p:nvSpPr>
        <p:spPr>
          <a:xfrm>
            <a:off x="365760" y="594360"/>
            <a:ext cx="8503920" cy="868680"/>
          </a:xfrm>
          <a:prstGeom prst="rect">
            <a:avLst/>
          </a:prstGeom>
          <a:noFill/>
          <a:ln/>
        </p:spPr>
        <p:txBody>
          <a:bodyPr wrap="square" lIns="0" tIns="0" rIns="0" bIns="0"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12 Concepts of OOP</a:t>
            </a:r>
            <a:endParaRPr lang="en-US" sz="4200" dirty="0"/>
          </a:p>
        </p:txBody>
      </p:sp>
      <p:sp>
        <p:nvSpPr>
          <p:cNvPr id="5" name="Text 3"/>
          <p:cNvSpPr/>
          <p:nvPr/>
        </p:nvSpPr>
        <p:spPr>
          <a:xfrm>
            <a:off x="365760" y="1463040"/>
            <a:ext cx="8503920" cy="548640"/>
          </a:xfrm>
          <a:prstGeom prst="rect">
            <a:avLst/>
          </a:prstGeom>
          <a:noFill/>
          <a:ln/>
        </p:spPr>
        <p:txBody>
          <a:bodyPr wrap="square" lIns="0" tIns="0" rIns="0" bIns="0" rtlCol="0" anchor="ctr"/>
          <a:lstStyle/>
          <a:p>
            <a:pPr indent="0" marL="0">
              <a:buNone/>
            </a:pPr>
            <a:r>
              <a:rPr lang="en-US" sz="2400" dirty="0">
                <a:solidFill>
                  <a:srgbClr val="93C5FD"/>
                </a:solidFill>
                <a:latin typeface="Calibri" pitchFamily="34" charset="0"/>
                <a:ea typeface="Calibri" pitchFamily="34" charset="-122"/>
                <a:cs typeface="Calibri" pitchFamily="34" charset="-120"/>
              </a:rPr>
              <a:t>&amp; Modular Architecture Design Patterns</a:t>
            </a:r>
            <a:endParaRPr lang="en-US" sz="2400" dirty="0"/>
          </a:p>
        </p:txBody>
      </p:sp>
      <p:sp>
        <p:nvSpPr>
          <p:cNvPr id="6" name="Text 4"/>
          <p:cNvSpPr/>
          <p:nvPr/>
        </p:nvSpPr>
        <p:spPr>
          <a:xfrm>
            <a:off x="365760" y="2057400"/>
            <a:ext cx="8503920" cy="329184"/>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Real World Examples   |   Beginners Friendly   |   American &amp; Indian Companies</a:t>
            </a:r>
            <a:endParaRPr lang="en-US" sz="1300" dirty="0"/>
          </a:p>
        </p:txBody>
      </p:sp>
      <p:sp>
        <p:nvSpPr>
          <p:cNvPr id="7" name="Shape 5"/>
          <p:cNvSpPr/>
          <p:nvPr/>
        </p:nvSpPr>
        <p:spPr>
          <a:xfrm>
            <a:off x="365760" y="2651760"/>
            <a:ext cx="1325880" cy="292608"/>
          </a:xfrm>
          <a:prstGeom prst="roundRect">
            <a:avLst>
              <a:gd name="adj" fmla="val 15625"/>
            </a:avLst>
          </a:prstGeom>
          <a:solidFill>
            <a:srgbClr val="1E3A5F"/>
          </a:solidFill>
          <a:ln w="12700">
            <a:solidFill>
              <a:srgbClr val="3B82F6"/>
            </a:solidFill>
            <a:prstDash val="solid"/>
          </a:ln>
        </p:spPr>
      </p:sp>
      <p:sp>
        <p:nvSpPr>
          <p:cNvPr id="8" name="Text 6"/>
          <p:cNvSpPr/>
          <p:nvPr/>
        </p:nvSpPr>
        <p:spPr>
          <a:xfrm>
            <a:off x="365760" y="2651760"/>
            <a:ext cx="1325880" cy="292608"/>
          </a:xfrm>
          <a:prstGeom prst="rect">
            <a:avLst/>
          </a:prstGeom>
          <a:noFill/>
          <a:ln/>
        </p:spPr>
        <p:txBody>
          <a:bodyPr wrap="square" lIns="0" tIns="0" rIns="0" bIns="0" rtlCol="0" anchor="ctr"/>
          <a:lstStyle/>
          <a:p>
            <a:pPr algn="ctr" indent="0" marL="0">
              <a:buNone/>
            </a:pPr>
            <a:r>
              <a:rPr lang="en-US" sz="1000" dirty="0">
                <a:solidFill>
                  <a:srgbClr val="93C5FD"/>
                </a:solidFill>
                <a:latin typeface="Calibri" pitchFamily="34" charset="0"/>
                <a:ea typeface="Calibri" pitchFamily="34" charset="-122"/>
                <a:cs typeface="Calibri" pitchFamily="34" charset="-120"/>
              </a:rPr>
              <a:t>Python</a:t>
            </a:r>
            <a:endParaRPr lang="en-US" sz="1000" dirty="0"/>
          </a:p>
        </p:txBody>
      </p:sp>
      <p:sp>
        <p:nvSpPr>
          <p:cNvPr id="9" name="Shape 7"/>
          <p:cNvSpPr/>
          <p:nvPr/>
        </p:nvSpPr>
        <p:spPr>
          <a:xfrm>
            <a:off x="1874520" y="2651760"/>
            <a:ext cx="1325880" cy="292608"/>
          </a:xfrm>
          <a:prstGeom prst="roundRect">
            <a:avLst>
              <a:gd name="adj" fmla="val 15625"/>
            </a:avLst>
          </a:prstGeom>
          <a:solidFill>
            <a:srgbClr val="1E3A5F"/>
          </a:solidFill>
          <a:ln w="12700">
            <a:solidFill>
              <a:srgbClr val="3B82F6"/>
            </a:solidFill>
            <a:prstDash val="solid"/>
          </a:ln>
        </p:spPr>
      </p:sp>
      <p:sp>
        <p:nvSpPr>
          <p:cNvPr id="10" name="Text 8"/>
          <p:cNvSpPr/>
          <p:nvPr/>
        </p:nvSpPr>
        <p:spPr>
          <a:xfrm>
            <a:off x="1874520" y="2651760"/>
            <a:ext cx="1325880" cy="292608"/>
          </a:xfrm>
          <a:prstGeom prst="rect">
            <a:avLst/>
          </a:prstGeom>
          <a:noFill/>
          <a:ln/>
        </p:spPr>
        <p:txBody>
          <a:bodyPr wrap="square" lIns="0" tIns="0" rIns="0" bIns="0" rtlCol="0" anchor="ctr"/>
          <a:lstStyle/>
          <a:p>
            <a:pPr algn="ctr" indent="0" marL="0">
              <a:buNone/>
            </a:pPr>
            <a:r>
              <a:rPr lang="en-US" sz="1000" dirty="0">
                <a:solidFill>
                  <a:srgbClr val="93C5FD"/>
                </a:solidFill>
                <a:latin typeface="Calibri" pitchFamily="34" charset="0"/>
                <a:ea typeface="Calibri" pitchFamily="34" charset="-122"/>
                <a:cs typeface="Calibri" pitchFamily="34" charset="-120"/>
              </a:rPr>
              <a:t>OOP</a:t>
            </a:r>
            <a:endParaRPr lang="en-US" sz="1000" dirty="0"/>
          </a:p>
        </p:txBody>
      </p:sp>
      <p:sp>
        <p:nvSpPr>
          <p:cNvPr id="11" name="Shape 9"/>
          <p:cNvSpPr/>
          <p:nvPr/>
        </p:nvSpPr>
        <p:spPr>
          <a:xfrm>
            <a:off x="3383280" y="2651760"/>
            <a:ext cx="1325880" cy="292608"/>
          </a:xfrm>
          <a:prstGeom prst="roundRect">
            <a:avLst>
              <a:gd name="adj" fmla="val 15625"/>
            </a:avLst>
          </a:prstGeom>
          <a:solidFill>
            <a:srgbClr val="1E3A5F"/>
          </a:solidFill>
          <a:ln w="12700">
            <a:solidFill>
              <a:srgbClr val="3B82F6"/>
            </a:solidFill>
            <a:prstDash val="solid"/>
          </a:ln>
        </p:spPr>
      </p:sp>
      <p:sp>
        <p:nvSpPr>
          <p:cNvPr id="12" name="Text 10"/>
          <p:cNvSpPr/>
          <p:nvPr/>
        </p:nvSpPr>
        <p:spPr>
          <a:xfrm>
            <a:off x="3383280" y="2651760"/>
            <a:ext cx="1325880" cy="292608"/>
          </a:xfrm>
          <a:prstGeom prst="rect">
            <a:avLst/>
          </a:prstGeom>
          <a:noFill/>
          <a:ln/>
        </p:spPr>
        <p:txBody>
          <a:bodyPr wrap="square" lIns="0" tIns="0" rIns="0" bIns="0" rtlCol="0" anchor="ctr"/>
          <a:lstStyle/>
          <a:p>
            <a:pPr algn="ctr" indent="0" marL="0">
              <a:buNone/>
            </a:pPr>
            <a:r>
              <a:rPr lang="en-US" sz="1000" dirty="0">
                <a:solidFill>
                  <a:srgbClr val="93C5FD"/>
                </a:solidFill>
                <a:latin typeface="Calibri" pitchFamily="34" charset="0"/>
                <a:ea typeface="Calibri" pitchFamily="34" charset="-122"/>
                <a:cs typeface="Calibri" pitchFamily="34" charset="-120"/>
              </a:rPr>
              <a:t>Architecture</a:t>
            </a:r>
            <a:endParaRPr lang="en-US" sz="1000" dirty="0"/>
          </a:p>
        </p:txBody>
      </p:sp>
      <p:sp>
        <p:nvSpPr>
          <p:cNvPr id="13" name="Shape 11"/>
          <p:cNvSpPr/>
          <p:nvPr/>
        </p:nvSpPr>
        <p:spPr>
          <a:xfrm>
            <a:off x="5120640" y="2651760"/>
            <a:ext cx="1325880" cy="292608"/>
          </a:xfrm>
          <a:prstGeom prst="roundRect">
            <a:avLst>
              <a:gd name="adj" fmla="val 15625"/>
            </a:avLst>
          </a:prstGeom>
          <a:solidFill>
            <a:srgbClr val="1E3A5F"/>
          </a:solidFill>
          <a:ln w="12700">
            <a:solidFill>
              <a:srgbClr val="3B82F6"/>
            </a:solidFill>
            <a:prstDash val="solid"/>
          </a:ln>
        </p:spPr>
      </p:sp>
      <p:sp>
        <p:nvSpPr>
          <p:cNvPr id="14" name="Text 12"/>
          <p:cNvSpPr/>
          <p:nvPr/>
        </p:nvSpPr>
        <p:spPr>
          <a:xfrm>
            <a:off x="5120640" y="2651760"/>
            <a:ext cx="1325880" cy="292608"/>
          </a:xfrm>
          <a:prstGeom prst="rect">
            <a:avLst/>
          </a:prstGeom>
          <a:noFill/>
          <a:ln/>
        </p:spPr>
        <p:txBody>
          <a:bodyPr wrap="square" lIns="0" tIns="0" rIns="0" bIns="0" rtlCol="0" anchor="ctr"/>
          <a:lstStyle/>
          <a:p>
            <a:pPr algn="ctr" indent="0" marL="0">
              <a:buNone/>
            </a:pPr>
            <a:r>
              <a:rPr lang="en-US" sz="1000" dirty="0">
                <a:solidFill>
                  <a:srgbClr val="93C5FD"/>
                </a:solidFill>
                <a:latin typeface="Calibri" pitchFamily="34" charset="0"/>
                <a:ea typeface="Calibri" pitchFamily="34" charset="-122"/>
                <a:cs typeface="Calibri" pitchFamily="34" charset="-120"/>
              </a:rPr>
              <a:t>Beginners</a:t>
            </a:r>
            <a:endParaRPr lang="en-US" sz="1000" dirty="0"/>
          </a:p>
        </p:txBody>
      </p:sp>
      <p:sp>
        <p:nvSpPr>
          <p:cNvPr id="15" name="Text 13"/>
          <p:cNvSpPr/>
          <p:nvPr/>
        </p:nvSpPr>
        <p:spPr>
          <a:xfrm>
            <a:off x="365760" y="4846320"/>
            <a:ext cx="8503920" cy="201168"/>
          </a:xfrm>
          <a:prstGeom prst="rect">
            <a:avLst/>
          </a:prstGeom>
          <a:noFill/>
          <a:ln/>
        </p:spPr>
        <p:txBody>
          <a:bodyPr wrap="square" lIns="0" tIns="0" rIns="0" bIns="0" rtlCol="0" anchor="ctr"/>
          <a:lstStyle/>
          <a:p>
            <a:pPr algn="l" indent="0" marL="0">
              <a:buNone/>
            </a:pPr>
            <a:r>
              <a:rPr lang="en-US" sz="1000" dirty="0">
                <a:solidFill>
                  <a:srgbClr val="4B5563"/>
                </a:solidFill>
                <a:latin typeface="Calibri" pitchFamily="34" charset="0"/>
                <a:ea typeface="Calibri" pitchFamily="34" charset="-122"/>
                <a:cs typeface="Calibri" pitchFamily="34" charset="-120"/>
              </a:rPr>
              <a:t>Ruthran Raghavan, Chief AI Scientist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D1B2A"/>
          </a:solidFill>
          <a:ln w="12700">
            <a:solidFill>
              <a:srgbClr val="0D1B2A"/>
            </a:solidFill>
            <a:prstDash val="solid"/>
          </a:ln>
        </p:spPr>
      </p:sp>
      <p:sp>
        <p:nvSpPr>
          <p:cNvPr id="3" name="Text 1"/>
          <p:cNvSpPr/>
          <p:nvPr/>
        </p:nvSpPr>
        <p:spPr>
          <a:xfrm>
            <a:off x="274320" y="0"/>
            <a:ext cx="8595360" cy="56692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Table of Contents</a:t>
            </a:r>
            <a:endParaRPr lang="en-US" sz="1700" dirty="0"/>
          </a:p>
        </p:txBody>
      </p:sp>
      <p:sp>
        <p:nvSpPr>
          <p:cNvPr id="4" name="Shape 2"/>
          <p:cNvSpPr/>
          <p:nvPr/>
        </p:nvSpPr>
        <p:spPr>
          <a:xfrm>
            <a:off x="228600" y="685800"/>
            <a:ext cx="4069080" cy="4160520"/>
          </a:xfrm>
          <a:prstGeom prst="rect">
            <a:avLst/>
          </a:prstGeom>
          <a:solidFill>
            <a:srgbClr val="EBF3FF"/>
          </a:solidFill>
          <a:ln w="12700">
            <a:solidFill>
              <a:srgbClr val="BFDBFE"/>
            </a:solidFill>
            <a:prstDash val="solid"/>
          </a:ln>
          <a:effectLst>
            <a:outerShdw sx="100000" sy="100000" kx="0" ky="0" algn="bl" rotWithShape="0" blurRad="63500" dist="25400" dir="8100000">
              <a:srgbClr val="000000">
                <a:alpha val="8000"/>
              </a:srgbClr>
            </a:outerShdw>
          </a:effectLst>
        </p:spPr>
      </p:sp>
      <p:sp>
        <p:nvSpPr>
          <p:cNvPr id="5" name="Shape 3"/>
          <p:cNvSpPr/>
          <p:nvPr/>
        </p:nvSpPr>
        <p:spPr>
          <a:xfrm>
            <a:off x="228600" y="685800"/>
            <a:ext cx="4069080" cy="384048"/>
          </a:xfrm>
          <a:prstGeom prst="rect">
            <a:avLst/>
          </a:prstGeom>
          <a:solidFill>
            <a:srgbClr val="1B3A6B"/>
          </a:solidFill>
          <a:ln w="12700">
            <a:solidFill>
              <a:srgbClr val="1B3A6B"/>
            </a:solidFill>
            <a:prstDash val="solid"/>
          </a:ln>
        </p:spPr>
      </p:sp>
      <p:sp>
        <p:nvSpPr>
          <p:cNvPr id="6" name="Text 4"/>
          <p:cNvSpPr/>
          <p:nvPr/>
        </p:nvSpPr>
        <p:spPr>
          <a:xfrm>
            <a:off x="347472" y="685800"/>
            <a:ext cx="3840480" cy="38404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Part 1 — Object-Oriented Programming</a:t>
            </a:r>
            <a:endParaRPr lang="en-US" sz="1050" dirty="0"/>
          </a:p>
        </p:txBody>
      </p:sp>
      <p:sp>
        <p:nvSpPr>
          <p:cNvPr id="7" name="Text 5"/>
          <p:cNvSpPr/>
          <p:nvPr/>
        </p:nvSpPr>
        <p:spPr>
          <a:xfrm>
            <a:off x="411480" y="1143000"/>
            <a:ext cx="3657600" cy="256032"/>
          </a:xfrm>
          <a:prstGeom prst="rect">
            <a:avLst/>
          </a:prstGeom>
          <a:noFill/>
          <a:ln/>
        </p:spPr>
        <p:txBody>
          <a:bodyPr wrap="square" lIns="0" tIns="0" rIns="0" bIns="0" rtlCol="0" anchor="ctr"/>
          <a:lstStyle/>
          <a:p>
            <a:pPr indent="0" marL="0">
              <a:buNone/>
            </a:pPr>
            <a:r>
              <a:rPr lang="en-US" sz="1000" b="1" dirty="0">
                <a:solidFill>
                  <a:srgbClr val="1D4ED8"/>
                </a:solidFill>
                <a:latin typeface="Calibri" pitchFamily="34" charset="0"/>
                <a:ea typeface="Calibri" pitchFamily="34" charset="-122"/>
                <a:cs typeface="Calibri" pitchFamily="34" charset="-120"/>
              </a:rPr>
              <a:t>01  Encapsulation</a:t>
            </a:r>
            <a:endParaRPr lang="en-US" sz="1000" dirty="0"/>
          </a:p>
        </p:txBody>
      </p:sp>
      <p:sp>
        <p:nvSpPr>
          <p:cNvPr id="8" name="Text 6"/>
          <p:cNvSpPr/>
          <p:nvPr/>
        </p:nvSpPr>
        <p:spPr>
          <a:xfrm>
            <a:off x="411480" y="1435608"/>
            <a:ext cx="3657600" cy="256032"/>
          </a:xfrm>
          <a:prstGeom prst="rect">
            <a:avLst/>
          </a:prstGeom>
          <a:noFill/>
          <a:ln/>
        </p:spPr>
        <p:txBody>
          <a:bodyPr wrap="square" lIns="0" tIns="0" rIns="0" bIns="0" rtlCol="0" anchor="ctr"/>
          <a:lstStyle/>
          <a:p>
            <a:pPr indent="0" marL="0">
              <a:buNone/>
            </a:pPr>
            <a:r>
              <a:rPr lang="en-US" sz="1000" b="1" dirty="0">
                <a:solidFill>
                  <a:srgbClr val="1D4ED8"/>
                </a:solidFill>
                <a:latin typeface="Calibri" pitchFamily="34" charset="0"/>
                <a:ea typeface="Calibri" pitchFamily="34" charset="-122"/>
                <a:cs typeface="Calibri" pitchFamily="34" charset="-120"/>
              </a:rPr>
              <a:t>02  Inheritance</a:t>
            </a:r>
            <a:endParaRPr lang="en-US" sz="1000" dirty="0"/>
          </a:p>
        </p:txBody>
      </p:sp>
      <p:sp>
        <p:nvSpPr>
          <p:cNvPr id="9" name="Text 7"/>
          <p:cNvSpPr/>
          <p:nvPr/>
        </p:nvSpPr>
        <p:spPr>
          <a:xfrm>
            <a:off x="411480" y="1728216"/>
            <a:ext cx="3657600" cy="256032"/>
          </a:xfrm>
          <a:prstGeom prst="rect">
            <a:avLst/>
          </a:prstGeom>
          <a:noFill/>
          <a:ln/>
        </p:spPr>
        <p:txBody>
          <a:bodyPr wrap="square" lIns="0" tIns="0" rIns="0" bIns="0" rtlCol="0" anchor="ctr"/>
          <a:lstStyle/>
          <a:p>
            <a:pPr indent="0" marL="0">
              <a:buNone/>
            </a:pPr>
            <a:r>
              <a:rPr lang="en-US" sz="1000" b="1" dirty="0">
                <a:solidFill>
                  <a:srgbClr val="1D4ED8"/>
                </a:solidFill>
                <a:latin typeface="Calibri" pitchFamily="34" charset="0"/>
                <a:ea typeface="Calibri" pitchFamily="34" charset="-122"/>
                <a:cs typeface="Calibri" pitchFamily="34" charset="-120"/>
              </a:rPr>
              <a:t>03  Polymorphism</a:t>
            </a:r>
            <a:endParaRPr lang="en-US" sz="1000" dirty="0"/>
          </a:p>
        </p:txBody>
      </p:sp>
      <p:sp>
        <p:nvSpPr>
          <p:cNvPr id="10" name="Text 8"/>
          <p:cNvSpPr/>
          <p:nvPr/>
        </p:nvSpPr>
        <p:spPr>
          <a:xfrm>
            <a:off x="411480" y="2020824"/>
            <a:ext cx="3657600" cy="256032"/>
          </a:xfrm>
          <a:prstGeom prst="rect">
            <a:avLst/>
          </a:prstGeom>
          <a:noFill/>
          <a:ln/>
        </p:spPr>
        <p:txBody>
          <a:bodyPr wrap="square" lIns="0" tIns="0" rIns="0" bIns="0" rtlCol="0" anchor="ctr"/>
          <a:lstStyle/>
          <a:p>
            <a:pPr indent="0" marL="0">
              <a:buNone/>
            </a:pPr>
            <a:r>
              <a:rPr lang="en-US" sz="1000" b="1" dirty="0">
                <a:solidFill>
                  <a:srgbClr val="1D4ED8"/>
                </a:solidFill>
                <a:latin typeface="Calibri" pitchFamily="34" charset="0"/>
                <a:ea typeface="Calibri" pitchFamily="34" charset="-122"/>
                <a:cs typeface="Calibri" pitchFamily="34" charset="-120"/>
              </a:rPr>
              <a:t>04  Abstraction</a:t>
            </a:r>
            <a:endParaRPr lang="en-US" sz="1000" dirty="0"/>
          </a:p>
        </p:txBody>
      </p:sp>
      <p:sp>
        <p:nvSpPr>
          <p:cNvPr id="11" name="Text 9"/>
          <p:cNvSpPr/>
          <p:nvPr/>
        </p:nvSpPr>
        <p:spPr>
          <a:xfrm>
            <a:off x="411480" y="2313432"/>
            <a:ext cx="3657600" cy="256032"/>
          </a:xfrm>
          <a:prstGeom prst="rect">
            <a:avLst/>
          </a:prstGeom>
          <a:noFill/>
          <a:ln/>
        </p:spPr>
        <p:txBody>
          <a:bodyPr wrap="square" lIns="0" tIns="0" rIns="0" bIns="0" rtlCol="0" anchor="ctr"/>
          <a:lstStyle/>
          <a:p>
            <a:pPr indent="0" marL="0">
              <a:buNone/>
            </a:pPr>
            <a:r>
              <a:rPr lang="en-US" sz="1000" dirty="0">
                <a:solidFill>
                  <a:srgbClr val="6D28D9"/>
                </a:solidFill>
                <a:latin typeface="Calibri" pitchFamily="34" charset="0"/>
                <a:ea typeface="Calibri" pitchFamily="34" charset="-122"/>
                <a:cs typeface="Calibri" pitchFamily="34" charset="-120"/>
              </a:rPr>
              <a:t>05  Magic Methods</a:t>
            </a:r>
            <a:endParaRPr lang="en-US" sz="1000" dirty="0"/>
          </a:p>
        </p:txBody>
      </p:sp>
      <p:sp>
        <p:nvSpPr>
          <p:cNvPr id="12" name="Text 10"/>
          <p:cNvSpPr/>
          <p:nvPr/>
        </p:nvSpPr>
        <p:spPr>
          <a:xfrm>
            <a:off x="411480" y="2606040"/>
            <a:ext cx="3657600" cy="256032"/>
          </a:xfrm>
          <a:prstGeom prst="rect">
            <a:avLst/>
          </a:prstGeom>
          <a:noFill/>
          <a:ln/>
        </p:spPr>
        <p:txBody>
          <a:bodyPr wrap="square" lIns="0" tIns="0" rIns="0" bIns="0" rtlCol="0" anchor="ctr"/>
          <a:lstStyle/>
          <a:p>
            <a:pPr indent="0" marL="0">
              <a:buNone/>
            </a:pPr>
            <a:r>
              <a:rPr lang="en-US" sz="1000" dirty="0">
                <a:solidFill>
                  <a:srgbClr val="6D28D9"/>
                </a:solidFill>
                <a:latin typeface="Calibri" pitchFamily="34" charset="0"/>
                <a:ea typeface="Calibri" pitchFamily="34" charset="-122"/>
                <a:cs typeface="Calibri" pitchFamily="34" charset="-120"/>
              </a:rPr>
              <a:t>06  Properties</a:t>
            </a:r>
            <a:endParaRPr lang="en-US" sz="1000" dirty="0"/>
          </a:p>
        </p:txBody>
      </p:sp>
      <p:sp>
        <p:nvSpPr>
          <p:cNvPr id="13" name="Text 11"/>
          <p:cNvSpPr/>
          <p:nvPr/>
        </p:nvSpPr>
        <p:spPr>
          <a:xfrm>
            <a:off x="411480" y="2898648"/>
            <a:ext cx="3657600" cy="256032"/>
          </a:xfrm>
          <a:prstGeom prst="rect">
            <a:avLst/>
          </a:prstGeom>
          <a:noFill/>
          <a:ln/>
        </p:spPr>
        <p:txBody>
          <a:bodyPr wrap="square" lIns="0" tIns="0" rIns="0" bIns="0" rtlCol="0" anchor="ctr"/>
          <a:lstStyle/>
          <a:p>
            <a:pPr indent="0" marL="0">
              <a:buNone/>
            </a:pPr>
            <a:r>
              <a:rPr lang="en-US" sz="1000" dirty="0">
                <a:solidFill>
                  <a:srgbClr val="6D28D9"/>
                </a:solidFill>
                <a:latin typeface="Calibri" pitchFamily="34" charset="0"/>
                <a:ea typeface="Calibri" pitchFamily="34" charset="-122"/>
                <a:cs typeface="Calibri" pitchFamily="34" charset="-120"/>
              </a:rPr>
              <a:t>07  Metaclasses</a:t>
            </a:r>
            <a:endParaRPr lang="en-US" sz="1000" dirty="0"/>
          </a:p>
        </p:txBody>
      </p:sp>
      <p:sp>
        <p:nvSpPr>
          <p:cNvPr id="14" name="Text 12"/>
          <p:cNvSpPr/>
          <p:nvPr/>
        </p:nvSpPr>
        <p:spPr>
          <a:xfrm>
            <a:off x="411480" y="3191256"/>
            <a:ext cx="3657600" cy="256032"/>
          </a:xfrm>
          <a:prstGeom prst="rect">
            <a:avLst/>
          </a:prstGeom>
          <a:noFill/>
          <a:ln/>
        </p:spPr>
        <p:txBody>
          <a:bodyPr wrap="square" lIns="0" tIns="0" rIns="0" bIns="0" rtlCol="0" anchor="ctr"/>
          <a:lstStyle/>
          <a:p>
            <a:pPr indent="0" marL="0">
              <a:buNone/>
            </a:pPr>
            <a:r>
              <a:rPr lang="en-US" sz="1000" dirty="0">
                <a:solidFill>
                  <a:srgbClr val="6D28D9"/>
                </a:solidFill>
                <a:latin typeface="Calibri" pitchFamily="34" charset="0"/>
                <a:ea typeface="Calibri" pitchFamily="34" charset="-122"/>
                <a:cs typeface="Calibri" pitchFamily="34" charset="-120"/>
              </a:rPr>
              <a:t>08  MRO</a:t>
            </a:r>
            <a:endParaRPr lang="en-US" sz="1000" dirty="0"/>
          </a:p>
        </p:txBody>
      </p:sp>
      <p:sp>
        <p:nvSpPr>
          <p:cNvPr id="15" name="Text 13"/>
          <p:cNvSpPr/>
          <p:nvPr/>
        </p:nvSpPr>
        <p:spPr>
          <a:xfrm>
            <a:off x="411480" y="3483864"/>
            <a:ext cx="3657600" cy="256032"/>
          </a:xfrm>
          <a:prstGeom prst="rect">
            <a:avLst/>
          </a:prstGeom>
          <a:noFill/>
          <a:ln/>
        </p:spPr>
        <p:txBody>
          <a:bodyPr wrap="square" lIns="0" tIns="0" rIns="0" bIns="0" rtlCol="0" anchor="ctr"/>
          <a:lstStyle/>
          <a:p>
            <a:pPr indent="0" marL="0">
              <a:buNone/>
            </a:pPr>
            <a:r>
              <a:rPr lang="en-US" sz="1000" dirty="0">
                <a:solidFill>
                  <a:srgbClr val="6D28D9"/>
                </a:solidFill>
                <a:latin typeface="Calibri" pitchFamily="34" charset="0"/>
                <a:ea typeface="Calibri" pitchFamily="34" charset="-122"/>
                <a:cs typeface="Calibri" pitchFamily="34" charset="-120"/>
              </a:rPr>
              <a:t>09  Dataclasses</a:t>
            </a:r>
            <a:endParaRPr lang="en-US" sz="1000" dirty="0"/>
          </a:p>
        </p:txBody>
      </p:sp>
      <p:sp>
        <p:nvSpPr>
          <p:cNvPr id="16" name="Text 14"/>
          <p:cNvSpPr/>
          <p:nvPr/>
        </p:nvSpPr>
        <p:spPr>
          <a:xfrm>
            <a:off x="411480" y="3776472"/>
            <a:ext cx="3657600" cy="256032"/>
          </a:xfrm>
          <a:prstGeom prst="rect">
            <a:avLst/>
          </a:prstGeom>
          <a:noFill/>
          <a:ln/>
        </p:spPr>
        <p:txBody>
          <a:bodyPr wrap="square" lIns="0" tIns="0" rIns="0" bIns="0" rtlCol="0" anchor="ctr"/>
          <a:lstStyle/>
          <a:p>
            <a:pPr indent="0" marL="0">
              <a:buNone/>
            </a:pPr>
            <a:r>
              <a:rPr lang="en-US" sz="1000" dirty="0">
                <a:solidFill>
                  <a:srgbClr val="6D28D9"/>
                </a:solidFill>
                <a:latin typeface="Calibri" pitchFamily="34" charset="0"/>
                <a:ea typeface="Calibri" pitchFamily="34" charset="-122"/>
                <a:cs typeface="Calibri" pitchFamily="34" charset="-120"/>
              </a:rPr>
              <a:t>10  Mixins</a:t>
            </a:r>
            <a:endParaRPr lang="en-US" sz="1000" dirty="0"/>
          </a:p>
        </p:txBody>
      </p:sp>
      <p:sp>
        <p:nvSpPr>
          <p:cNvPr id="17" name="Text 15"/>
          <p:cNvSpPr/>
          <p:nvPr/>
        </p:nvSpPr>
        <p:spPr>
          <a:xfrm>
            <a:off x="411480" y="4069080"/>
            <a:ext cx="3657600" cy="256032"/>
          </a:xfrm>
          <a:prstGeom prst="rect">
            <a:avLst/>
          </a:prstGeom>
          <a:noFill/>
          <a:ln/>
        </p:spPr>
        <p:txBody>
          <a:bodyPr wrap="square" lIns="0" tIns="0" rIns="0" bIns="0" rtlCol="0" anchor="ctr"/>
          <a:lstStyle/>
          <a:p>
            <a:pPr indent="0" marL="0">
              <a:buNone/>
            </a:pPr>
            <a:r>
              <a:rPr lang="en-US" sz="1000" dirty="0">
                <a:solidFill>
                  <a:srgbClr val="6D28D9"/>
                </a:solidFill>
                <a:latin typeface="Calibri" pitchFamily="34" charset="0"/>
                <a:ea typeface="Calibri" pitchFamily="34" charset="-122"/>
                <a:cs typeface="Calibri" pitchFamily="34" charset="-120"/>
              </a:rPr>
              <a:t>11  Context Managers</a:t>
            </a:r>
            <a:endParaRPr lang="en-US" sz="1000" dirty="0"/>
          </a:p>
        </p:txBody>
      </p:sp>
      <p:sp>
        <p:nvSpPr>
          <p:cNvPr id="18" name="Text 16"/>
          <p:cNvSpPr/>
          <p:nvPr/>
        </p:nvSpPr>
        <p:spPr>
          <a:xfrm>
            <a:off x="411480" y="4361688"/>
            <a:ext cx="3657600" cy="256032"/>
          </a:xfrm>
          <a:prstGeom prst="rect">
            <a:avLst/>
          </a:prstGeom>
          <a:noFill/>
          <a:ln/>
        </p:spPr>
        <p:txBody>
          <a:bodyPr wrap="square" lIns="0" tIns="0" rIns="0" bIns="0" rtlCol="0" anchor="ctr"/>
          <a:lstStyle/>
          <a:p>
            <a:pPr indent="0" marL="0">
              <a:buNone/>
            </a:pPr>
            <a:r>
              <a:rPr lang="en-US" sz="1000" dirty="0">
                <a:solidFill>
                  <a:srgbClr val="6D28D9"/>
                </a:solidFill>
                <a:latin typeface="Calibri" pitchFamily="34" charset="0"/>
                <a:ea typeface="Calibri" pitchFamily="34" charset="-122"/>
                <a:cs typeface="Calibri" pitchFamily="34" charset="-120"/>
              </a:rPr>
              <a:t>12  __slots__</a:t>
            </a:r>
            <a:endParaRPr lang="en-US" sz="1000" dirty="0"/>
          </a:p>
        </p:txBody>
      </p:sp>
      <p:sp>
        <p:nvSpPr>
          <p:cNvPr id="19" name="Text 17"/>
          <p:cNvSpPr/>
          <p:nvPr/>
        </p:nvSpPr>
        <p:spPr>
          <a:xfrm>
            <a:off x="347472" y="4645152"/>
            <a:ext cx="3657600" cy="164592"/>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 Basic OOP  ★ Advanced OOP</a:t>
            </a:r>
            <a:endParaRPr lang="en-US" sz="850" dirty="0"/>
          </a:p>
        </p:txBody>
      </p:sp>
      <p:sp>
        <p:nvSpPr>
          <p:cNvPr id="20" name="Shape 18"/>
          <p:cNvSpPr/>
          <p:nvPr/>
        </p:nvSpPr>
        <p:spPr>
          <a:xfrm>
            <a:off x="4846320" y="685800"/>
            <a:ext cx="4069080" cy="4160520"/>
          </a:xfrm>
          <a:prstGeom prst="rect">
            <a:avLst/>
          </a:prstGeom>
          <a:solidFill>
            <a:srgbClr val="F0EBFF"/>
          </a:solidFill>
          <a:ln w="12700">
            <a:solidFill>
              <a:srgbClr val="DDD6FE"/>
            </a:solidFill>
            <a:prstDash val="solid"/>
          </a:ln>
          <a:effectLst>
            <a:outerShdw sx="100000" sy="100000" kx="0" ky="0" algn="bl" rotWithShape="0" blurRad="63500" dist="25400" dir="8100000">
              <a:srgbClr val="000000">
                <a:alpha val="8000"/>
              </a:srgbClr>
            </a:outerShdw>
          </a:effectLst>
        </p:spPr>
      </p:sp>
      <p:sp>
        <p:nvSpPr>
          <p:cNvPr id="21" name="Shape 19"/>
          <p:cNvSpPr/>
          <p:nvPr/>
        </p:nvSpPr>
        <p:spPr>
          <a:xfrm>
            <a:off x="4846320" y="685800"/>
            <a:ext cx="4069080" cy="384048"/>
          </a:xfrm>
          <a:prstGeom prst="rect">
            <a:avLst/>
          </a:prstGeom>
          <a:solidFill>
            <a:srgbClr val="3A0D6E"/>
          </a:solidFill>
          <a:ln w="12700">
            <a:solidFill>
              <a:srgbClr val="3A0D6E"/>
            </a:solidFill>
            <a:prstDash val="solid"/>
          </a:ln>
        </p:spPr>
      </p:sp>
      <p:sp>
        <p:nvSpPr>
          <p:cNvPr id="22" name="Text 20"/>
          <p:cNvSpPr/>
          <p:nvPr/>
        </p:nvSpPr>
        <p:spPr>
          <a:xfrm>
            <a:off x="4965192" y="685800"/>
            <a:ext cx="3840480" cy="38404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Part 2 — Modular Architecture Patterns</a:t>
            </a:r>
            <a:endParaRPr lang="en-US" sz="1050" dirty="0"/>
          </a:p>
        </p:txBody>
      </p:sp>
      <p:sp>
        <p:nvSpPr>
          <p:cNvPr id="23" name="Text 21"/>
          <p:cNvSpPr/>
          <p:nvPr/>
        </p:nvSpPr>
        <p:spPr>
          <a:xfrm>
            <a:off x="5029200" y="1170432"/>
            <a:ext cx="3657600" cy="219456"/>
          </a:xfrm>
          <a:prstGeom prst="rect">
            <a:avLst/>
          </a:prstGeom>
          <a:noFill/>
          <a:ln/>
        </p:spPr>
        <p:txBody>
          <a:bodyPr wrap="square" lIns="0" tIns="0" rIns="0" bIns="0" rtlCol="0" anchor="ctr"/>
          <a:lstStyle/>
          <a:p>
            <a:pPr indent="0" marL="0">
              <a:buNone/>
            </a:pPr>
            <a:r>
              <a:rPr lang="en-US" sz="1050" b="1" dirty="0">
                <a:solidFill>
                  <a:srgbClr val="6D28D9"/>
                </a:solidFill>
                <a:latin typeface="Calibri" pitchFamily="34" charset="0"/>
                <a:ea typeface="Calibri" pitchFamily="34" charset="-122"/>
                <a:cs typeface="Calibri" pitchFamily="34" charset="-120"/>
              </a:rPr>
              <a:t>01  Layered Architecture</a:t>
            </a:r>
            <a:endParaRPr lang="en-US" sz="1050" dirty="0"/>
          </a:p>
        </p:txBody>
      </p:sp>
      <p:sp>
        <p:nvSpPr>
          <p:cNvPr id="24" name="Text 22"/>
          <p:cNvSpPr/>
          <p:nvPr/>
        </p:nvSpPr>
        <p:spPr>
          <a:xfrm>
            <a:off x="5029200" y="1389888"/>
            <a:ext cx="3657600" cy="201168"/>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Teams stack code in horizontal layers</a:t>
            </a:r>
            <a:endParaRPr lang="en-US" sz="950" dirty="0"/>
          </a:p>
        </p:txBody>
      </p:sp>
      <p:sp>
        <p:nvSpPr>
          <p:cNvPr id="25" name="Text 23"/>
          <p:cNvSpPr/>
          <p:nvPr/>
        </p:nvSpPr>
        <p:spPr>
          <a:xfrm>
            <a:off x="5029200" y="1755648"/>
            <a:ext cx="3657600" cy="219456"/>
          </a:xfrm>
          <a:prstGeom prst="rect">
            <a:avLst/>
          </a:prstGeom>
          <a:noFill/>
          <a:ln/>
        </p:spPr>
        <p:txBody>
          <a:bodyPr wrap="square" lIns="0" tIns="0" rIns="0" bIns="0" rtlCol="0" anchor="ctr"/>
          <a:lstStyle/>
          <a:p>
            <a:pPr indent="0" marL="0">
              <a:buNone/>
            </a:pPr>
            <a:r>
              <a:rPr lang="en-US" sz="1050" b="1" dirty="0">
                <a:solidFill>
                  <a:srgbClr val="6D28D9"/>
                </a:solidFill>
                <a:latin typeface="Calibri" pitchFamily="34" charset="0"/>
                <a:ea typeface="Calibri" pitchFamily="34" charset="-122"/>
                <a:cs typeface="Calibri" pitchFamily="34" charset="-120"/>
              </a:rPr>
              <a:t>02  Plugin Architecture</a:t>
            </a:r>
            <a:endParaRPr lang="en-US" sz="1050" dirty="0"/>
          </a:p>
        </p:txBody>
      </p:sp>
      <p:sp>
        <p:nvSpPr>
          <p:cNvPr id="26" name="Text 24"/>
          <p:cNvSpPr/>
          <p:nvPr/>
        </p:nvSpPr>
        <p:spPr>
          <a:xfrm>
            <a:off x="5029200" y="1975104"/>
            <a:ext cx="3657600" cy="201168"/>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Core system + pluggable extensions</a:t>
            </a:r>
            <a:endParaRPr lang="en-US" sz="950" dirty="0"/>
          </a:p>
        </p:txBody>
      </p:sp>
      <p:sp>
        <p:nvSpPr>
          <p:cNvPr id="27" name="Text 25"/>
          <p:cNvSpPr/>
          <p:nvPr/>
        </p:nvSpPr>
        <p:spPr>
          <a:xfrm>
            <a:off x="5029200" y="2340864"/>
            <a:ext cx="3657600" cy="219456"/>
          </a:xfrm>
          <a:prstGeom prst="rect">
            <a:avLst/>
          </a:prstGeom>
          <a:noFill/>
          <a:ln/>
        </p:spPr>
        <p:txBody>
          <a:bodyPr wrap="square" lIns="0" tIns="0" rIns="0" bIns="0" rtlCol="0" anchor="ctr"/>
          <a:lstStyle/>
          <a:p>
            <a:pPr indent="0" marL="0">
              <a:buNone/>
            </a:pPr>
            <a:r>
              <a:rPr lang="en-US" sz="1050" b="1" dirty="0">
                <a:solidFill>
                  <a:srgbClr val="6D28D9"/>
                </a:solidFill>
                <a:latin typeface="Calibri" pitchFamily="34" charset="0"/>
                <a:ea typeface="Calibri" pitchFamily="34" charset="-122"/>
                <a:cs typeface="Calibri" pitchFamily="34" charset="-120"/>
              </a:rPr>
              <a:t>03  Microservices</a:t>
            </a:r>
            <a:endParaRPr lang="en-US" sz="1050" dirty="0"/>
          </a:p>
        </p:txBody>
      </p:sp>
      <p:sp>
        <p:nvSpPr>
          <p:cNvPr id="28" name="Text 26"/>
          <p:cNvSpPr/>
          <p:nvPr/>
        </p:nvSpPr>
        <p:spPr>
          <a:xfrm>
            <a:off x="5029200" y="2560320"/>
            <a:ext cx="3657600" cy="201168"/>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Each feature = independent service</a:t>
            </a:r>
            <a:endParaRPr lang="en-US" sz="950" dirty="0"/>
          </a:p>
        </p:txBody>
      </p:sp>
      <p:sp>
        <p:nvSpPr>
          <p:cNvPr id="29" name="Text 27"/>
          <p:cNvSpPr/>
          <p:nvPr/>
        </p:nvSpPr>
        <p:spPr>
          <a:xfrm>
            <a:off x="5029200" y="2926080"/>
            <a:ext cx="3657600" cy="219456"/>
          </a:xfrm>
          <a:prstGeom prst="rect">
            <a:avLst/>
          </a:prstGeom>
          <a:noFill/>
          <a:ln/>
        </p:spPr>
        <p:txBody>
          <a:bodyPr wrap="square" lIns="0" tIns="0" rIns="0" bIns="0" rtlCol="0" anchor="ctr"/>
          <a:lstStyle/>
          <a:p>
            <a:pPr indent="0" marL="0">
              <a:buNone/>
            </a:pPr>
            <a:r>
              <a:rPr lang="en-US" sz="1050" b="1" dirty="0">
                <a:solidFill>
                  <a:srgbClr val="6D28D9"/>
                </a:solidFill>
                <a:latin typeface="Calibri" pitchFamily="34" charset="0"/>
                <a:ea typeface="Calibri" pitchFamily="34" charset="-122"/>
                <a:cs typeface="Calibri" pitchFamily="34" charset="-120"/>
              </a:rPr>
              <a:t>04  Hexagonal Architecture</a:t>
            </a:r>
            <a:endParaRPr lang="en-US" sz="1050" dirty="0"/>
          </a:p>
        </p:txBody>
      </p:sp>
      <p:sp>
        <p:nvSpPr>
          <p:cNvPr id="30" name="Text 28"/>
          <p:cNvSpPr/>
          <p:nvPr/>
        </p:nvSpPr>
        <p:spPr>
          <a:xfrm>
            <a:off x="5029200" y="3145536"/>
            <a:ext cx="3657600" cy="201168"/>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Business logic isolated from infrastructure</a:t>
            </a:r>
            <a:endParaRPr lang="en-US" sz="950" dirty="0"/>
          </a:p>
        </p:txBody>
      </p:sp>
      <p:sp>
        <p:nvSpPr>
          <p:cNvPr id="31" name="Text 29"/>
          <p:cNvSpPr/>
          <p:nvPr/>
        </p:nvSpPr>
        <p:spPr>
          <a:xfrm>
            <a:off x="5029200" y="3511296"/>
            <a:ext cx="3657600" cy="219456"/>
          </a:xfrm>
          <a:prstGeom prst="rect">
            <a:avLst/>
          </a:prstGeom>
          <a:noFill/>
          <a:ln/>
        </p:spPr>
        <p:txBody>
          <a:bodyPr wrap="square" lIns="0" tIns="0" rIns="0" bIns="0" rtlCol="0" anchor="ctr"/>
          <a:lstStyle/>
          <a:p>
            <a:pPr indent="0" marL="0">
              <a:buNone/>
            </a:pPr>
            <a:r>
              <a:rPr lang="en-US" sz="1050" b="1" dirty="0">
                <a:solidFill>
                  <a:srgbClr val="6D28D9"/>
                </a:solidFill>
                <a:latin typeface="Calibri" pitchFamily="34" charset="0"/>
                <a:ea typeface="Calibri" pitchFamily="34" charset="-122"/>
                <a:cs typeface="Calibri" pitchFamily="34" charset="-120"/>
              </a:rPr>
              <a:t>05  Event-Driven Architecture</a:t>
            </a:r>
            <a:endParaRPr lang="en-US" sz="1050" dirty="0"/>
          </a:p>
        </p:txBody>
      </p:sp>
      <p:sp>
        <p:nvSpPr>
          <p:cNvPr id="32" name="Text 30"/>
          <p:cNvSpPr/>
          <p:nvPr/>
        </p:nvSpPr>
        <p:spPr>
          <a:xfrm>
            <a:off x="5029200" y="3730752"/>
            <a:ext cx="3657600" cy="201168"/>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Services talk via events, not calls</a:t>
            </a:r>
            <a:endParaRPr lang="en-US" sz="950" dirty="0"/>
          </a:p>
        </p:txBody>
      </p:sp>
      <p:sp>
        <p:nvSpPr>
          <p:cNvPr id="33" name="Text 31"/>
          <p:cNvSpPr/>
          <p:nvPr/>
        </p:nvSpPr>
        <p:spPr>
          <a:xfrm>
            <a:off x="5029200" y="4096512"/>
            <a:ext cx="3657600" cy="219456"/>
          </a:xfrm>
          <a:prstGeom prst="rect">
            <a:avLst/>
          </a:prstGeom>
          <a:noFill/>
          <a:ln/>
        </p:spPr>
        <p:txBody>
          <a:bodyPr wrap="square" lIns="0" tIns="0" rIns="0" bIns="0" rtlCol="0" anchor="ctr"/>
          <a:lstStyle/>
          <a:p>
            <a:pPr indent="0" marL="0">
              <a:buNone/>
            </a:pPr>
            <a:r>
              <a:rPr lang="en-US" sz="1050" b="1" dirty="0">
                <a:solidFill>
                  <a:srgbClr val="6D28D9"/>
                </a:solidFill>
                <a:latin typeface="Calibri" pitchFamily="34" charset="0"/>
                <a:ea typeface="Calibri" pitchFamily="34" charset="-122"/>
                <a:cs typeface="Calibri" pitchFamily="34" charset="-120"/>
              </a:rPr>
              <a:t>06  Domain-Driven Design</a:t>
            </a:r>
            <a:endParaRPr lang="en-US" sz="1050" dirty="0"/>
          </a:p>
        </p:txBody>
      </p:sp>
      <p:sp>
        <p:nvSpPr>
          <p:cNvPr id="34" name="Text 32"/>
          <p:cNvSpPr/>
          <p:nvPr/>
        </p:nvSpPr>
        <p:spPr>
          <a:xfrm>
            <a:off x="5029200" y="4315968"/>
            <a:ext cx="3657600" cy="201168"/>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Code organised around business domains</a:t>
            </a:r>
            <a:endParaRPr lang="en-US" sz="950" dirty="0"/>
          </a:p>
        </p:txBody>
      </p:sp>
      <p:sp>
        <p:nvSpPr>
          <p:cNvPr id="35" name="Text 33"/>
          <p:cNvSpPr/>
          <p:nvPr/>
        </p:nvSpPr>
        <p:spPr>
          <a:xfrm>
            <a:off x="5120640" y="4846320"/>
            <a:ext cx="3840480" cy="201168"/>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Ruthran Raghavan, Chief AI Scientist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3A6B"/>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3B82F6"/>
          </a:solidFill>
          <a:ln w="12700">
            <a:solidFill>
              <a:srgbClr val="3B82F6"/>
            </a:solidFill>
            <a:prstDash val="solid"/>
          </a:ln>
        </p:spPr>
      </p:sp>
      <p:sp>
        <p:nvSpPr>
          <p:cNvPr id="3" name="Text 1"/>
          <p:cNvSpPr/>
          <p:nvPr/>
        </p:nvSpPr>
        <p:spPr>
          <a:xfrm>
            <a:off x="365760" y="914400"/>
            <a:ext cx="8503920" cy="457200"/>
          </a:xfrm>
          <a:prstGeom prst="rect">
            <a:avLst/>
          </a:prstGeom>
          <a:noFill/>
          <a:ln/>
        </p:spPr>
        <p:txBody>
          <a:bodyPr wrap="square" lIns="0" tIns="0" rIns="0" bIns="0" rtlCol="0" anchor="ctr"/>
          <a:lstStyle/>
          <a:p>
            <a:pPr indent="0" marL="0">
              <a:buNone/>
            </a:pPr>
            <a:r>
              <a:rPr lang="en-US" sz="2000" spc="600" kern="0" dirty="0">
                <a:solidFill>
                  <a:srgbClr val="93C5FD"/>
                </a:solidFill>
                <a:latin typeface="Calibri" pitchFamily="34" charset="0"/>
                <a:ea typeface="Calibri" pitchFamily="34" charset="-122"/>
                <a:cs typeface="Calibri" pitchFamily="34" charset="-120"/>
              </a:rPr>
              <a:t>PART 1</a:t>
            </a:r>
            <a:endParaRPr lang="en-US" sz="2000" dirty="0"/>
          </a:p>
        </p:txBody>
      </p:sp>
      <p:sp>
        <p:nvSpPr>
          <p:cNvPr id="4" name="Text 2"/>
          <p:cNvSpPr/>
          <p:nvPr/>
        </p:nvSpPr>
        <p:spPr>
          <a:xfrm>
            <a:off x="365760" y="1371600"/>
            <a:ext cx="8503920" cy="73152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12 Concepts of</a:t>
            </a:r>
            <a:endParaRPr lang="en-US" sz="4400" dirty="0"/>
          </a:p>
        </p:txBody>
      </p:sp>
      <p:sp>
        <p:nvSpPr>
          <p:cNvPr id="5" name="Text 3"/>
          <p:cNvSpPr/>
          <p:nvPr/>
        </p:nvSpPr>
        <p:spPr>
          <a:xfrm>
            <a:off x="365760" y="2103120"/>
            <a:ext cx="8503920" cy="640080"/>
          </a:xfrm>
          <a:prstGeom prst="rect">
            <a:avLst/>
          </a:prstGeom>
          <a:noFill/>
          <a:ln/>
        </p:spPr>
        <p:txBody>
          <a:bodyPr wrap="square" lIns="0" tIns="0" rIns="0" bIns="0" rtlCol="0" anchor="ctr"/>
          <a:lstStyle/>
          <a:p>
            <a:pPr indent="0" marL="0">
              <a:buNone/>
            </a:pPr>
            <a:r>
              <a:rPr lang="en-US" sz="3000" dirty="0">
                <a:solidFill>
                  <a:srgbClr val="BFDBFE"/>
                </a:solidFill>
                <a:latin typeface="Calibri" pitchFamily="34" charset="0"/>
                <a:ea typeface="Calibri" pitchFamily="34" charset="-122"/>
                <a:cs typeface="Calibri" pitchFamily="34" charset="-120"/>
              </a:rPr>
              <a:t>Object-Oriented Programming</a:t>
            </a:r>
            <a:endParaRPr lang="en-US" sz="3000" dirty="0"/>
          </a:p>
        </p:txBody>
      </p:sp>
      <p:sp>
        <p:nvSpPr>
          <p:cNvPr id="6" name="Text 4"/>
          <p:cNvSpPr/>
          <p:nvPr/>
        </p:nvSpPr>
        <p:spPr>
          <a:xfrm>
            <a:off x="365760" y="2834640"/>
            <a:ext cx="8503920" cy="320040"/>
          </a:xfrm>
          <a:prstGeom prst="rect">
            <a:avLst/>
          </a:prstGeom>
          <a:noFill/>
          <a:ln/>
        </p:spPr>
        <p:txBody>
          <a:bodyPr wrap="square" lIns="0" tIns="0" rIns="0" bIns="0" rtlCol="0" anchor="ctr"/>
          <a:lstStyle/>
          <a:p>
            <a:pPr indent="0" marL="0">
              <a:buNone/>
            </a:pPr>
            <a:r>
              <a:rPr lang="en-US" sz="1300" i="1" dirty="0">
                <a:solidFill>
                  <a:srgbClr val="93C5FD"/>
                </a:solidFill>
                <a:latin typeface="Calibri" pitchFamily="34" charset="0"/>
                <a:ea typeface="Calibri" pitchFamily="34" charset="-122"/>
                <a:cs typeface="Calibri" pitchFamily="34" charset="-120"/>
              </a:rPr>
              <a:t>4 Basic Concepts   +   8 Advanced Concepts   |   Agentic AI Examples</a:t>
            </a:r>
            <a:endParaRPr lang="en-US" sz="1300" dirty="0"/>
          </a:p>
        </p:txBody>
      </p:sp>
      <p:sp>
        <p:nvSpPr>
          <p:cNvPr id="7" name="Shape 5"/>
          <p:cNvSpPr/>
          <p:nvPr/>
        </p:nvSpPr>
        <p:spPr>
          <a:xfrm>
            <a:off x="365760" y="3337560"/>
            <a:ext cx="1920240" cy="310896"/>
          </a:xfrm>
          <a:prstGeom prst="roundRect">
            <a:avLst>
              <a:gd name="adj" fmla="val 14706"/>
            </a:avLst>
          </a:prstGeom>
          <a:solidFill>
            <a:srgbClr val="1E40AF"/>
          </a:solidFill>
          <a:ln w="12700">
            <a:solidFill>
              <a:srgbClr val="3B82F6"/>
            </a:solidFill>
            <a:prstDash val="solid"/>
          </a:ln>
        </p:spPr>
      </p:sp>
      <p:sp>
        <p:nvSpPr>
          <p:cNvPr id="8" name="Text 6"/>
          <p:cNvSpPr/>
          <p:nvPr/>
        </p:nvSpPr>
        <p:spPr>
          <a:xfrm>
            <a:off x="365760" y="3337560"/>
            <a:ext cx="1920240" cy="310896"/>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Encapsulation</a:t>
            </a:r>
            <a:endParaRPr lang="en-US" sz="1000" dirty="0"/>
          </a:p>
        </p:txBody>
      </p:sp>
      <p:sp>
        <p:nvSpPr>
          <p:cNvPr id="9" name="Shape 7"/>
          <p:cNvSpPr/>
          <p:nvPr/>
        </p:nvSpPr>
        <p:spPr>
          <a:xfrm>
            <a:off x="2514600" y="3337560"/>
            <a:ext cx="1920240" cy="310896"/>
          </a:xfrm>
          <a:prstGeom prst="roundRect">
            <a:avLst>
              <a:gd name="adj" fmla="val 14706"/>
            </a:avLst>
          </a:prstGeom>
          <a:solidFill>
            <a:srgbClr val="1E40AF"/>
          </a:solidFill>
          <a:ln w="12700">
            <a:solidFill>
              <a:srgbClr val="3B82F6"/>
            </a:solidFill>
            <a:prstDash val="solid"/>
          </a:ln>
        </p:spPr>
      </p:sp>
      <p:sp>
        <p:nvSpPr>
          <p:cNvPr id="10" name="Text 8"/>
          <p:cNvSpPr/>
          <p:nvPr/>
        </p:nvSpPr>
        <p:spPr>
          <a:xfrm>
            <a:off x="2514600" y="3337560"/>
            <a:ext cx="1920240" cy="310896"/>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Inheritance</a:t>
            </a:r>
            <a:endParaRPr lang="en-US" sz="1000" dirty="0"/>
          </a:p>
        </p:txBody>
      </p:sp>
      <p:sp>
        <p:nvSpPr>
          <p:cNvPr id="11" name="Shape 9"/>
          <p:cNvSpPr/>
          <p:nvPr/>
        </p:nvSpPr>
        <p:spPr>
          <a:xfrm>
            <a:off x="4663440" y="3337560"/>
            <a:ext cx="1920240" cy="310896"/>
          </a:xfrm>
          <a:prstGeom prst="roundRect">
            <a:avLst>
              <a:gd name="adj" fmla="val 14706"/>
            </a:avLst>
          </a:prstGeom>
          <a:solidFill>
            <a:srgbClr val="1E40AF"/>
          </a:solidFill>
          <a:ln w="12700">
            <a:solidFill>
              <a:srgbClr val="3B82F6"/>
            </a:solidFill>
            <a:prstDash val="solid"/>
          </a:ln>
        </p:spPr>
      </p:sp>
      <p:sp>
        <p:nvSpPr>
          <p:cNvPr id="12" name="Text 10"/>
          <p:cNvSpPr/>
          <p:nvPr/>
        </p:nvSpPr>
        <p:spPr>
          <a:xfrm>
            <a:off x="4663440" y="3337560"/>
            <a:ext cx="1920240" cy="310896"/>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Polymorphism</a:t>
            </a:r>
            <a:endParaRPr lang="en-US" sz="1000" dirty="0"/>
          </a:p>
        </p:txBody>
      </p:sp>
      <p:sp>
        <p:nvSpPr>
          <p:cNvPr id="13" name="Shape 11"/>
          <p:cNvSpPr/>
          <p:nvPr/>
        </p:nvSpPr>
        <p:spPr>
          <a:xfrm>
            <a:off x="6812280" y="3337560"/>
            <a:ext cx="1920240" cy="310896"/>
          </a:xfrm>
          <a:prstGeom prst="roundRect">
            <a:avLst>
              <a:gd name="adj" fmla="val 14706"/>
            </a:avLst>
          </a:prstGeom>
          <a:solidFill>
            <a:srgbClr val="1E40AF"/>
          </a:solidFill>
          <a:ln w="12700">
            <a:solidFill>
              <a:srgbClr val="3B82F6"/>
            </a:solidFill>
            <a:prstDash val="solid"/>
          </a:ln>
        </p:spPr>
      </p:sp>
      <p:sp>
        <p:nvSpPr>
          <p:cNvPr id="14" name="Text 12"/>
          <p:cNvSpPr/>
          <p:nvPr/>
        </p:nvSpPr>
        <p:spPr>
          <a:xfrm>
            <a:off x="6812280" y="3337560"/>
            <a:ext cx="1920240" cy="310896"/>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Abstraction</a:t>
            </a:r>
            <a:endParaRPr lang="en-US" sz="1000" dirty="0"/>
          </a:p>
        </p:txBody>
      </p:sp>
      <p:sp>
        <p:nvSpPr>
          <p:cNvPr id="15" name="Text 13"/>
          <p:cNvSpPr/>
          <p:nvPr/>
        </p:nvSpPr>
        <p:spPr>
          <a:xfrm>
            <a:off x="5120640" y="4846320"/>
            <a:ext cx="3840480" cy="201168"/>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Ruthran Raghavan, Chief AI Scientist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B3A6B"/>
          </a:solidFill>
          <a:ln w="12700">
            <a:solidFill>
              <a:srgbClr val="1B3A6B"/>
            </a:solidFill>
            <a:prstDash val="solid"/>
          </a:ln>
        </p:spPr>
      </p:sp>
      <p:sp>
        <p:nvSpPr>
          <p:cNvPr id="3" name="Text 1"/>
          <p:cNvSpPr/>
          <p:nvPr/>
        </p:nvSpPr>
        <p:spPr>
          <a:xfrm>
            <a:off x="274320" y="0"/>
            <a:ext cx="7132320" cy="56692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Concept 1  —  Encapsulation</a:t>
            </a:r>
            <a:endParaRPr lang="en-US" sz="1700" dirty="0"/>
          </a:p>
        </p:txBody>
      </p:sp>
      <p:sp>
        <p:nvSpPr>
          <p:cNvPr id="4" name="Shape 2"/>
          <p:cNvSpPr/>
          <p:nvPr/>
        </p:nvSpPr>
        <p:spPr>
          <a:xfrm>
            <a:off x="7589520" y="128016"/>
            <a:ext cx="1280160" cy="310896"/>
          </a:xfrm>
          <a:prstGeom prst="roundRect">
            <a:avLst>
              <a:gd name="adj" fmla="val 17647"/>
            </a:avLst>
          </a:prstGeom>
          <a:solidFill>
            <a:srgbClr val="0D9488"/>
          </a:solidFill>
          <a:ln w="12700">
            <a:solidFill>
              <a:srgbClr val="0D9488"/>
            </a:solidFill>
            <a:prstDash val="solid"/>
          </a:ln>
        </p:spPr>
      </p:sp>
      <p:sp>
        <p:nvSpPr>
          <p:cNvPr id="5" name="Text 3"/>
          <p:cNvSpPr/>
          <p:nvPr/>
        </p:nvSpPr>
        <p:spPr>
          <a:xfrm>
            <a:off x="7589520" y="128016"/>
            <a:ext cx="12801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BASIC</a:t>
            </a:r>
            <a:endParaRPr lang="en-US" sz="1000" dirty="0"/>
          </a:p>
        </p:txBody>
      </p:sp>
      <p:sp>
        <p:nvSpPr>
          <p:cNvPr id="6" name="Text 4"/>
          <p:cNvSpPr/>
          <p:nvPr/>
        </p:nvSpPr>
        <p:spPr>
          <a:xfrm>
            <a:off x="228600" y="658368"/>
            <a:ext cx="8686800" cy="256032"/>
          </a:xfrm>
          <a:prstGeom prst="rect">
            <a:avLst/>
          </a:prstGeom>
          <a:noFill/>
          <a:ln/>
        </p:spPr>
        <p:txBody>
          <a:bodyPr wrap="square" lIns="0" tIns="0" rIns="0" bIns="0" rtlCol="0" anchor="ctr"/>
          <a:lstStyle/>
          <a:p>
            <a:pPr indent="0" marL="0">
              <a:buNone/>
            </a:pPr>
            <a:r>
              <a:rPr lang="en-US" sz="1150" i="1" dirty="0">
                <a:solidFill>
                  <a:srgbClr val="475569"/>
                </a:solidFill>
                <a:latin typeface="Calibri" pitchFamily="34" charset="0"/>
                <a:ea typeface="Calibri" pitchFamily="34" charset="-122"/>
                <a:cs typeface="Calibri" pitchFamily="34" charset="-120"/>
              </a:rPr>
              <a:t>Hiding secret data so the outside world cannot touch it</a:t>
            </a:r>
            <a:endParaRPr lang="en-US" sz="1150" dirty="0"/>
          </a:p>
        </p:txBody>
      </p:sp>
      <p:sp>
        <p:nvSpPr>
          <p:cNvPr id="7" name="Shape 5"/>
          <p:cNvSpPr/>
          <p:nvPr/>
        </p:nvSpPr>
        <p:spPr>
          <a:xfrm>
            <a:off x="201168" y="960120"/>
            <a:ext cx="4251960" cy="685800"/>
          </a:xfrm>
          <a:prstGeom prst="rect">
            <a:avLst/>
          </a:prstGeom>
          <a:solidFill>
            <a:srgbClr val="FFFBEB"/>
          </a:solidFill>
          <a:ln w="12700">
            <a:solidFill>
              <a:srgbClr val="FCD34D"/>
            </a:solidFill>
            <a:prstDash val="solid"/>
          </a:ln>
        </p:spPr>
      </p:sp>
      <p:sp>
        <p:nvSpPr>
          <p:cNvPr id="8" name="Text 6"/>
          <p:cNvSpPr/>
          <p:nvPr/>
        </p:nvSpPr>
        <p:spPr>
          <a:xfrm>
            <a:off x="310896" y="996696"/>
            <a:ext cx="4032504" cy="201168"/>
          </a:xfrm>
          <a:prstGeom prst="rect">
            <a:avLst/>
          </a:prstGeom>
          <a:noFill/>
          <a:ln/>
        </p:spPr>
        <p:txBody>
          <a:bodyPr wrap="square" lIns="0" tIns="0" rIns="0" bIns="0" rtlCol="0" anchor="ctr"/>
          <a:lstStyle/>
          <a:p>
            <a:pPr indent="0" marL="0">
              <a:buNone/>
            </a:pPr>
            <a:r>
              <a:rPr lang="en-US" sz="950" b="1" dirty="0">
                <a:solidFill>
                  <a:srgbClr val="B45309"/>
                </a:solidFill>
                <a:latin typeface="Calibri" pitchFamily="34" charset="0"/>
                <a:ea typeface="Calibri" pitchFamily="34" charset="-122"/>
                <a:cs typeface="Calibri" pitchFamily="34" charset="-120"/>
              </a:rPr>
              <a:t>Think of it like...</a:t>
            </a:r>
            <a:endParaRPr lang="en-US" sz="950" dirty="0"/>
          </a:p>
        </p:txBody>
      </p:sp>
      <p:sp>
        <p:nvSpPr>
          <p:cNvPr id="9" name="Text 7"/>
          <p:cNvSpPr/>
          <p:nvPr/>
        </p:nvSpPr>
        <p:spPr>
          <a:xfrm>
            <a:off x="310896" y="1179576"/>
            <a:ext cx="4032504" cy="420624"/>
          </a:xfrm>
          <a:prstGeom prst="rect">
            <a:avLst/>
          </a:prstGeom>
          <a:noFill/>
          <a:ln/>
        </p:spPr>
        <p:txBody>
          <a:bodyPr wrap="square" lIns="0" tIns="0" rIns="0" bIns="0" rtlCol="0" anchor="t"/>
          <a:lstStyle/>
          <a:p>
            <a:pPr indent="0" marL="0">
              <a:buNone/>
            </a:pPr>
            <a:r>
              <a:rPr lang="en-US" sz="1000" dirty="0">
                <a:solidFill>
                  <a:srgbClr val="1A2340"/>
                </a:solidFill>
                <a:latin typeface="Calibri" pitchFamily="34" charset="0"/>
                <a:ea typeface="Calibri" pitchFamily="34" charset="-122"/>
                <a:cs typeface="Calibri" pitchFamily="34" charset="-120"/>
              </a:rPr>
              <a:t>🏧  ATM Machine — You withdraw cash, but you never see the vault or the PIN verification circuit inside.</a:t>
            </a:r>
            <a:endParaRPr lang="en-US" sz="1000" dirty="0"/>
          </a:p>
        </p:txBody>
      </p:sp>
      <p:sp>
        <p:nvSpPr>
          <p:cNvPr id="10" name="Shape 8"/>
          <p:cNvSpPr/>
          <p:nvPr/>
        </p:nvSpPr>
        <p:spPr>
          <a:xfrm>
            <a:off x="201168" y="1709928"/>
            <a:ext cx="4251960" cy="713232"/>
          </a:xfrm>
          <a:prstGeom prst="rect">
            <a:avLst/>
          </a:prstGeom>
          <a:solidFill>
            <a:srgbClr val="EBF3FF"/>
          </a:solidFill>
          <a:ln w="12700">
            <a:solidFill>
              <a:srgbClr val="BFDBFE"/>
            </a:solidFill>
            <a:prstDash val="solid"/>
          </a:ln>
        </p:spPr>
      </p:sp>
      <p:sp>
        <p:nvSpPr>
          <p:cNvPr id="11" name="Text 9"/>
          <p:cNvSpPr/>
          <p:nvPr/>
        </p:nvSpPr>
        <p:spPr>
          <a:xfrm>
            <a:off x="310896" y="1746504"/>
            <a:ext cx="4032504" cy="201168"/>
          </a:xfrm>
          <a:prstGeom prst="rect">
            <a:avLst/>
          </a:prstGeom>
          <a:noFill/>
          <a:ln/>
        </p:spPr>
        <p:txBody>
          <a:bodyPr wrap="square" lIns="0" tIns="0" rIns="0" bIns="0" rtlCol="0" anchor="ctr"/>
          <a:lstStyle/>
          <a:p>
            <a:pPr indent="0" marL="0">
              <a:buNone/>
            </a:pPr>
            <a:r>
              <a:rPr lang="en-US" sz="950" b="1" dirty="0">
                <a:solidFill>
                  <a:srgbClr val="1D4ED8"/>
                </a:solidFill>
                <a:latin typeface="Calibri" pitchFamily="34" charset="0"/>
                <a:ea typeface="Calibri" pitchFamily="34" charset="-122"/>
                <a:cs typeface="Calibri" pitchFamily="34" charset="-120"/>
              </a:rPr>
              <a:t>📖  What is it?</a:t>
            </a:r>
            <a:endParaRPr lang="en-US" sz="950" dirty="0"/>
          </a:p>
        </p:txBody>
      </p:sp>
      <p:sp>
        <p:nvSpPr>
          <p:cNvPr id="12" name="Text 10"/>
          <p:cNvSpPr/>
          <p:nvPr/>
        </p:nvSpPr>
        <p:spPr>
          <a:xfrm>
            <a:off x="310896" y="1947672"/>
            <a:ext cx="4032504" cy="420624"/>
          </a:xfrm>
          <a:prstGeom prst="rect">
            <a:avLst/>
          </a:prstGeom>
          <a:noFill/>
          <a:ln/>
        </p:spPr>
        <p:txBody>
          <a:bodyPr wrap="square" lIns="0" tIns="0" rIns="0" bIns="0" rtlCol="0" anchor="t"/>
          <a:lstStyle/>
          <a:p>
            <a:pPr indent="0" marL="0">
              <a:buNone/>
            </a:pPr>
            <a:r>
              <a:rPr lang="en-US" sz="1000" dirty="0">
                <a:solidFill>
                  <a:srgbClr val="1A2340"/>
                </a:solidFill>
                <a:latin typeface="Calibri" pitchFamily="34" charset="0"/>
                <a:ea typeface="Calibri" pitchFamily="34" charset="-122"/>
                <a:cs typeface="Calibri" pitchFamily="34" charset="-120"/>
              </a:rPr>
              <a:t>Use __double_underscore to make an attribute private. It becomes hidden from outside. Callers can only use the methods you provide.</a:t>
            </a:r>
            <a:endParaRPr lang="en-US" sz="1000" dirty="0"/>
          </a:p>
        </p:txBody>
      </p:sp>
      <p:sp>
        <p:nvSpPr>
          <p:cNvPr id="13" name="Shape 11"/>
          <p:cNvSpPr/>
          <p:nvPr/>
        </p:nvSpPr>
        <p:spPr>
          <a:xfrm>
            <a:off x="201168" y="2487168"/>
            <a:ext cx="4251960" cy="777240"/>
          </a:xfrm>
          <a:prstGeom prst="rect">
            <a:avLst/>
          </a:prstGeom>
          <a:solidFill>
            <a:srgbClr val="F0FDF4"/>
          </a:solidFill>
          <a:ln w="12700">
            <a:solidFill>
              <a:srgbClr val="86EFAC"/>
            </a:solidFill>
            <a:prstDash val="solid"/>
          </a:ln>
        </p:spPr>
      </p:sp>
      <p:sp>
        <p:nvSpPr>
          <p:cNvPr id="14" name="Text 12"/>
          <p:cNvSpPr/>
          <p:nvPr/>
        </p:nvSpPr>
        <p:spPr>
          <a:xfrm>
            <a:off x="310896" y="2523744"/>
            <a:ext cx="4032504" cy="201168"/>
          </a:xfrm>
          <a:prstGeom prst="rect">
            <a:avLst/>
          </a:prstGeom>
          <a:noFill/>
          <a:ln/>
        </p:spPr>
        <p:txBody>
          <a:bodyPr wrap="square" lIns="0" tIns="0" rIns="0" bIns="0" rtlCol="0" anchor="ctr"/>
          <a:lstStyle/>
          <a:p>
            <a:pPr indent="0" marL="0">
              <a:buNone/>
            </a:pPr>
            <a:r>
              <a:rPr lang="en-US" sz="950" b="1" dirty="0">
                <a:solidFill>
                  <a:srgbClr val="15803D"/>
                </a:solidFill>
                <a:latin typeface="Calibri" pitchFamily="34" charset="0"/>
                <a:ea typeface="Calibri" pitchFamily="34" charset="-122"/>
                <a:cs typeface="Calibri" pitchFamily="34" charset="-120"/>
              </a:rPr>
              <a:t>🏢  Real World Examples</a:t>
            </a:r>
            <a:endParaRPr lang="en-US" sz="950" dirty="0"/>
          </a:p>
        </p:txBody>
      </p:sp>
      <p:sp>
        <p:nvSpPr>
          <p:cNvPr id="15" name="Text 13"/>
          <p:cNvSpPr/>
          <p:nvPr/>
        </p:nvSpPr>
        <p:spPr>
          <a:xfrm>
            <a:off x="310896" y="2724912"/>
            <a:ext cx="4032504" cy="502920"/>
          </a:xfrm>
          <a:prstGeom prst="rect">
            <a:avLst/>
          </a:prstGeom>
          <a:noFill/>
          <a:ln/>
        </p:spPr>
        <p:txBody>
          <a:bodyPr wrap="square" lIns="0" tIns="0" rIns="0" bIns="0" rtlCol="0" anchor="t"/>
          <a:lstStyle/>
          <a:p>
            <a:pPr indent="0" marL="0">
              <a:buNone/>
            </a:pPr>
            <a:r>
              <a:rPr lang="en-US" sz="950" dirty="0">
                <a:solidFill>
                  <a:srgbClr val="1A2340"/>
                </a:solidFill>
                <a:latin typeface="Calibri" pitchFamily="34" charset="0"/>
                <a:ea typeface="Calibri" pitchFamily="34" charset="-122"/>
                <a:cs typeface="Calibri" pitchFamily="34" charset="-120"/>
              </a:rPr>
              <a:t>Google Gmail hides its SMTP server logic. You click 'Send' — you never manage email servers.</a:t>
            </a:r>
            <a:endParaRPr lang="en-US" sz="950" dirty="0"/>
          </a:p>
          <a:p>
            <a:pPr indent="0" marL="0">
              <a:buNone/>
            </a:pPr>
            <a:r>
              <a:rPr lang="en-US" sz="950" dirty="0">
                <a:solidFill>
                  <a:srgbClr val="1A2340"/>
                </a:solidFill>
                <a:latin typeface="Calibri" pitchFamily="34" charset="0"/>
                <a:ea typeface="Calibri" pitchFamily="34" charset="-122"/>
                <a:cs typeface="Calibri" pitchFamily="34" charset="-120"/>
              </a:rPr>
              <a:t>HDFC NetBanking hides the Core Banking (Finacle) logic behind a clean login page.</a:t>
            </a:r>
            <a:endParaRPr lang="en-US" sz="950" dirty="0"/>
          </a:p>
        </p:txBody>
      </p:sp>
      <p:sp>
        <p:nvSpPr>
          <p:cNvPr id="16" name="Shape 14"/>
          <p:cNvSpPr/>
          <p:nvPr/>
        </p:nvSpPr>
        <p:spPr>
          <a:xfrm>
            <a:off x="4617720" y="960120"/>
            <a:ext cx="4315968" cy="3182112"/>
          </a:xfrm>
          <a:prstGeom prst="rect">
            <a:avLst/>
          </a:prstGeom>
          <a:solidFill>
            <a:srgbClr val="141E2C"/>
          </a:solidFill>
          <a:ln w="12700">
            <a:solidFill>
              <a:srgbClr val="2D3F55"/>
            </a:solidFill>
            <a:prstDash val="solid"/>
          </a:ln>
        </p:spPr>
      </p:sp>
      <p:sp>
        <p:nvSpPr>
          <p:cNvPr id="17" name="Text 15"/>
          <p:cNvSpPr/>
          <p:nvPr/>
        </p:nvSpPr>
        <p:spPr>
          <a:xfrm>
            <a:off x="4727448" y="1069848"/>
            <a:ext cx="4096512" cy="2999232"/>
          </a:xfrm>
          <a:prstGeom prst="rect">
            <a:avLst/>
          </a:prstGeom>
          <a:noFill/>
          <a:ln/>
        </p:spPr>
        <p:txBody>
          <a:bodyPr wrap="square" lIns="0" tIns="0" rIns="0" bIns="0" rtlCol="0" anchor="t"/>
          <a:lstStyle/>
          <a:p>
            <a:pPr indent="0" marL="0">
              <a:buNone/>
            </a:pPr>
            <a:r>
              <a:rPr lang="en-US" sz="950" dirty="0">
                <a:solidFill>
                  <a:srgbClr val="6B7280"/>
                </a:solidFill>
                <a:latin typeface="Consolas" pitchFamily="34" charset="0"/>
                <a:ea typeface="Consolas" pitchFamily="34" charset="-122"/>
                <a:cs typeface="Consolas" pitchFamily="34" charset="-120"/>
              </a:rPr>
              <a:t># Python</a:t>
            </a:r>
            <a:endParaRPr lang="en-US" sz="950" dirty="0"/>
          </a:p>
          <a:p>
            <a:pPr indent="0" marL="0">
              <a:buNone/>
            </a:pPr>
            <a:r>
              <a:rPr lang="en-US" sz="950" dirty="0">
                <a:solidFill>
                  <a:srgbClr val="FCD34D"/>
                </a:solidFill>
                <a:latin typeface="Consolas" pitchFamily="34" charset="0"/>
                <a:ea typeface="Consolas" pitchFamily="34" charset="-122"/>
                <a:cs typeface="Consolas" pitchFamily="34" charset="-120"/>
              </a:rPr>
              <a:t>class ChatBot:</a:t>
            </a:r>
            <a:endParaRPr lang="en-US" sz="950" dirty="0"/>
          </a:p>
          <a:p>
            <a:pPr indent="0" marL="0">
              <a:buNone/>
            </a:pPr>
            <a:r>
              <a:rPr lang="en-US" sz="950" dirty="0">
                <a:solidFill>
                  <a:srgbClr val="F9A8D4"/>
                </a:solidFill>
                <a:latin typeface="Consolas" pitchFamily="34" charset="0"/>
                <a:ea typeface="Consolas" pitchFamily="34" charset="-122"/>
                <a:cs typeface="Consolas" pitchFamily="34" charset="-120"/>
              </a:rPr>
              <a:t>    def __init__(self, pin):</a:t>
            </a:r>
            <a:endParaRPr lang="en-US" sz="950" dirty="0"/>
          </a:p>
          <a:p>
            <a:pPr indent="0" marL="0">
              <a:buNone/>
            </a:pPr>
            <a:r>
              <a:rPr lang="en-US" sz="950" dirty="0">
                <a:solidFill>
                  <a:srgbClr val="F9A8D4"/>
                </a:solidFill>
                <a:latin typeface="Consolas" pitchFamily="34" charset="0"/>
                <a:ea typeface="Consolas" pitchFamily="34" charset="-122"/>
                <a:cs typeface="Consolas" pitchFamily="34" charset="-120"/>
              </a:rPr>
              <a:t>        self.__pin = pin  # PRIVATE</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def unlock(self, guess):</a:t>
            </a:r>
            <a:endParaRPr lang="en-US" sz="950" dirty="0"/>
          </a:p>
          <a:p>
            <a:pPr indent="0" marL="0">
              <a:buNone/>
            </a:pPr>
            <a:r>
              <a:rPr lang="en-US" sz="950" dirty="0">
                <a:solidFill>
                  <a:srgbClr val="F9A8D4"/>
                </a:solidFill>
                <a:latin typeface="Consolas" pitchFamily="34" charset="0"/>
                <a:ea typeface="Consolas" pitchFamily="34" charset="-122"/>
                <a:cs typeface="Consolas" pitchFamily="34" charset="-120"/>
              </a:rPr>
              <a:t>        return guess == self.__pin</a:t>
            </a:r>
            <a:endParaRPr lang="en-US" sz="950" dirty="0"/>
          </a:p>
          <a:p>
            <a:pPr indent="0" marL="0">
              <a:buNone/>
            </a:pP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bot = ChatBot('1234')</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bot.unlock('0000')   # False</a:t>
            </a:r>
            <a:endParaRPr lang="en-US" sz="950" dirty="0"/>
          </a:p>
          <a:p>
            <a:pPr indent="0" marL="0">
              <a:buNone/>
            </a:pPr>
            <a:r>
              <a:rPr lang="en-US" sz="950" dirty="0">
                <a:solidFill>
                  <a:srgbClr val="F9A8D4"/>
                </a:solidFill>
                <a:latin typeface="Consolas" pitchFamily="34" charset="0"/>
                <a:ea typeface="Consolas" pitchFamily="34" charset="-122"/>
                <a:cs typeface="Consolas" pitchFamily="34" charset="-120"/>
              </a:rPr>
              <a:t>bot.__pin            # ERROR!</a:t>
            </a:r>
            <a:endParaRPr lang="en-US" sz="950" dirty="0"/>
          </a:p>
        </p:txBody>
      </p:sp>
      <p:sp>
        <p:nvSpPr>
          <p:cNvPr id="18" name="Text 16"/>
          <p:cNvSpPr/>
          <p:nvPr/>
        </p:nvSpPr>
        <p:spPr>
          <a:xfrm>
            <a:off x="5120640" y="4846320"/>
            <a:ext cx="3840480" cy="201168"/>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Ruthran Raghavan, Chief AI Scientist</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B3A6B"/>
          </a:solidFill>
          <a:ln w="12700">
            <a:solidFill>
              <a:srgbClr val="1B3A6B"/>
            </a:solidFill>
            <a:prstDash val="solid"/>
          </a:ln>
        </p:spPr>
      </p:sp>
      <p:sp>
        <p:nvSpPr>
          <p:cNvPr id="3" name="Text 1"/>
          <p:cNvSpPr/>
          <p:nvPr/>
        </p:nvSpPr>
        <p:spPr>
          <a:xfrm>
            <a:off x="274320" y="0"/>
            <a:ext cx="7132320" cy="56692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Concept 2  —  Inheritance</a:t>
            </a:r>
            <a:endParaRPr lang="en-US" sz="1700" dirty="0"/>
          </a:p>
        </p:txBody>
      </p:sp>
      <p:sp>
        <p:nvSpPr>
          <p:cNvPr id="4" name="Shape 2"/>
          <p:cNvSpPr/>
          <p:nvPr/>
        </p:nvSpPr>
        <p:spPr>
          <a:xfrm>
            <a:off x="7589520" y="128016"/>
            <a:ext cx="1280160" cy="310896"/>
          </a:xfrm>
          <a:prstGeom prst="roundRect">
            <a:avLst>
              <a:gd name="adj" fmla="val 17647"/>
            </a:avLst>
          </a:prstGeom>
          <a:solidFill>
            <a:srgbClr val="0D9488"/>
          </a:solidFill>
          <a:ln w="12700">
            <a:solidFill>
              <a:srgbClr val="0D9488"/>
            </a:solidFill>
            <a:prstDash val="solid"/>
          </a:ln>
        </p:spPr>
      </p:sp>
      <p:sp>
        <p:nvSpPr>
          <p:cNvPr id="5" name="Text 3"/>
          <p:cNvSpPr/>
          <p:nvPr/>
        </p:nvSpPr>
        <p:spPr>
          <a:xfrm>
            <a:off x="7589520" y="128016"/>
            <a:ext cx="12801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BASIC</a:t>
            </a:r>
            <a:endParaRPr lang="en-US" sz="1000" dirty="0"/>
          </a:p>
        </p:txBody>
      </p:sp>
      <p:sp>
        <p:nvSpPr>
          <p:cNvPr id="6" name="Text 4"/>
          <p:cNvSpPr/>
          <p:nvPr/>
        </p:nvSpPr>
        <p:spPr>
          <a:xfrm>
            <a:off x="228600" y="658368"/>
            <a:ext cx="8686800" cy="256032"/>
          </a:xfrm>
          <a:prstGeom prst="rect">
            <a:avLst/>
          </a:prstGeom>
          <a:noFill/>
          <a:ln/>
        </p:spPr>
        <p:txBody>
          <a:bodyPr wrap="square" lIns="0" tIns="0" rIns="0" bIns="0" rtlCol="0" anchor="ctr"/>
          <a:lstStyle/>
          <a:p>
            <a:pPr indent="0" marL="0">
              <a:buNone/>
            </a:pPr>
            <a:r>
              <a:rPr lang="en-US" sz="1150" i="1" dirty="0">
                <a:solidFill>
                  <a:srgbClr val="475569"/>
                </a:solidFill>
                <a:latin typeface="Calibri" pitchFamily="34" charset="0"/>
                <a:ea typeface="Calibri" pitchFamily="34" charset="-122"/>
                <a:cs typeface="Calibri" pitchFamily="34" charset="-120"/>
              </a:rPr>
              <a:t>Child class gets everything the parent has — plus adds its own features</a:t>
            </a:r>
            <a:endParaRPr lang="en-US" sz="1150" dirty="0"/>
          </a:p>
        </p:txBody>
      </p:sp>
      <p:sp>
        <p:nvSpPr>
          <p:cNvPr id="7" name="Shape 5"/>
          <p:cNvSpPr/>
          <p:nvPr/>
        </p:nvSpPr>
        <p:spPr>
          <a:xfrm>
            <a:off x="201168" y="960120"/>
            <a:ext cx="4251960" cy="685800"/>
          </a:xfrm>
          <a:prstGeom prst="rect">
            <a:avLst/>
          </a:prstGeom>
          <a:solidFill>
            <a:srgbClr val="FFFBEB"/>
          </a:solidFill>
          <a:ln w="12700">
            <a:solidFill>
              <a:srgbClr val="FCD34D"/>
            </a:solidFill>
            <a:prstDash val="solid"/>
          </a:ln>
        </p:spPr>
      </p:sp>
      <p:sp>
        <p:nvSpPr>
          <p:cNvPr id="8" name="Text 6"/>
          <p:cNvSpPr/>
          <p:nvPr/>
        </p:nvSpPr>
        <p:spPr>
          <a:xfrm>
            <a:off x="310896" y="996696"/>
            <a:ext cx="4032504" cy="201168"/>
          </a:xfrm>
          <a:prstGeom prst="rect">
            <a:avLst/>
          </a:prstGeom>
          <a:noFill/>
          <a:ln/>
        </p:spPr>
        <p:txBody>
          <a:bodyPr wrap="square" lIns="0" tIns="0" rIns="0" bIns="0" rtlCol="0" anchor="ctr"/>
          <a:lstStyle/>
          <a:p>
            <a:pPr indent="0" marL="0">
              <a:buNone/>
            </a:pPr>
            <a:r>
              <a:rPr lang="en-US" sz="950" b="1" dirty="0">
                <a:solidFill>
                  <a:srgbClr val="B45309"/>
                </a:solidFill>
                <a:latin typeface="Calibri" pitchFamily="34" charset="0"/>
                <a:ea typeface="Calibri" pitchFamily="34" charset="-122"/>
                <a:cs typeface="Calibri" pitchFamily="34" charset="-120"/>
              </a:rPr>
              <a:t>Think of it like...</a:t>
            </a:r>
            <a:endParaRPr lang="en-US" sz="950" dirty="0"/>
          </a:p>
        </p:txBody>
      </p:sp>
      <p:sp>
        <p:nvSpPr>
          <p:cNvPr id="9" name="Text 7"/>
          <p:cNvSpPr/>
          <p:nvPr/>
        </p:nvSpPr>
        <p:spPr>
          <a:xfrm>
            <a:off x="310896" y="1179576"/>
            <a:ext cx="4032504" cy="420624"/>
          </a:xfrm>
          <a:prstGeom prst="rect">
            <a:avLst/>
          </a:prstGeom>
          <a:noFill/>
          <a:ln/>
        </p:spPr>
        <p:txBody>
          <a:bodyPr wrap="square" lIns="0" tIns="0" rIns="0" bIns="0" rtlCol="0" anchor="t"/>
          <a:lstStyle/>
          <a:p>
            <a:pPr indent="0" marL="0">
              <a:buNone/>
            </a:pPr>
            <a:r>
              <a:rPr lang="en-US" sz="1000" dirty="0">
                <a:solidFill>
                  <a:srgbClr val="1A2340"/>
                </a:solidFill>
                <a:latin typeface="Calibri" pitchFamily="34" charset="0"/>
                <a:ea typeface="Calibri" pitchFamily="34" charset="-122"/>
                <a:cs typeface="Calibri" pitchFamily="34" charset="-120"/>
              </a:rPr>
              <a:t>📱  Smartphone Brands — All phones have battery, screen, camera (parent). Apple adds FaceID; Samsung adds S-Pen.</a:t>
            </a:r>
            <a:endParaRPr lang="en-US" sz="1000" dirty="0"/>
          </a:p>
        </p:txBody>
      </p:sp>
      <p:sp>
        <p:nvSpPr>
          <p:cNvPr id="10" name="Shape 8"/>
          <p:cNvSpPr/>
          <p:nvPr/>
        </p:nvSpPr>
        <p:spPr>
          <a:xfrm>
            <a:off x="201168" y="1709928"/>
            <a:ext cx="4251960" cy="713232"/>
          </a:xfrm>
          <a:prstGeom prst="rect">
            <a:avLst/>
          </a:prstGeom>
          <a:solidFill>
            <a:srgbClr val="EBF3FF"/>
          </a:solidFill>
          <a:ln w="12700">
            <a:solidFill>
              <a:srgbClr val="BFDBFE"/>
            </a:solidFill>
            <a:prstDash val="solid"/>
          </a:ln>
        </p:spPr>
      </p:sp>
      <p:sp>
        <p:nvSpPr>
          <p:cNvPr id="11" name="Text 9"/>
          <p:cNvSpPr/>
          <p:nvPr/>
        </p:nvSpPr>
        <p:spPr>
          <a:xfrm>
            <a:off x="310896" y="1746504"/>
            <a:ext cx="4032504" cy="201168"/>
          </a:xfrm>
          <a:prstGeom prst="rect">
            <a:avLst/>
          </a:prstGeom>
          <a:noFill/>
          <a:ln/>
        </p:spPr>
        <p:txBody>
          <a:bodyPr wrap="square" lIns="0" tIns="0" rIns="0" bIns="0" rtlCol="0" anchor="ctr"/>
          <a:lstStyle/>
          <a:p>
            <a:pPr indent="0" marL="0">
              <a:buNone/>
            </a:pPr>
            <a:r>
              <a:rPr lang="en-US" sz="950" b="1" dirty="0">
                <a:solidFill>
                  <a:srgbClr val="1D4ED8"/>
                </a:solidFill>
                <a:latin typeface="Calibri" pitchFamily="34" charset="0"/>
                <a:ea typeface="Calibri" pitchFamily="34" charset="-122"/>
                <a:cs typeface="Calibri" pitchFamily="34" charset="-120"/>
              </a:rPr>
              <a:t>📖  What is it?</a:t>
            </a:r>
            <a:endParaRPr lang="en-US" sz="950" dirty="0"/>
          </a:p>
        </p:txBody>
      </p:sp>
      <p:sp>
        <p:nvSpPr>
          <p:cNvPr id="12" name="Text 10"/>
          <p:cNvSpPr/>
          <p:nvPr/>
        </p:nvSpPr>
        <p:spPr>
          <a:xfrm>
            <a:off x="310896" y="1947672"/>
            <a:ext cx="4032504" cy="420624"/>
          </a:xfrm>
          <a:prstGeom prst="rect">
            <a:avLst/>
          </a:prstGeom>
          <a:noFill/>
          <a:ln/>
        </p:spPr>
        <p:txBody>
          <a:bodyPr wrap="square" lIns="0" tIns="0" rIns="0" bIns="0" rtlCol="0" anchor="t"/>
          <a:lstStyle/>
          <a:p>
            <a:pPr indent="0" marL="0">
              <a:buNone/>
            </a:pPr>
            <a:r>
              <a:rPr lang="en-US" sz="1000" dirty="0">
                <a:solidFill>
                  <a:srgbClr val="1A2340"/>
                </a:solidFill>
                <a:latin typeface="Calibri" pitchFamily="34" charset="0"/>
                <a:ea typeface="Calibri" pitchFamily="34" charset="-122"/>
                <a:cs typeface="Calibri" pitchFamily="34" charset="-120"/>
              </a:rPr>
              <a:t>Write shared code once in the parent (Bot). Child classes (ChatBot, SearchBot) inherit it automatically. Use super().__init__() first.</a:t>
            </a:r>
            <a:endParaRPr lang="en-US" sz="1000" dirty="0"/>
          </a:p>
        </p:txBody>
      </p:sp>
      <p:sp>
        <p:nvSpPr>
          <p:cNvPr id="13" name="Shape 11"/>
          <p:cNvSpPr/>
          <p:nvPr/>
        </p:nvSpPr>
        <p:spPr>
          <a:xfrm>
            <a:off x="201168" y="2487168"/>
            <a:ext cx="4251960" cy="777240"/>
          </a:xfrm>
          <a:prstGeom prst="rect">
            <a:avLst/>
          </a:prstGeom>
          <a:solidFill>
            <a:srgbClr val="F0FDF4"/>
          </a:solidFill>
          <a:ln w="12700">
            <a:solidFill>
              <a:srgbClr val="86EFAC"/>
            </a:solidFill>
            <a:prstDash val="solid"/>
          </a:ln>
        </p:spPr>
      </p:sp>
      <p:sp>
        <p:nvSpPr>
          <p:cNvPr id="14" name="Text 12"/>
          <p:cNvSpPr/>
          <p:nvPr/>
        </p:nvSpPr>
        <p:spPr>
          <a:xfrm>
            <a:off x="310896" y="2523744"/>
            <a:ext cx="4032504" cy="201168"/>
          </a:xfrm>
          <a:prstGeom prst="rect">
            <a:avLst/>
          </a:prstGeom>
          <a:noFill/>
          <a:ln/>
        </p:spPr>
        <p:txBody>
          <a:bodyPr wrap="square" lIns="0" tIns="0" rIns="0" bIns="0" rtlCol="0" anchor="ctr"/>
          <a:lstStyle/>
          <a:p>
            <a:pPr indent="0" marL="0">
              <a:buNone/>
            </a:pPr>
            <a:r>
              <a:rPr lang="en-US" sz="950" b="1" dirty="0">
                <a:solidFill>
                  <a:srgbClr val="15803D"/>
                </a:solidFill>
                <a:latin typeface="Calibri" pitchFamily="34" charset="0"/>
                <a:ea typeface="Calibri" pitchFamily="34" charset="-122"/>
                <a:cs typeface="Calibri" pitchFamily="34" charset="-120"/>
              </a:rPr>
              <a:t>🏢  Real World Examples</a:t>
            </a:r>
            <a:endParaRPr lang="en-US" sz="950" dirty="0"/>
          </a:p>
        </p:txBody>
      </p:sp>
      <p:sp>
        <p:nvSpPr>
          <p:cNvPr id="15" name="Text 13"/>
          <p:cNvSpPr/>
          <p:nvPr/>
        </p:nvSpPr>
        <p:spPr>
          <a:xfrm>
            <a:off x="310896" y="2724912"/>
            <a:ext cx="4032504" cy="502920"/>
          </a:xfrm>
          <a:prstGeom prst="rect">
            <a:avLst/>
          </a:prstGeom>
          <a:noFill/>
          <a:ln/>
        </p:spPr>
        <p:txBody>
          <a:bodyPr wrap="square" lIns="0" tIns="0" rIns="0" bIns="0" rtlCol="0" anchor="t"/>
          <a:lstStyle/>
          <a:p>
            <a:pPr indent="0" marL="0">
              <a:buNone/>
            </a:pPr>
            <a:r>
              <a:rPr lang="en-US" sz="950" dirty="0">
                <a:solidFill>
                  <a:srgbClr val="1A2340"/>
                </a:solidFill>
                <a:latin typeface="Calibri" pitchFamily="34" charset="0"/>
                <a:ea typeface="Calibri" pitchFamily="34" charset="-122"/>
                <a:cs typeface="Calibri" pitchFamily="34" charset="-120"/>
              </a:rPr>
              <a:t>Amazon: BaseProduct → PhysicalProduct, DigitalProduct, Subscription.</a:t>
            </a:r>
            <a:endParaRPr lang="en-US" sz="950" dirty="0"/>
          </a:p>
          <a:p>
            <a:pPr indent="0" marL="0">
              <a:buNone/>
            </a:pPr>
            <a:r>
              <a:rPr lang="en-US" sz="950" dirty="0">
                <a:solidFill>
                  <a:srgbClr val="1A2340"/>
                </a:solidFill>
                <a:latin typeface="Calibri" pitchFamily="34" charset="0"/>
                <a:ea typeface="Calibri" pitchFamily="34" charset="-122"/>
                <a:cs typeface="Calibri" pitchFamily="34" charset="-120"/>
              </a:rPr>
              <a:t>Flipkart: BaseItem → Electronics, Fashion, Grocery — all inherit shipping logic.</a:t>
            </a:r>
            <a:endParaRPr lang="en-US" sz="950" dirty="0"/>
          </a:p>
        </p:txBody>
      </p:sp>
      <p:sp>
        <p:nvSpPr>
          <p:cNvPr id="16" name="Shape 14"/>
          <p:cNvSpPr/>
          <p:nvPr/>
        </p:nvSpPr>
        <p:spPr>
          <a:xfrm>
            <a:off x="4617720" y="960120"/>
            <a:ext cx="4315968" cy="3182112"/>
          </a:xfrm>
          <a:prstGeom prst="rect">
            <a:avLst/>
          </a:prstGeom>
          <a:solidFill>
            <a:srgbClr val="141E2C"/>
          </a:solidFill>
          <a:ln w="12700">
            <a:solidFill>
              <a:srgbClr val="2D3F55"/>
            </a:solidFill>
            <a:prstDash val="solid"/>
          </a:ln>
        </p:spPr>
      </p:sp>
      <p:sp>
        <p:nvSpPr>
          <p:cNvPr id="17" name="Text 15"/>
          <p:cNvSpPr/>
          <p:nvPr/>
        </p:nvSpPr>
        <p:spPr>
          <a:xfrm>
            <a:off x="4727448" y="1069848"/>
            <a:ext cx="4096512" cy="2999232"/>
          </a:xfrm>
          <a:prstGeom prst="rect">
            <a:avLst/>
          </a:prstGeom>
          <a:noFill/>
          <a:ln/>
        </p:spPr>
        <p:txBody>
          <a:bodyPr wrap="square" lIns="0" tIns="0" rIns="0" bIns="0" rtlCol="0" anchor="t"/>
          <a:lstStyle/>
          <a:p>
            <a:pPr indent="0" marL="0">
              <a:buNone/>
            </a:pPr>
            <a:r>
              <a:rPr lang="en-US" sz="950" dirty="0">
                <a:solidFill>
                  <a:srgbClr val="6B7280"/>
                </a:solidFill>
                <a:latin typeface="Consolas" pitchFamily="34" charset="0"/>
                <a:ea typeface="Consolas" pitchFamily="34" charset="-122"/>
                <a:cs typeface="Consolas" pitchFamily="34" charset="-120"/>
              </a:rPr>
              <a:t># Python</a:t>
            </a:r>
            <a:endParaRPr lang="en-US" sz="950" dirty="0"/>
          </a:p>
          <a:p>
            <a:pPr indent="0" marL="0">
              <a:buNone/>
            </a:pPr>
            <a:r>
              <a:rPr lang="en-US" sz="950" dirty="0">
                <a:solidFill>
                  <a:srgbClr val="FCD34D"/>
                </a:solidFill>
                <a:latin typeface="Consolas" pitchFamily="34" charset="0"/>
                <a:ea typeface="Consolas" pitchFamily="34" charset="-122"/>
                <a:cs typeface="Consolas" pitchFamily="34" charset="-120"/>
              </a:rPr>
              <a:t>class Bot:</a:t>
            </a:r>
            <a:endParaRPr lang="en-US" sz="950" dirty="0"/>
          </a:p>
          <a:p>
            <a:pPr indent="0" marL="0">
              <a:buNone/>
            </a:pPr>
            <a:r>
              <a:rPr lang="en-US" sz="950" dirty="0">
                <a:solidFill>
                  <a:srgbClr val="F9A8D4"/>
                </a:solidFill>
                <a:latin typeface="Consolas" pitchFamily="34" charset="0"/>
                <a:ea typeface="Consolas" pitchFamily="34" charset="-122"/>
                <a:cs typeface="Consolas" pitchFamily="34" charset="-120"/>
              </a:rPr>
              <a:t>    def __init__(self, name):</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self.name = name</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def greet(self):</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return f'Hi, I am {self.name}!'</a:t>
            </a:r>
            <a:endParaRPr lang="en-US" sz="950" dirty="0"/>
          </a:p>
          <a:p>
            <a:pPr indent="0" marL="0">
              <a:buNone/>
            </a:pPr>
            <a:endParaRPr lang="en-US" sz="950" dirty="0"/>
          </a:p>
          <a:p>
            <a:pPr indent="0" marL="0">
              <a:buNone/>
            </a:pPr>
            <a:r>
              <a:rPr lang="en-US" sz="950" dirty="0">
                <a:solidFill>
                  <a:srgbClr val="FCD34D"/>
                </a:solidFill>
                <a:latin typeface="Consolas" pitchFamily="34" charset="0"/>
                <a:ea typeface="Consolas" pitchFamily="34" charset="-122"/>
                <a:cs typeface="Consolas" pitchFamily="34" charset="-120"/>
              </a:rPr>
              <a:t>class ChatBot(Bot):  # inherits greet()</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def chat(self, msg):</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return f'{self.name}: {msg}'</a:t>
            </a:r>
            <a:endParaRPr lang="en-US" sz="950" dirty="0"/>
          </a:p>
        </p:txBody>
      </p:sp>
      <p:sp>
        <p:nvSpPr>
          <p:cNvPr id="18" name="Text 16"/>
          <p:cNvSpPr/>
          <p:nvPr/>
        </p:nvSpPr>
        <p:spPr>
          <a:xfrm>
            <a:off x="5120640" y="4846320"/>
            <a:ext cx="3840480" cy="201168"/>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Ruthran Raghavan, Chief AI Scientist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B3A6B"/>
          </a:solidFill>
          <a:ln w="12700">
            <a:solidFill>
              <a:srgbClr val="1B3A6B"/>
            </a:solidFill>
            <a:prstDash val="solid"/>
          </a:ln>
        </p:spPr>
      </p:sp>
      <p:sp>
        <p:nvSpPr>
          <p:cNvPr id="3" name="Text 1"/>
          <p:cNvSpPr/>
          <p:nvPr/>
        </p:nvSpPr>
        <p:spPr>
          <a:xfrm>
            <a:off x="274320" y="0"/>
            <a:ext cx="7132320" cy="56692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Concept 3  —  Polymorphism</a:t>
            </a:r>
            <a:endParaRPr lang="en-US" sz="1700" dirty="0"/>
          </a:p>
        </p:txBody>
      </p:sp>
      <p:sp>
        <p:nvSpPr>
          <p:cNvPr id="4" name="Shape 2"/>
          <p:cNvSpPr/>
          <p:nvPr/>
        </p:nvSpPr>
        <p:spPr>
          <a:xfrm>
            <a:off x="7589520" y="128016"/>
            <a:ext cx="1280160" cy="310896"/>
          </a:xfrm>
          <a:prstGeom prst="roundRect">
            <a:avLst>
              <a:gd name="adj" fmla="val 17647"/>
            </a:avLst>
          </a:prstGeom>
          <a:solidFill>
            <a:srgbClr val="0D9488"/>
          </a:solidFill>
          <a:ln w="12700">
            <a:solidFill>
              <a:srgbClr val="0D9488"/>
            </a:solidFill>
            <a:prstDash val="solid"/>
          </a:ln>
        </p:spPr>
      </p:sp>
      <p:sp>
        <p:nvSpPr>
          <p:cNvPr id="5" name="Text 3"/>
          <p:cNvSpPr/>
          <p:nvPr/>
        </p:nvSpPr>
        <p:spPr>
          <a:xfrm>
            <a:off x="7589520" y="128016"/>
            <a:ext cx="12801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BASIC</a:t>
            </a:r>
            <a:endParaRPr lang="en-US" sz="1000" dirty="0"/>
          </a:p>
        </p:txBody>
      </p:sp>
      <p:sp>
        <p:nvSpPr>
          <p:cNvPr id="6" name="Text 4"/>
          <p:cNvSpPr/>
          <p:nvPr/>
        </p:nvSpPr>
        <p:spPr>
          <a:xfrm>
            <a:off x="228600" y="658368"/>
            <a:ext cx="8686800" cy="256032"/>
          </a:xfrm>
          <a:prstGeom prst="rect">
            <a:avLst/>
          </a:prstGeom>
          <a:noFill/>
          <a:ln/>
        </p:spPr>
        <p:txBody>
          <a:bodyPr wrap="square" lIns="0" tIns="0" rIns="0" bIns="0" rtlCol="0" anchor="ctr"/>
          <a:lstStyle/>
          <a:p>
            <a:pPr indent="0" marL="0">
              <a:buNone/>
            </a:pPr>
            <a:r>
              <a:rPr lang="en-US" sz="1150" i="1" dirty="0">
                <a:solidFill>
                  <a:srgbClr val="475569"/>
                </a:solidFill>
                <a:latin typeface="Calibri" pitchFamily="34" charset="0"/>
                <a:ea typeface="Calibri" pitchFamily="34" charset="-122"/>
                <a:cs typeface="Calibri" pitchFamily="34" charset="-120"/>
              </a:rPr>
              <a:t>Same method name — every class does it its own way</a:t>
            </a:r>
            <a:endParaRPr lang="en-US" sz="1150" dirty="0"/>
          </a:p>
        </p:txBody>
      </p:sp>
      <p:sp>
        <p:nvSpPr>
          <p:cNvPr id="7" name="Shape 5"/>
          <p:cNvSpPr/>
          <p:nvPr/>
        </p:nvSpPr>
        <p:spPr>
          <a:xfrm>
            <a:off x="201168" y="960120"/>
            <a:ext cx="4251960" cy="685800"/>
          </a:xfrm>
          <a:prstGeom prst="rect">
            <a:avLst/>
          </a:prstGeom>
          <a:solidFill>
            <a:srgbClr val="FFFBEB"/>
          </a:solidFill>
          <a:ln w="12700">
            <a:solidFill>
              <a:srgbClr val="FCD34D"/>
            </a:solidFill>
            <a:prstDash val="solid"/>
          </a:ln>
        </p:spPr>
      </p:sp>
      <p:sp>
        <p:nvSpPr>
          <p:cNvPr id="8" name="Text 6"/>
          <p:cNvSpPr/>
          <p:nvPr/>
        </p:nvSpPr>
        <p:spPr>
          <a:xfrm>
            <a:off x="310896" y="996696"/>
            <a:ext cx="4032504" cy="201168"/>
          </a:xfrm>
          <a:prstGeom prst="rect">
            <a:avLst/>
          </a:prstGeom>
          <a:noFill/>
          <a:ln/>
        </p:spPr>
        <p:txBody>
          <a:bodyPr wrap="square" lIns="0" tIns="0" rIns="0" bIns="0" rtlCol="0" anchor="ctr"/>
          <a:lstStyle/>
          <a:p>
            <a:pPr indent="0" marL="0">
              <a:buNone/>
            </a:pPr>
            <a:r>
              <a:rPr lang="en-US" sz="950" b="1" dirty="0">
                <a:solidFill>
                  <a:srgbClr val="B45309"/>
                </a:solidFill>
                <a:latin typeface="Calibri" pitchFamily="34" charset="0"/>
                <a:ea typeface="Calibri" pitchFamily="34" charset="-122"/>
                <a:cs typeface="Calibri" pitchFamily="34" charset="-120"/>
              </a:rPr>
              <a:t>Think of it like...</a:t>
            </a:r>
            <a:endParaRPr lang="en-US" sz="950" dirty="0"/>
          </a:p>
        </p:txBody>
      </p:sp>
      <p:sp>
        <p:nvSpPr>
          <p:cNvPr id="9" name="Text 7"/>
          <p:cNvSpPr/>
          <p:nvPr/>
        </p:nvSpPr>
        <p:spPr>
          <a:xfrm>
            <a:off x="310896" y="1179576"/>
            <a:ext cx="4032504" cy="420624"/>
          </a:xfrm>
          <a:prstGeom prst="rect">
            <a:avLst/>
          </a:prstGeom>
          <a:noFill/>
          <a:ln/>
        </p:spPr>
        <p:txBody>
          <a:bodyPr wrap="square" lIns="0" tIns="0" rIns="0" bIns="0" rtlCol="0" anchor="t"/>
          <a:lstStyle/>
          <a:p>
            <a:pPr indent="0" marL="0">
              <a:buNone/>
            </a:pPr>
            <a:r>
              <a:rPr lang="en-US" sz="1000" dirty="0">
                <a:solidFill>
                  <a:srgbClr val="1A2340"/>
                </a:solidFill>
                <a:latin typeface="Calibri" pitchFamily="34" charset="0"/>
                <a:ea typeface="Calibri" pitchFamily="34" charset="-122"/>
                <a:cs typeface="Calibri" pitchFamily="34" charset="-120"/>
              </a:rPr>
              <a:t>💳  Payment Methods — Swiggy calls pay() on Credit Card, UPI, or Cash. Same call, completely different processing.</a:t>
            </a:r>
            <a:endParaRPr lang="en-US" sz="1000" dirty="0"/>
          </a:p>
        </p:txBody>
      </p:sp>
      <p:sp>
        <p:nvSpPr>
          <p:cNvPr id="10" name="Shape 8"/>
          <p:cNvSpPr/>
          <p:nvPr/>
        </p:nvSpPr>
        <p:spPr>
          <a:xfrm>
            <a:off x="201168" y="1709928"/>
            <a:ext cx="4251960" cy="713232"/>
          </a:xfrm>
          <a:prstGeom prst="rect">
            <a:avLst/>
          </a:prstGeom>
          <a:solidFill>
            <a:srgbClr val="EBF3FF"/>
          </a:solidFill>
          <a:ln w="12700">
            <a:solidFill>
              <a:srgbClr val="BFDBFE"/>
            </a:solidFill>
            <a:prstDash val="solid"/>
          </a:ln>
        </p:spPr>
      </p:sp>
      <p:sp>
        <p:nvSpPr>
          <p:cNvPr id="11" name="Text 9"/>
          <p:cNvSpPr/>
          <p:nvPr/>
        </p:nvSpPr>
        <p:spPr>
          <a:xfrm>
            <a:off x="310896" y="1746504"/>
            <a:ext cx="4032504" cy="201168"/>
          </a:xfrm>
          <a:prstGeom prst="rect">
            <a:avLst/>
          </a:prstGeom>
          <a:noFill/>
          <a:ln/>
        </p:spPr>
        <p:txBody>
          <a:bodyPr wrap="square" lIns="0" tIns="0" rIns="0" bIns="0" rtlCol="0" anchor="ctr"/>
          <a:lstStyle/>
          <a:p>
            <a:pPr indent="0" marL="0">
              <a:buNone/>
            </a:pPr>
            <a:r>
              <a:rPr lang="en-US" sz="950" b="1" dirty="0">
                <a:solidFill>
                  <a:srgbClr val="1D4ED8"/>
                </a:solidFill>
                <a:latin typeface="Calibri" pitchFamily="34" charset="0"/>
                <a:ea typeface="Calibri" pitchFamily="34" charset="-122"/>
                <a:cs typeface="Calibri" pitchFamily="34" charset="-120"/>
              </a:rPr>
              <a:t>📖  What is it?</a:t>
            </a:r>
            <a:endParaRPr lang="en-US" sz="950" dirty="0"/>
          </a:p>
        </p:txBody>
      </p:sp>
      <p:sp>
        <p:nvSpPr>
          <p:cNvPr id="12" name="Text 10"/>
          <p:cNvSpPr/>
          <p:nvPr/>
        </p:nvSpPr>
        <p:spPr>
          <a:xfrm>
            <a:off x="310896" y="1947672"/>
            <a:ext cx="4032504" cy="420624"/>
          </a:xfrm>
          <a:prstGeom prst="rect">
            <a:avLst/>
          </a:prstGeom>
          <a:noFill/>
          <a:ln/>
        </p:spPr>
        <p:txBody>
          <a:bodyPr wrap="square" lIns="0" tIns="0" rIns="0" bIns="0" rtlCol="0" anchor="t"/>
          <a:lstStyle/>
          <a:p>
            <a:pPr indent="0" marL="0">
              <a:buNone/>
            </a:pPr>
            <a:r>
              <a:rPr lang="en-US" sz="1000" dirty="0">
                <a:solidFill>
                  <a:srgbClr val="1A2340"/>
                </a:solidFill>
                <a:latin typeface="Calibri" pitchFamily="34" charset="0"/>
                <a:ea typeface="Calibri" pitchFamily="34" charset="-122"/>
                <a:cs typeface="Calibri" pitchFamily="34" charset="-120"/>
              </a:rPr>
              <a:t>Write one function (ask_bot) that works for any bot. It calls respond() without knowing the type. No if/elif needed.</a:t>
            </a:r>
            <a:endParaRPr lang="en-US" sz="1000" dirty="0"/>
          </a:p>
        </p:txBody>
      </p:sp>
      <p:sp>
        <p:nvSpPr>
          <p:cNvPr id="13" name="Shape 11"/>
          <p:cNvSpPr/>
          <p:nvPr/>
        </p:nvSpPr>
        <p:spPr>
          <a:xfrm>
            <a:off x="201168" y="2487168"/>
            <a:ext cx="4251960" cy="777240"/>
          </a:xfrm>
          <a:prstGeom prst="rect">
            <a:avLst/>
          </a:prstGeom>
          <a:solidFill>
            <a:srgbClr val="F0FDF4"/>
          </a:solidFill>
          <a:ln w="12700">
            <a:solidFill>
              <a:srgbClr val="86EFAC"/>
            </a:solidFill>
            <a:prstDash val="solid"/>
          </a:ln>
        </p:spPr>
      </p:sp>
      <p:sp>
        <p:nvSpPr>
          <p:cNvPr id="14" name="Text 12"/>
          <p:cNvSpPr/>
          <p:nvPr/>
        </p:nvSpPr>
        <p:spPr>
          <a:xfrm>
            <a:off x="310896" y="2523744"/>
            <a:ext cx="4032504" cy="201168"/>
          </a:xfrm>
          <a:prstGeom prst="rect">
            <a:avLst/>
          </a:prstGeom>
          <a:noFill/>
          <a:ln/>
        </p:spPr>
        <p:txBody>
          <a:bodyPr wrap="square" lIns="0" tIns="0" rIns="0" bIns="0" rtlCol="0" anchor="ctr"/>
          <a:lstStyle/>
          <a:p>
            <a:pPr indent="0" marL="0">
              <a:buNone/>
            </a:pPr>
            <a:r>
              <a:rPr lang="en-US" sz="950" b="1" dirty="0">
                <a:solidFill>
                  <a:srgbClr val="15803D"/>
                </a:solidFill>
                <a:latin typeface="Calibri" pitchFamily="34" charset="0"/>
                <a:ea typeface="Calibri" pitchFamily="34" charset="-122"/>
                <a:cs typeface="Calibri" pitchFamily="34" charset="-120"/>
              </a:rPr>
              <a:t>🏢  Real World Examples</a:t>
            </a:r>
            <a:endParaRPr lang="en-US" sz="950" dirty="0"/>
          </a:p>
        </p:txBody>
      </p:sp>
      <p:sp>
        <p:nvSpPr>
          <p:cNvPr id="15" name="Text 13"/>
          <p:cNvSpPr/>
          <p:nvPr/>
        </p:nvSpPr>
        <p:spPr>
          <a:xfrm>
            <a:off x="310896" y="2724912"/>
            <a:ext cx="4032504" cy="502920"/>
          </a:xfrm>
          <a:prstGeom prst="rect">
            <a:avLst/>
          </a:prstGeom>
          <a:noFill/>
          <a:ln/>
        </p:spPr>
        <p:txBody>
          <a:bodyPr wrap="square" lIns="0" tIns="0" rIns="0" bIns="0" rtlCol="0" anchor="t"/>
          <a:lstStyle/>
          <a:p>
            <a:pPr indent="0" marL="0">
              <a:buNone/>
            </a:pPr>
            <a:r>
              <a:rPr lang="en-US" sz="950" dirty="0">
                <a:solidFill>
                  <a:srgbClr val="1A2340"/>
                </a:solidFill>
                <a:latin typeface="Calibri" pitchFamily="34" charset="0"/>
                <a:ea typeface="Calibri" pitchFamily="34" charset="-122"/>
                <a:cs typeface="Calibri" pitchFamily="34" charset="-120"/>
              </a:rPr>
              <a:t>Swiggy accepts UPI, Card, Cash — all via the same pay() call.</a:t>
            </a:r>
            <a:endParaRPr lang="en-US" sz="950" dirty="0"/>
          </a:p>
          <a:p>
            <a:pPr indent="0" marL="0">
              <a:buNone/>
            </a:pPr>
            <a:r>
              <a:rPr lang="en-US" sz="950" dirty="0">
                <a:solidFill>
                  <a:srgbClr val="1A2340"/>
                </a:solidFill>
                <a:latin typeface="Calibri" pitchFamily="34" charset="0"/>
                <a:ea typeface="Calibri" pitchFamily="34" charset="-122"/>
                <a:cs typeface="Calibri" pitchFamily="34" charset="-120"/>
              </a:rPr>
              <a:t>Uber calls calculate_fare() on city, airport, or surge rides — all behave differently.</a:t>
            </a:r>
            <a:endParaRPr lang="en-US" sz="950" dirty="0"/>
          </a:p>
        </p:txBody>
      </p:sp>
      <p:sp>
        <p:nvSpPr>
          <p:cNvPr id="16" name="Shape 14"/>
          <p:cNvSpPr/>
          <p:nvPr/>
        </p:nvSpPr>
        <p:spPr>
          <a:xfrm>
            <a:off x="4617720" y="960120"/>
            <a:ext cx="4315968" cy="3182112"/>
          </a:xfrm>
          <a:prstGeom prst="rect">
            <a:avLst/>
          </a:prstGeom>
          <a:solidFill>
            <a:srgbClr val="141E2C"/>
          </a:solidFill>
          <a:ln w="12700">
            <a:solidFill>
              <a:srgbClr val="2D3F55"/>
            </a:solidFill>
            <a:prstDash val="solid"/>
          </a:ln>
        </p:spPr>
      </p:sp>
      <p:sp>
        <p:nvSpPr>
          <p:cNvPr id="17" name="Text 15"/>
          <p:cNvSpPr/>
          <p:nvPr/>
        </p:nvSpPr>
        <p:spPr>
          <a:xfrm>
            <a:off x="4727448" y="1069848"/>
            <a:ext cx="4096512" cy="2999232"/>
          </a:xfrm>
          <a:prstGeom prst="rect">
            <a:avLst/>
          </a:prstGeom>
          <a:noFill/>
          <a:ln/>
        </p:spPr>
        <p:txBody>
          <a:bodyPr wrap="square" lIns="0" tIns="0" rIns="0" bIns="0" rtlCol="0" anchor="t"/>
          <a:lstStyle/>
          <a:p>
            <a:pPr indent="0" marL="0">
              <a:buNone/>
            </a:pPr>
            <a:r>
              <a:rPr lang="en-US" sz="950" dirty="0">
                <a:solidFill>
                  <a:srgbClr val="6B7280"/>
                </a:solidFill>
                <a:latin typeface="Consolas" pitchFamily="34" charset="0"/>
                <a:ea typeface="Consolas" pitchFamily="34" charset="-122"/>
                <a:cs typeface="Consolas" pitchFamily="34" charset="-120"/>
              </a:rPr>
              <a:t># Python</a:t>
            </a:r>
            <a:endParaRPr lang="en-US" sz="950" dirty="0"/>
          </a:p>
          <a:p>
            <a:pPr indent="0" marL="0">
              <a:buNone/>
            </a:pPr>
            <a:r>
              <a:rPr lang="en-US" sz="950" dirty="0">
                <a:solidFill>
                  <a:srgbClr val="FCD34D"/>
                </a:solidFill>
                <a:latin typeface="Consolas" pitchFamily="34" charset="0"/>
                <a:ea typeface="Consolas" pitchFamily="34" charset="-122"/>
                <a:cs typeface="Consolas" pitchFamily="34" charset="-120"/>
              </a:rPr>
              <a:t>class WeatherBot:</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def respond(self, q): return 'Sunny!'</a:t>
            </a:r>
            <a:endParaRPr lang="en-US" sz="950" dirty="0"/>
          </a:p>
          <a:p>
            <a:pPr indent="0" marL="0">
              <a:buNone/>
            </a:pPr>
            <a:r>
              <a:rPr lang="en-US" sz="950" dirty="0">
                <a:solidFill>
                  <a:srgbClr val="FCD34D"/>
                </a:solidFill>
                <a:latin typeface="Consolas" pitchFamily="34" charset="0"/>
                <a:ea typeface="Consolas" pitchFamily="34" charset="-122"/>
                <a:cs typeface="Consolas" pitchFamily="34" charset="-120"/>
              </a:rPr>
              <a:t>class JokeBot:</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def respond(self, q): return 'Ha ha!'</a:t>
            </a:r>
            <a:endParaRPr lang="en-US" sz="950" dirty="0"/>
          </a:p>
          <a:p>
            <a:pPr indent="0" marL="0">
              <a:buNone/>
            </a:pPr>
            <a:r>
              <a:rPr lang="en-US" sz="950" dirty="0">
                <a:solidFill>
                  <a:srgbClr val="FCD34D"/>
                </a:solidFill>
                <a:latin typeface="Consolas" pitchFamily="34" charset="0"/>
                <a:ea typeface="Consolas" pitchFamily="34" charset="-122"/>
                <a:cs typeface="Consolas" pitchFamily="34" charset="-120"/>
              </a:rPr>
              <a:t>class TranslateBot:</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def respond(self, q): return 'Bonjour!'</a:t>
            </a:r>
            <a:endParaRPr lang="en-US" sz="950" dirty="0"/>
          </a:p>
          <a:p>
            <a:pPr indent="0" marL="0">
              <a:buNone/>
            </a:pP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bots = [WeatherBot(), JokeBot(), TranslateBot()]</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for b in bots: print(b.respond('Hi'))  # different!</a:t>
            </a:r>
            <a:endParaRPr lang="en-US" sz="950" dirty="0"/>
          </a:p>
        </p:txBody>
      </p:sp>
      <p:sp>
        <p:nvSpPr>
          <p:cNvPr id="18" name="Text 16"/>
          <p:cNvSpPr/>
          <p:nvPr/>
        </p:nvSpPr>
        <p:spPr>
          <a:xfrm>
            <a:off x="5120640" y="4846320"/>
            <a:ext cx="3840480" cy="201168"/>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Ruthran Raghavan, Chief AI Scientist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B3A6B"/>
          </a:solidFill>
          <a:ln w="12700">
            <a:solidFill>
              <a:srgbClr val="1B3A6B"/>
            </a:solidFill>
            <a:prstDash val="solid"/>
          </a:ln>
        </p:spPr>
      </p:sp>
      <p:sp>
        <p:nvSpPr>
          <p:cNvPr id="3" name="Text 1"/>
          <p:cNvSpPr/>
          <p:nvPr/>
        </p:nvSpPr>
        <p:spPr>
          <a:xfrm>
            <a:off x="274320" y="0"/>
            <a:ext cx="7132320" cy="56692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Concept 4  —  Abstraction</a:t>
            </a:r>
            <a:endParaRPr lang="en-US" sz="1700" dirty="0"/>
          </a:p>
        </p:txBody>
      </p:sp>
      <p:sp>
        <p:nvSpPr>
          <p:cNvPr id="4" name="Shape 2"/>
          <p:cNvSpPr/>
          <p:nvPr/>
        </p:nvSpPr>
        <p:spPr>
          <a:xfrm>
            <a:off x="7589520" y="128016"/>
            <a:ext cx="1280160" cy="310896"/>
          </a:xfrm>
          <a:prstGeom prst="roundRect">
            <a:avLst>
              <a:gd name="adj" fmla="val 17647"/>
            </a:avLst>
          </a:prstGeom>
          <a:solidFill>
            <a:srgbClr val="0D9488"/>
          </a:solidFill>
          <a:ln w="12700">
            <a:solidFill>
              <a:srgbClr val="0D9488"/>
            </a:solidFill>
            <a:prstDash val="solid"/>
          </a:ln>
        </p:spPr>
      </p:sp>
      <p:sp>
        <p:nvSpPr>
          <p:cNvPr id="5" name="Text 3"/>
          <p:cNvSpPr/>
          <p:nvPr/>
        </p:nvSpPr>
        <p:spPr>
          <a:xfrm>
            <a:off x="7589520" y="128016"/>
            <a:ext cx="12801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BASIC</a:t>
            </a:r>
            <a:endParaRPr lang="en-US" sz="1000" dirty="0"/>
          </a:p>
        </p:txBody>
      </p:sp>
      <p:sp>
        <p:nvSpPr>
          <p:cNvPr id="6" name="Text 4"/>
          <p:cNvSpPr/>
          <p:nvPr/>
        </p:nvSpPr>
        <p:spPr>
          <a:xfrm>
            <a:off x="228600" y="658368"/>
            <a:ext cx="8686800" cy="256032"/>
          </a:xfrm>
          <a:prstGeom prst="rect">
            <a:avLst/>
          </a:prstGeom>
          <a:noFill/>
          <a:ln/>
        </p:spPr>
        <p:txBody>
          <a:bodyPr wrap="square" lIns="0" tIns="0" rIns="0" bIns="0" rtlCol="0" anchor="ctr"/>
          <a:lstStyle/>
          <a:p>
            <a:pPr indent="0" marL="0">
              <a:buNone/>
            </a:pPr>
            <a:r>
              <a:rPr lang="en-US" sz="1150" i="1" dirty="0">
                <a:solidFill>
                  <a:srgbClr val="475569"/>
                </a:solidFill>
                <a:latin typeface="Calibri" pitchFamily="34" charset="0"/>
                <a:ea typeface="Calibri" pitchFamily="34" charset="-122"/>
                <a:cs typeface="Calibri" pitchFamily="34" charset="-120"/>
              </a:rPr>
              <a:t>A template that forces all subclasses to implement required methods</a:t>
            </a:r>
            <a:endParaRPr lang="en-US" sz="1150" dirty="0"/>
          </a:p>
        </p:txBody>
      </p:sp>
      <p:sp>
        <p:nvSpPr>
          <p:cNvPr id="7" name="Shape 5"/>
          <p:cNvSpPr/>
          <p:nvPr/>
        </p:nvSpPr>
        <p:spPr>
          <a:xfrm>
            <a:off x="201168" y="960120"/>
            <a:ext cx="4251960" cy="685800"/>
          </a:xfrm>
          <a:prstGeom prst="rect">
            <a:avLst/>
          </a:prstGeom>
          <a:solidFill>
            <a:srgbClr val="FFFBEB"/>
          </a:solidFill>
          <a:ln w="12700">
            <a:solidFill>
              <a:srgbClr val="FCD34D"/>
            </a:solidFill>
            <a:prstDash val="solid"/>
          </a:ln>
        </p:spPr>
      </p:sp>
      <p:sp>
        <p:nvSpPr>
          <p:cNvPr id="8" name="Text 6"/>
          <p:cNvSpPr/>
          <p:nvPr/>
        </p:nvSpPr>
        <p:spPr>
          <a:xfrm>
            <a:off x="310896" y="996696"/>
            <a:ext cx="4032504" cy="201168"/>
          </a:xfrm>
          <a:prstGeom prst="rect">
            <a:avLst/>
          </a:prstGeom>
          <a:noFill/>
          <a:ln/>
        </p:spPr>
        <p:txBody>
          <a:bodyPr wrap="square" lIns="0" tIns="0" rIns="0" bIns="0" rtlCol="0" anchor="ctr"/>
          <a:lstStyle/>
          <a:p>
            <a:pPr indent="0" marL="0">
              <a:buNone/>
            </a:pPr>
            <a:r>
              <a:rPr lang="en-US" sz="950" b="1" dirty="0">
                <a:solidFill>
                  <a:srgbClr val="B45309"/>
                </a:solidFill>
                <a:latin typeface="Calibri" pitchFamily="34" charset="0"/>
                <a:ea typeface="Calibri" pitchFamily="34" charset="-122"/>
                <a:cs typeface="Calibri" pitchFamily="34" charset="-120"/>
              </a:rPr>
              <a:t>Think of it like...</a:t>
            </a:r>
            <a:endParaRPr lang="en-US" sz="950" dirty="0"/>
          </a:p>
        </p:txBody>
      </p:sp>
      <p:sp>
        <p:nvSpPr>
          <p:cNvPr id="9" name="Text 7"/>
          <p:cNvSpPr/>
          <p:nvPr/>
        </p:nvSpPr>
        <p:spPr>
          <a:xfrm>
            <a:off x="310896" y="1179576"/>
            <a:ext cx="4032504" cy="420624"/>
          </a:xfrm>
          <a:prstGeom prst="rect">
            <a:avLst/>
          </a:prstGeom>
          <a:noFill/>
          <a:ln/>
        </p:spPr>
        <p:txBody>
          <a:bodyPr wrap="square" lIns="0" tIns="0" rIns="0" bIns="0" rtlCol="0" anchor="t"/>
          <a:lstStyle/>
          <a:p>
            <a:pPr indent="0" marL="0">
              <a:buNone/>
            </a:pPr>
            <a:r>
              <a:rPr lang="en-US" sz="1000" dirty="0">
                <a:solidFill>
                  <a:srgbClr val="1A2340"/>
                </a:solidFill>
                <a:latin typeface="Calibri" pitchFamily="34" charset="0"/>
                <a:ea typeface="Calibri" pitchFamily="34" charset="-122"/>
                <a:cs typeface="Calibri" pitchFamily="34" charset="-120"/>
              </a:rPr>
              <a:t>🚗  Driving a Car — You press the gas pedal without knowing how fuel injection or the engine works inside.</a:t>
            </a:r>
            <a:endParaRPr lang="en-US" sz="1000" dirty="0"/>
          </a:p>
        </p:txBody>
      </p:sp>
      <p:sp>
        <p:nvSpPr>
          <p:cNvPr id="10" name="Shape 8"/>
          <p:cNvSpPr/>
          <p:nvPr/>
        </p:nvSpPr>
        <p:spPr>
          <a:xfrm>
            <a:off x="201168" y="1709928"/>
            <a:ext cx="4251960" cy="713232"/>
          </a:xfrm>
          <a:prstGeom prst="rect">
            <a:avLst/>
          </a:prstGeom>
          <a:solidFill>
            <a:srgbClr val="EBF3FF"/>
          </a:solidFill>
          <a:ln w="12700">
            <a:solidFill>
              <a:srgbClr val="BFDBFE"/>
            </a:solidFill>
            <a:prstDash val="solid"/>
          </a:ln>
        </p:spPr>
      </p:sp>
      <p:sp>
        <p:nvSpPr>
          <p:cNvPr id="11" name="Text 9"/>
          <p:cNvSpPr/>
          <p:nvPr/>
        </p:nvSpPr>
        <p:spPr>
          <a:xfrm>
            <a:off x="310896" y="1746504"/>
            <a:ext cx="4032504" cy="201168"/>
          </a:xfrm>
          <a:prstGeom prst="rect">
            <a:avLst/>
          </a:prstGeom>
          <a:noFill/>
          <a:ln/>
        </p:spPr>
        <p:txBody>
          <a:bodyPr wrap="square" lIns="0" tIns="0" rIns="0" bIns="0" rtlCol="0" anchor="ctr"/>
          <a:lstStyle/>
          <a:p>
            <a:pPr indent="0" marL="0">
              <a:buNone/>
            </a:pPr>
            <a:r>
              <a:rPr lang="en-US" sz="950" b="1" dirty="0">
                <a:solidFill>
                  <a:srgbClr val="1D4ED8"/>
                </a:solidFill>
                <a:latin typeface="Calibri" pitchFamily="34" charset="0"/>
                <a:ea typeface="Calibri" pitchFamily="34" charset="-122"/>
                <a:cs typeface="Calibri" pitchFamily="34" charset="-120"/>
              </a:rPr>
              <a:t>📖  What is it?</a:t>
            </a:r>
            <a:endParaRPr lang="en-US" sz="950" dirty="0"/>
          </a:p>
        </p:txBody>
      </p:sp>
      <p:sp>
        <p:nvSpPr>
          <p:cNvPr id="12" name="Text 10"/>
          <p:cNvSpPr/>
          <p:nvPr/>
        </p:nvSpPr>
        <p:spPr>
          <a:xfrm>
            <a:off x="310896" y="1947672"/>
            <a:ext cx="4032504" cy="420624"/>
          </a:xfrm>
          <a:prstGeom prst="rect">
            <a:avLst/>
          </a:prstGeom>
          <a:noFill/>
          <a:ln/>
        </p:spPr>
        <p:txBody>
          <a:bodyPr wrap="square" lIns="0" tIns="0" rIns="0" bIns="0" rtlCol="0" anchor="t"/>
          <a:lstStyle/>
          <a:p>
            <a:pPr indent="0" marL="0">
              <a:buNone/>
            </a:pPr>
            <a:r>
              <a:rPr lang="en-US" sz="1000" dirty="0">
                <a:solidFill>
                  <a:srgbClr val="1A2340"/>
                </a:solidFill>
                <a:latin typeface="Calibri" pitchFamily="34" charset="0"/>
                <a:ea typeface="Calibri" pitchFamily="34" charset="-122"/>
                <a:cs typeface="Calibri" pitchFamily="34" charset="-120"/>
              </a:rPr>
              <a:t>ABC (Abstract Base Class) defines a contract. Every class that inherits MUST implement the abstract methods. Python enforces this at class creation time.</a:t>
            </a:r>
            <a:endParaRPr lang="en-US" sz="1000" dirty="0"/>
          </a:p>
        </p:txBody>
      </p:sp>
      <p:sp>
        <p:nvSpPr>
          <p:cNvPr id="13" name="Shape 11"/>
          <p:cNvSpPr/>
          <p:nvPr/>
        </p:nvSpPr>
        <p:spPr>
          <a:xfrm>
            <a:off x="201168" y="2487168"/>
            <a:ext cx="4251960" cy="777240"/>
          </a:xfrm>
          <a:prstGeom prst="rect">
            <a:avLst/>
          </a:prstGeom>
          <a:solidFill>
            <a:srgbClr val="F0FDF4"/>
          </a:solidFill>
          <a:ln w="12700">
            <a:solidFill>
              <a:srgbClr val="86EFAC"/>
            </a:solidFill>
            <a:prstDash val="solid"/>
          </a:ln>
        </p:spPr>
      </p:sp>
      <p:sp>
        <p:nvSpPr>
          <p:cNvPr id="14" name="Text 12"/>
          <p:cNvSpPr/>
          <p:nvPr/>
        </p:nvSpPr>
        <p:spPr>
          <a:xfrm>
            <a:off x="310896" y="2523744"/>
            <a:ext cx="4032504" cy="201168"/>
          </a:xfrm>
          <a:prstGeom prst="rect">
            <a:avLst/>
          </a:prstGeom>
          <a:noFill/>
          <a:ln/>
        </p:spPr>
        <p:txBody>
          <a:bodyPr wrap="square" lIns="0" tIns="0" rIns="0" bIns="0" rtlCol="0" anchor="ctr"/>
          <a:lstStyle/>
          <a:p>
            <a:pPr indent="0" marL="0">
              <a:buNone/>
            </a:pPr>
            <a:r>
              <a:rPr lang="en-US" sz="950" b="1" dirty="0">
                <a:solidFill>
                  <a:srgbClr val="15803D"/>
                </a:solidFill>
                <a:latin typeface="Calibri" pitchFamily="34" charset="0"/>
                <a:ea typeface="Calibri" pitchFamily="34" charset="-122"/>
                <a:cs typeface="Calibri" pitchFamily="34" charset="-120"/>
              </a:rPr>
              <a:t>🏢  Real World Examples</a:t>
            </a:r>
            <a:endParaRPr lang="en-US" sz="950" dirty="0"/>
          </a:p>
        </p:txBody>
      </p:sp>
      <p:sp>
        <p:nvSpPr>
          <p:cNvPr id="15" name="Text 13"/>
          <p:cNvSpPr/>
          <p:nvPr/>
        </p:nvSpPr>
        <p:spPr>
          <a:xfrm>
            <a:off x="310896" y="2724912"/>
            <a:ext cx="4032504" cy="502920"/>
          </a:xfrm>
          <a:prstGeom prst="rect">
            <a:avLst/>
          </a:prstGeom>
          <a:noFill/>
          <a:ln/>
        </p:spPr>
        <p:txBody>
          <a:bodyPr wrap="square" lIns="0" tIns="0" rIns="0" bIns="0" rtlCol="0" anchor="t"/>
          <a:lstStyle/>
          <a:p>
            <a:pPr indent="0" marL="0">
              <a:buNone/>
            </a:pPr>
            <a:r>
              <a:rPr lang="en-US" sz="950" dirty="0">
                <a:solidFill>
                  <a:srgbClr val="1A2340"/>
                </a:solidFill>
                <a:latin typeface="Calibri" pitchFamily="34" charset="0"/>
                <a:ea typeface="Calibri" pitchFamily="34" charset="-122"/>
                <a:cs typeface="Calibri" pitchFamily="34" charset="-120"/>
              </a:rPr>
              <a:t>AWS Lambda: You upload code — you don't manage servers.</a:t>
            </a:r>
            <a:endParaRPr lang="en-US" sz="950" dirty="0"/>
          </a:p>
          <a:p>
            <a:pPr indent="0" marL="0">
              <a:buNone/>
            </a:pPr>
            <a:r>
              <a:rPr lang="en-US" sz="950" dirty="0">
                <a:solidFill>
                  <a:srgbClr val="1A2340"/>
                </a:solidFill>
                <a:latin typeface="Calibri" pitchFamily="34" charset="0"/>
                <a:ea typeface="Calibri" pitchFamily="34" charset="-122"/>
                <a:cs typeface="Calibri" pitchFamily="34" charset="-120"/>
              </a:rPr>
              <a:t>Django Views: Every view must implement get() or post() — the framework calls them.</a:t>
            </a:r>
            <a:endParaRPr lang="en-US" sz="950" dirty="0"/>
          </a:p>
        </p:txBody>
      </p:sp>
      <p:sp>
        <p:nvSpPr>
          <p:cNvPr id="16" name="Shape 14"/>
          <p:cNvSpPr/>
          <p:nvPr/>
        </p:nvSpPr>
        <p:spPr>
          <a:xfrm>
            <a:off x="4617720" y="960120"/>
            <a:ext cx="4315968" cy="3182112"/>
          </a:xfrm>
          <a:prstGeom prst="rect">
            <a:avLst/>
          </a:prstGeom>
          <a:solidFill>
            <a:srgbClr val="141E2C"/>
          </a:solidFill>
          <a:ln w="12700">
            <a:solidFill>
              <a:srgbClr val="2D3F55"/>
            </a:solidFill>
            <a:prstDash val="solid"/>
          </a:ln>
        </p:spPr>
      </p:sp>
      <p:sp>
        <p:nvSpPr>
          <p:cNvPr id="17" name="Text 15"/>
          <p:cNvSpPr/>
          <p:nvPr/>
        </p:nvSpPr>
        <p:spPr>
          <a:xfrm>
            <a:off x="4727448" y="1069848"/>
            <a:ext cx="4096512" cy="2999232"/>
          </a:xfrm>
          <a:prstGeom prst="rect">
            <a:avLst/>
          </a:prstGeom>
          <a:noFill/>
          <a:ln/>
        </p:spPr>
        <p:txBody>
          <a:bodyPr wrap="square" lIns="0" tIns="0" rIns="0" bIns="0" rtlCol="0" anchor="t"/>
          <a:lstStyle/>
          <a:p>
            <a:pPr indent="0" marL="0">
              <a:buNone/>
            </a:pPr>
            <a:r>
              <a:rPr lang="en-US" sz="950" dirty="0">
                <a:solidFill>
                  <a:srgbClr val="6B7280"/>
                </a:solidFill>
                <a:latin typeface="Consolas" pitchFamily="34" charset="0"/>
                <a:ea typeface="Consolas" pitchFamily="34" charset="-122"/>
                <a:cs typeface="Consolas" pitchFamily="34" charset="-120"/>
              </a:rPr>
              <a:t># Python</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from abc import ABC, abstractmethod</a:t>
            </a:r>
            <a:endParaRPr lang="en-US" sz="950" dirty="0"/>
          </a:p>
          <a:p>
            <a:pPr indent="0" marL="0">
              <a:buNone/>
            </a:pPr>
            <a:endParaRPr lang="en-US" sz="950" dirty="0"/>
          </a:p>
          <a:p>
            <a:pPr indent="0" marL="0">
              <a:buNone/>
            </a:pPr>
            <a:r>
              <a:rPr lang="en-US" sz="950" dirty="0">
                <a:solidFill>
                  <a:srgbClr val="FCD34D"/>
                </a:solidFill>
                <a:latin typeface="Consolas" pitchFamily="34" charset="0"/>
                <a:ea typeface="Consolas" pitchFamily="34" charset="-122"/>
                <a:cs typeface="Consolas" pitchFamily="34" charset="-120"/>
              </a:rPr>
              <a:t>class AITask(ABC):</a:t>
            </a:r>
            <a:endParaRPr lang="en-US" sz="950" dirty="0"/>
          </a:p>
          <a:p>
            <a:pPr indent="0" marL="0">
              <a:buNone/>
            </a:pPr>
            <a:r>
              <a:rPr lang="en-US" sz="950" dirty="0">
                <a:solidFill>
                  <a:srgbClr val="FCD34D"/>
                </a:solidFill>
                <a:latin typeface="Consolas" pitchFamily="34" charset="0"/>
                <a:ea typeface="Consolas" pitchFamily="34" charset="-122"/>
                <a:cs typeface="Consolas" pitchFamily="34" charset="-120"/>
              </a:rPr>
              <a:t>    @abstractmethod</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def run(self, text): pass   # MUST implement!</a:t>
            </a:r>
            <a:endParaRPr lang="en-US" sz="950" dirty="0"/>
          </a:p>
          <a:p>
            <a:pPr indent="0" marL="0">
              <a:buNone/>
            </a:pPr>
            <a:endParaRPr lang="en-US" sz="950" dirty="0"/>
          </a:p>
          <a:p>
            <a:pPr indent="0" marL="0">
              <a:buNone/>
            </a:pPr>
            <a:r>
              <a:rPr lang="en-US" sz="950" dirty="0">
                <a:solidFill>
                  <a:srgbClr val="FCD34D"/>
                </a:solidFill>
                <a:latin typeface="Consolas" pitchFamily="34" charset="0"/>
                <a:ea typeface="Consolas" pitchFamily="34" charset="-122"/>
                <a:cs typeface="Consolas" pitchFamily="34" charset="-120"/>
              </a:rPr>
              <a:t>class Summarise(AITask):</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def run(self, text):</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return f'Summary: {text[:20]}...'</a:t>
            </a:r>
            <a:endParaRPr lang="en-US" sz="950" dirty="0"/>
          </a:p>
        </p:txBody>
      </p:sp>
      <p:sp>
        <p:nvSpPr>
          <p:cNvPr id="18" name="Text 16"/>
          <p:cNvSpPr/>
          <p:nvPr/>
        </p:nvSpPr>
        <p:spPr>
          <a:xfrm>
            <a:off x="5120640" y="4846320"/>
            <a:ext cx="3840480" cy="201168"/>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Ruthran Raghavan, Chief AI Scientist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B3A6B"/>
          </a:solidFill>
          <a:ln w="12700">
            <a:solidFill>
              <a:srgbClr val="1B3A6B"/>
            </a:solidFill>
            <a:prstDash val="solid"/>
          </a:ln>
        </p:spPr>
      </p:sp>
      <p:sp>
        <p:nvSpPr>
          <p:cNvPr id="3" name="Text 1"/>
          <p:cNvSpPr/>
          <p:nvPr/>
        </p:nvSpPr>
        <p:spPr>
          <a:xfrm>
            <a:off x="274320" y="0"/>
            <a:ext cx="7132320" cy="56692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Concept 5  —  Magic Methods</a:t>
            </a:r>
            <a:endParaRPr lang="en-US" sz="1700" dirty="0"/>
          </a:p>
        </p:txBody>
      </p:sp>
      <p:sp>
        <p:nvSpPr>
          <p:cNvPr id="4" name="Shape 2"/>
          <p:cNvSpPr/>
          <p:nvPr/>
        </p:nvSpPr>
        <p:spPr>
          <a:xfrm>
            <a:off x="7589520" y="128016"/>
            <a:ext cx="1280160" cy="310896"/>
          </a:xfrm>
          <a:prstGeom prst="roundRect">
            <a:avLst>
              <a:gd name="adj" fmla="val 17647"/>
            </a:avLst>
          </a:prstGeom>
          <a:solidFill>
            <a:srgbClr val="7C3AED"/>
          </a:solidFill>
          <a:ln w="12700">
            <a:solidFill>
              <a:srgbClr val="7C3AED"/>
            </a:solidFill>
            <a:prstDash val="solid"/>
          </a:ln>
        </p:spPr>
      </p:sp>
      <p:sp>
        <p:nvSpPr>
          <p:cNvPr id="5" name="Text 3"/>
          <p:cNvSpPr/>
          <p:nvPr/>
        </p:nvSpPr>
        <p:spPr>
          <a:xfrm>
            <a:off x="7589520" y="128016"/>
            <a:ext cx="12801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ADVANCED</a:t>
            </a:r>
            <a:endParaRPr lang="en-US" sz="1000" dirty="0"/>
          </a:p>
        </p:txBody>
      </p:sp>
      <p:sp>
        <p:nvSpPr>
          <p:cNvPr id="6" name="Text 4"/>
          <p:cNvSpPr/>
          <p:nvPr/>
        </p:nvSpPr>
        <p:spPr>
          <a:xfrm>
            <a:off x="228600" y="658368"/>
            <a:ext cx="8686800" cy="256032"/>
          </a:xfrm>
          <a:prstGeom prst="rect">
            <a:avLst/>
          </a:prstGeom>
          <a:noFill/>
          <a:ln/>
        </p:spPr>
        <p:txBody>
          <a:bodyPr wrap="square" lIns="0" tIns="0" rIns="0" bIns="0" rtlCol="0" anchor="ctr"/>
          <a:lstStyle/>
          <a:p>
            <a:pPr indent="0" marL="0">
              <a:buNone/>
            </a:pPr>
            <a:r>
              <a:rPr lang="en-US" sz="1150" i="1" dirty="0">
                <a:solidFill>
                  <a:srgbClr val="475569"/>
                </a:solidFill>
                <a:latin typeface="Calibri" pitchFamily="34" charset="0"/>
                <a:ea typeface="Calibri" pitchFamily="34" charset="-122"/>
                <a:cs typeface="Calibri" pitchFamily="34" charset="-120"/>
              </a:rPr>
              <a:t>Special __dunder__ methods that hook into Python's built-in operations</a:t>
            </a:r>
            <a:endParaRPr lang="en-US" sz="1150" dirty="0"/>
          </a:p>
        </p:txBody>
      </p:sp>
      <p:sp>
        <p:nvSpPr>
          <p:cNvPr id="7" name="Shape 5"/>
          <p:cNvSpPr/>
          <p:nvPr/>
        </p:nvSpPr>
        <p:spPr>
          <a:xfrm>
            <a:off x="201168" y="960120"/>
            <a:ext cx="4251960" cy="685800"/>
          </a:xfrm>
          <a:prstGeom prst="rect">
            <a:avLst/>
          </a:prstGeom>
          <a:solidFill>
            <a:srgbClr val="FFFBEB"/>
          </a:solidFill>
          <a:ln w="12700">
            <a:solidFill>
              <a:srgbClr val="FCD34D"/>
            </a:solidFill>
            <a:prstDash val="solid"/>
          </a:ln>
        </p:spPr>
      </p:sp>
      <p:sp>
        <p:nvSpPr>
          <p:cNvPr id="8" name="Text 6"/>
          <p:cNvSpPr/>
          <p:nvPr/>
        </p:nvSpPr>
        <p:spPr>
          <a:xfrm>
            <a:off x="310896" y="996696"/>
            <a:ext cx="4032504" cy="201168"/>
          </a:xfrm>
          <a:prstGeom prst="rect">
            <a:avLst/>
          </a:prstGeom>
          <a:noFill/>
          <a:ln/>
        </p:spPr>
        <p:txBody>
          <a:bodyPr wrap="square" lIns="0" tIns="0" rIns="0" bIns="0" rtlCol="0" anchor="ctr"/>
          <a:lstStyle/>
          <a:p>
            <a:pPr indent="0" marL="0">
              <a:buNone/>
            </a:pPr>
            <a:r>
              <a:rPr lang="en-US" sz="950" b="1" dirty="0">
                <a:solidFill>
                  <a:srgbClr val="B45309"/>
                </a:solidFill>
                <a:latin typeface="Calibri" pitchFamily="34" charset="0"/>
                <a:ea typeface="Calibri" pitchFamily="34" charset="-122"/>
                <a:cs typeface="Calibri" pitchFamily="34" charset="-120"/>
              </a:rPr>
              <a:t>Think of it like...</a:t>
            </a:r>
            <a:endParaRPr lang="en-US" sz="950" dirty="0"/>
          </a:p>
        </p:txBody>
      </p:sp>
      <p:sp>
        <p:nvSpPr>
          <p:cNvPr id="9" name="Text 7"/>
          <p:cNvSpPr/>
          <p:nvPr/>
        </p:nvSpPr>
        <p:spPr>
          <a:xfrm>
            <a:off x="310896" y="1179576"/>
            <a:ext cx="4032504" cy="420624"/>
          </a:xfrm>
          <a:prstGeom prst="rect">
            <a:avLst/>
          </a:prstGeom>
          <a:noFill/>
          <a:ln/>
        </p:spPr>
        <p:txBody>
          <a:bodyPr wrap="square" lIns="0" tIns="0" rIns="0" bIns="0" rtlCol="0" anchor="t"/>
          <a:lstStyle/>
          <a:p>
            <a:pPr indent="0" marL="0">
              <a:buNone/>
            </a:pPr>
            <a:r>
              <a:rPr lang="en-US" sz="1000" dirty="0">
                <a:solidFill>
                  <a:srgbClr val="1A2340"/>
                </a:solidFill>
                <a:latin typeface="Calibri" pitchFamily="34" charset="0"/>
                <a:ea typeface="Calibri" pitchFamily="34" charset="-122"/>
                <a:cs typeface="Calibri" pitchFamily="34" charset="-120"/>
              </a:rPr>
              <a:t>🛒  Shopping Cart — A cart that works with len(cart), 'milk' in cart, cart[0], and for item in cart naturally.</a:t>
            </a:r>
            <a:endParaRPr lang="en-US" sz="1000" dirty="0"/>
          </a:p>
        </p:txBody>
      </p:sp>
      <p:sp>
        <p:nvSpPr>
          <p:cNvPr id="10" name="Shape 8"/>
          <p:cNvSpPr/>
          <p:nvPr/>
        </p:nvSpPr>
        <p:spPr>
          <a:xfrm>
            <a:off x="201168" y="1709928"/>
            <a:ext cx="4251960" cy="713232"/>
          </a:xfrm>
          <a:prstGeom prst="rect">
            <a:avLst/>
          </a:prstGeom>
          <a:solidFill>
            <a:srgbClr val="EBF3FF"/>
          </a:solidFill>
          <a:ln w="12700">
            <a:solidFill>
              <a:srgbClr val="BFDBFE"/>
            </a:solidFill>
            <a:prstDash val="solid"/>
          </a:ln>
        </p:spPr>
      </p:sp>
      <p:sp>
        <p:nvSpPr>
          <p:cNvPr id="11" name="Text 9"/>
          <p:cNvSpPr/>
          <p:nvPr/>
        </p:nvSpPr>
        <p:spPr>
          <a:xfrm>
            <a:off x="310896" y="1746504"/>
            <a:ext cx="4032504" cy="201168"/>
          </a:xfrm>
          <a:prstGeom prst="rect">
            <a:avLst/>
          </a:prstGeom>
          <a:noFill/>
          <a:ln/>
        </p:spPr>
        <p:txBody>
          <a:bodyPr wrap="square" lIns="0" tIns="0" rIns="0" bIns="0" rtlCol="0" anchor="ctr"/>
          <a:lstStyle/>
          <a:p>
            <a:pPr indent="0" marL="0">
              <a:buNone/>
            </a:pPr>
            <a:r>
              <a:rPr lang="en-US" sz="950" b="1" dirty="0">
                <a:solidFill>
                  <a:srgbClr val="1D4ED8"/>
                </a:solidFill>
                <a:latin typeface="Calibri" pitchFamily="34" charset="0"/>
                <a:ea typeface="Calibri" pitchFamily="34" charset="-122"/>
                <a:cs typeface="Calibri" pitchFamily="34" charset="-120"/>
              </a:rPr>
              <a:t>📖  What is it?</a:t>
            </a:r>
            <a:endParaRPr lang="en-US" sz="950" dirty="0"/>
          </a:p>
        </p:txBody>
      </p:sp>
      <p:sp>
        <p:nvSpPr>
          <p:cNvPr id="12" name="Text 10"/>
          <p:cNvSpPr/>
          <p:nvPr/>
        </p:nvSpPr>
        <p:spPr>
          <a:xfrm>
            <a:off x="310896" y="1947672"/>
            <a:ext cx="4032504" cy="420624"/>
          </a:xfrm>
          <a:prstGeom prst="rect">
            <a:avLst/>
          </a:prstGeom>
          <a:noFill/>
          <a:ln/>
        </p:spPr>
        <p:txBody>
          <a:bodyPr wrap="square" lIns="0" tIns="0" rIns="0" bIns="0" rtlCol="0" anchor="t"/>
          <a:lstStyle/>
          <a:p>
            <a:pPr indent="0" marL="0">
              <a:buNone/>
            </a:pPr>
            <a:r>
              <a:rPr lang="en-US" sz="1000" dirty="0">
                <a:solidFill>
                  <a:srgbClr val="1A2340"/>
                </a:solidFill>
                <a:latin typeface="Calibri" pitchFamily="34" charset="0"/>
                <a:ea typeface="Calibri" pitchFamily="34" charset="-122"/>
                <a:cs typeface="Calibri" pitchFamily="34" charset="-120"/>
              </a:rPr>
              <a:t>Python calls __len__, __contains__, __getitem__, __iter__ automatically when you use len(), in, [], for. You never call them directly.</a:t>
            </a:r>
            <a:endParaRPr lang="en-US" sz="1000" dirty="0"/>
          </a:p>
        </p:txBody>
      </p:sp>
      <p:sp>
        <p:nvSpPr>
          <p:cNvPr id="13" name="Shape 11"/>
          <p:cNvSpPr/>
          <p:nvPr/>
        </p:nvSpPr>
        <p:spPr>
          <a:xfrm>
            <a:off x="201168" y="2487168"/>
            <a:ext cx="4251960" cy="777240"/>
          </a:xfrm>
          <a:prstGeom prst="rect">
            <a:avLst/>
          </a:prstGeom>
          <a:solidFill>
            <a:srgbClr val="F0FDF4"/>
          </a:solidFill>
          <a:ln w="12700">
            <a:solidFill>
              <a:srgbClr val="86EFAC"/>
            </a:solidFill>
            <a:prstDash val="solid"/>
          </a:ln>
        </p:spPr>
      </p:sp>
      <p:sp>
        <p:nvSpPr>
          <p:cNvPr id="14" name="Text 12"/>
          <p:cNvSpPr/>
          <p:nvPr/>
        </p:nvSpPr>
        <p:spPr>
          <a:xfrm>
            <a:off x="310896" y="2523744"/>
            <a:ext cx="4032504" cy="201168"/>
          </a:xfrm>
          <a:prstGeom prst="rect">
            <a:avLst/>
          </a:prstGeom>
          <a:noFill/>
          <a:ln/>
        </p:spPr>
        <p:txBody>
          <a:bodyPr wrap="square" lIns="0" tIns="0" rIns="0" bIns="0" rtlCol="0" anchor="ctr"/>
          <a:lstStyle/>
          <a:p>
            <a:pPr indent="0" marL="0">
              <a:buNone/>
            </a:pPr>
            <a:r>
              <a:rPr lang="en-US" sz="950" b="1" dirty="0">
                <a:solidFill>
                  <a:srgbClr val="15803D"/>
                </a:solidFill>
                <a:latin typeface="Calibri" pitchFamily="34" charset="0"/>
                <a:ea typeface="Calibri" pitchFamily="34" charset="-122"/>
                <a:cs typeface="Calibri" pitchFamily="34" charset="-120"/>
              </a:rPr>
              <a:t>🏢  Real World Examples</a:t>
            </a:r>
            <a:endParaRPr lang="en-US" sz="950" dirty="0"/>
          </a:p>
        </p:txBody>
      </p:sp>
      <p:sp>
        <p:nvSpPr>
          <p:cNvPr id="15" name="Text 13"/>
          <p:cNvSpPr/>
          <p:nvPr/>
        </p:nvSpPr>
        <p:spPr>
          <a:xfrm>
            <a:off x="310896" y="2724912"/>
            <a:ext cx="4032504" cy="502920"/>
          </a:xfrm>
          <a:prstGeom prst="rect">
            <a:avLst/>
          </a:prstGeom>
          <a:noFill/>
          <a:ln/>
        </p:spPr>
        <p:txBody>
          <a:bodyPr wrap="square" lIns="0" tIns="0" rIns="0" bIns="0" rtlCol="0" anchor="t"/>
          <a:lstStyle/>
          <a:p>
            <a:pPr indent="0" marL="0">
              <a:buNone/>
            </a:pPr>
            <a:r>
              <a:rPr lang="en-US" sz="950" dirty="0">
                <a:solidFill>
                  <a:srgbClr val="1A2340"/>
                </a:solidFill>
                <a:latin typeface="Calibri" pitchFamily="34" charset="0"/>
                <a:ea typeface="Calibri" pitchFamily="34" charset="-122"/>
                <a:cs typeface="Calibri" pitchFamily="34" charset="-120"/>
              </a:rPr>
              <a:t>Django QuerySet supports len(), iteration, and slicing via dunders.</a:t>
            </a:r>
            <a:endParaRPr lang="en-US" sz="950" dirty="0"/>
          </a:p>
          <a:p>
            <a:pPr indent="0" marL="0">
              <a:buNone/>
            </a:pPr>
            <a:r>
              <a:rPr lang="en-US" sz="950" dirty="0">
                <a:solidFill>
                  <a:srgbClr val="1A2340"/>
                </a:solidFill>
                <a:latin typeface="Calibri" pitchFamily="34" charset="0"/>
                <a:ea typeface="Calibri" pitchFamily="34" charset="-122"/>
                <a:cs typeface="Calibri" pitchFamily="34" charset="-120"/>
              </a:rPr>
              <a:t>Pandas DataFrame supports +, -, ==, len() all via magic methods.</a:t>
            </a:r>
            <a:endParaRPr lang="en-US" sz="950" dirty="0"/>
          </a:p>
        </p:txBody>
      </p:sp>
      <p:sp>
        <p:nvSpPr>
          <p:cNvPr id="16" name="Shape 14"/>
          <p:cNvSpPr/>
          <p:nvPr/>
        </p:nvSpPr>
        <p:spPr>
          <a:xfrm>
            <a:off x="4617720" y="960120"/>
            <a:ext cx="4315968" cy="3182112"/>
          </a:xfrm>
          <a:prstGeom prst="rect">
            <a:avLst/>
          </a:prstGeom>
          <a:solidFill>
            <a:srgbClr val="141E2C"/>
          </a:solidFill>
          <a:ln w="12700">
            <a:solidFill>
              <a:srgbClr val="2D3F55"/>
            </a:solidFill>
            <a:prstDash val="solid"/>
          </a:ln>
        </p:spPr>
      </p:sp>
      <p:sp>
        <p:nvSpPr>
          <p:cNvPr id="17" name="Text 15"/>
          <p:cNvSpPr/>
          <p:nvPr/>
        </p:nvSpPr>
        <p:spPr>
          <a:xfrm>
            <a:off x="4727448" y="1069848"/>
            <a:ext cx="4096512" cy="2999232"/>
          </a:xfrm>
          <a:prstGeom prst="rect">
            <a:avLst/>
          </a:prstGeom>
          <a:noFill/>
          <a:ln/>
        </p:spPr>
        <p:txBody>
          <a:bodyPr wrap="square" lIns="0" tIns="0" rIns="0" bIns="0" rtlCol="0" anchor="t"/>
          <a:lstStyle/>
          <a:p>
            <a:pPr indent="0" marL="0">
              <a:buNone/>
            </a:pPr>
            <a:r>
              <a:rPr lang="en-US" sz="950" dirty="0">
                <a:solidFill>
                  <a:srgbClr val="6B7280"/>
                </a:solidFill>
                <a:latin typeface="Consolas" pitchFamily="34" charset="0"/>
                <a:ea typeface="Consolas" pitchFamily="34" charset="-122"/>
                <a:cs typeface="Consolas" pitchFamily="34" charset="-120"/>
              </a:rPr>
              <a:t># Python</a:t>
            </a:r>
            <a:endParaRPr lang="en-US" sz="950" dirty="0"/>
          </a:p>
          <a:p>
            <a:pPr indent="0" marL="0">
              <a:buNone/>
            </a:pPr>
            <a:r>
              <a:rPr lang="en-US" sz="950" dirty="0">
                <a:solidFill>
                  <a:srgbClr val="FCD34D"/>
                </a:solidFill>
                <a:latin typeface="Consolas" pitchFamily="34" charset="0"/>
                <a:ea typeface="Consolas" pitchFamily="34" charset="-122"/>
                <a:cs typeface="Consolas" pitchFamily="34" charset="-120"/>
              </a:rPr>
              <a:t>class TaskList:</a:t>
            </a:r>
            <a:endParaRPr lang="en-US" sz="950" dirty="0"/>
          </a:p>
          <a:p>
            <a:pPr indent="0" marL="0">
              <a:buNone/>
            </a:pPr>
            <a:r>
              <a:rPr lang="en-US" sz="950" dirty="0">
                <a:solidFill>
                  <a:srgbClr val="F9A8D4"/>
                </a:solidFill>
                <a:latin typeface="Consolas" pitchFamily="34" charset="0"/>
                <a:ea typeface="Consolas" pitchFamily="34" charset="-122"/>
                <a:cs typeface="Consolas" pitchFamily="34" charset="-120"/>
              </a:rPr>
              <a:t>    def __init__(self): self._t=[]</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def add(self,t): self._t.append(t)</a:t>
            </a:r>
            <a:endParaRPr lang="en-US" sz="950" dirty="0"/>
          </a:p>
          <a:p>
            <a:pPr indent="0" marL="0">
              <a:buNone/>
            </a:pPr>
            <a:r>
              <a:rPr lang="en-US" sz="950" dirty="0">
                <a:solidFill>
                  <a:srgbClr val="F9A8D4"/>
                </a:solidFill>
                <a:latin typeface="Consolas" pitchFamily="34" charset="0"/>
                <a:ea typeface="Consolas" pitchFamily="34" charset="-122"/>
                <a:cs typeface="Consolas" pitchFamily="34" charset="-120"/>
              </a:rPr>
              <a:t>    def __len__(self): return len(self._t)</a:t>
            </a:r>
            <a:endParaRPr lang="en-US" sz="950" dirty="0"/>
          </a:p>
          <a:p>
            <a:pPr indent="0" marL="0">
              <a:buNone/>
            </a:pPr>
            <a:r>
              <a:rPr lang="en-US" sz="950" dirty="0">
                <a:solidFill>
                  <a:srgbClr val="F9A8D4"/>
                </a:solidFill>
                <a:latin typeface="Consolas" pitchFamily="34" charset="0"/>
                <a:ea typeface="Consolas" pitchFamily="34" charset="-122"/>
                <a:cs typeface="Consolas" pitchFamily="34" charset="-120"/>
              </a:rPr>
              <a:t>    def __contains__(self,t): return t in self._t</a:t>
            </a:r>
            <a:endParaRPr lang="en-US" sz="950" dirty="0"/>
          </a:p>
          <a:p>
            <a:pPr indent="0" marL="0">
              <a:buNone/>
            </a:pPr>
            <a:r>
              <a:rPr lang="en-US" sz="950" dirty="0">
                <a:solidFill>
                  <a:srgbClr val="F9A8D4"/>
                </a:solidFill>
                <a:latin typeface="Consolas" pitchFamily="34" charset="0"/>
                <a:ea typeface="Consolas" pitchFamily="34" charset="-122"/>
                <a:cs typeface="Consolas" pitchFamily="34" charset="-120"/>
              </a:rPr>
              <a:t>    def __iter__(self): return iter(self._t)</a:t>
            </a:r>
            <a:endParaRPr lang="en-US" sz="950" dirty="0"/>
          </a:p>
          <a:p>
            <a:pPr indent="0" marL="0">
              <a:buNone/>
            </a:pP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tasks = TaskList(); tasks.add('Search web')</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len(tasks)  # 1     'Search web' in tasks  # True</a:t>
            </a:r>
            <a:endParaRPr lang="en-US" sz="950" dirty="0"/>
          </a:p>
        </p:txBody>
      </p:sp>
      <p:sp>
        <p:nvSpPr>
          <p:cNvPr id="18" name="Text 16"/>
          <p:cNvSpPr/>
          <p:nvPr/>
        </p:nvSpPr>
        <p:spPr>
          <a:xfrm>
            <a:off x="5120640" y="4846320"/>
            <a:ext cx="3840480" cy="201168"/>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Ruthran Raghavan, Chief AI Scientist</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B3A6B"/>
          </a:solidFill>
          <a:ln w="12700">
            <a:solidFill>
              <a:srgbClr val="1B3A6B"/>
            </a:solidFill>
            <a:prstDash val="solid"/>
          </a:ln>
        </p:spPr>
      </p:sp>
      <p:sp>
        <p:nvSpPr>
          <p:cNvPr id="3" name="Text 1"/>
          <p:cNvSpPr/>
          <p:nvPr/>
        </p:nvSpPr>
        <p:spPr>
          <a:xfrm>
            <a:off x="274320" y="0"/>
            <a:ext cx="7132320" cy="56692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Concept 6  —  Properties</a:t>
            </a:r>
            <a:endParaRPr lang="en-US" sz="1700" dirty="0"/>
          </a:p>
        </p:txBody>
      </p:sp>
      <p:sp>
        <p:nvSpPr>
          <p:cNvPr id="4" name="Shape 2"/>
          <p:cNvSpPr/>
          <p:nvPr/>
        </p:nvSpPr>
        <p:spPr>
          <a:xfrm>
            <a:off x="7589520" y="128016"/>
            <a:ext cx="1280160" cy="310896"/>
          </a:xfrm>
          <a:prstGeom prst="roundRect">
            <a:avLst>
              <a:gd name="adj" fmla="val 17647"/>
            </a:avLst>
          </a:prstGeom>
          <a:solidFill>
            <a:srgbClr val="7C3AED"/>
          </a:solidFill>
          <a:ln w="12700">
            <a:solidFill>
              <a:srgbClr val="7C3AED"/>
            </a:solidFill>
            <a:prstDash val="solid"/>
          </a:ln>
        </p:spPr>
      </p:sp>
      <p:sp>
        <p:nvSpPr>
          <p:cNvPr id="5" name="Text 3"/>
          <p:cNvSpPr/>
          <p:nvPr/>
        </p:nvSpPr>
        <p:spPr>
          <a:xfrm>
            <a:off x="7589520" y="128016"/>
            <a:ext cx="12801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ADVANCED</a:t>
            </a:r>
            <a:endParaRPr lang="en-US" sz="1000" dirty="0"/>
          </a:p>
        </p:txBody>
      </p:sp>
      <p:sp>
        <p:nvSpPr>
          <p:cNvPr id="6" name="Text 4"/>
          <p:cNvSpPr/>
          <p:nvPr/>
        </p:nvSpPr>
        <p:spPr>
          <a:xfrm>
            <a:off x="228600" y="658368"/>
            <a:ext cx="8686800" cy="256032"/>
          </a:xfrm>
          <a:prstGeom prst="rect">
            <a:avLst/>
          </a:prstGeom>
          <a:noFill/>
          <a:ln/>
        </p:spPr>
        <p:txBody>
          <a:bodyPr wrap="square" lIns="0" tIns="0" rIns="0" bIns="0" rtlCol="0" anchor="ctr"/>
          <a:lstStyle/>
          <a:p>
            <a:pPr indent="0" marL="0">
              <a:buNone/>
            </a:pPr>
            <a:r>
              <a:rPr lang="en-US" sz="1150" i="1" dirty="0">
                <a:solidFill>
                  <a:srgbClr val="475569"/>
                </a:solidFill>
                <a:latin typeface="Calibri" pitchFamily="34" charset="0"/>
                <a:ea typeface="Calibri" pitchFamily="34" charset="-122"/>
                <a:cs typeface="Calibri" pitchFamily="34" charset="-120"/>
              </a:rPr>
              <a:t>Turn a method into an attribute. Add a setter to validate before saving.</a:t>
            </a:r>
            <a:endParaRPr lang="en-US" sz="1150" dirty="0"/>
          </a:p>
        </p:txBody>
      </p:sp>
      <p:sp>
        <p:nvSpPr>
          <p:cNvPr id="7" name="Shape 5"/>
          <p:cNvSpPr/>
          <p:nvPr/>
        </p:nvSpPr>
        <p:spPr>
          <a:xfrm>
            <a:off x="201168" y="960120"/>
            <a:ext cx="4251960" cy="685800"/>
          </a:xfrm>
          <a:prstGeom prst="rect">
            <a:avLst/>
          </a:prstGeom>
          <a:solidFill>
            <a:srgbClr val="FFFBEB"/>
          </a:solidFill>
          <a:ln w="12700">
            <a:solidFill>
              <a:srgbClr val="FCD34D"/>
            </a:solidFill>
            <a:prstDash val="solid"/>
          </a:ln>
        </p:spPr>
      </p:sp>
      <p:sp>
        <p:nvSpPr>
          <p:cNvPr id="8" name="Text 6"/>
          <p:cNvSpPr/>
          <p:nvPr/>
        </p:nvSpPr>
        <p:spPr>
          <a:xfrm>
            <a:off x="310896" y="996696"/>
            <a:ext cx="4032504" cy="201168"/>
          </a:xfrm>
          <a:prstGeom prst="rect">
            <a:avLst/>
          </a:prstGeom>
          <a:noFill/>
          <a:ln/>
        </p:spPr>
        <p:txBody>
          <a:bodyPr wrap="square" lIns="0" tIns="0" rIns="0" bIns="0" rtlCol="0" anchor="ctr"/>
          <a:lstStyle/>
          <a:p>
            <a:pPr indent="0" marL="0">
              <a:buNone/>
            </a:pPr>
            <a:r>
              <a:rPr lang="en-US" sz="950" b="1" dirty="0">
                <a:solidFill>
                  <a:srgbClr val="B45309"/>
                </a:solidFill>
                <a:latin typeface="Calibri" pitchFamily="34" charset="0"/>
                <a:ea typeface="Calibri" pitchFamily="34" charset="-122"/>
                <a:cs typeface="Calibri" pitchFamily="34" charset="-120"/>
              </a:rPr>
              <a:t>Think of it like...</a:t>
            </a:r>
            <a:endParaRPr lang="en-US" sz="950" dirty="0"/>
          </a:p>
        </p:txBody>
      </p:sp>
      <p:sp>
        <p:nvSpPr>
          <p:cNvPr id="9" name="Text 7"/>
          <p:cNvSpPr/>
          <p:nvPr/>
        </p:nvSpPr>
        <p:spPr>
          <a:xfrm>
            <a:off x="310896" y="1179576"/>
            <a:ext cx="4032504" cy="420624"/>
          </a:xfrm>
          <a:prstGeom prst="rect">
            <a:avLst/>
          </a:prstGeom>
          <a:noFill/>
          <a:ln/>
        </p:spPr>
        <p:txBody>
          <a:bodyPr wrap="square" lIns="0" tIns="0" rIns="0" bIns="0" rtlCol="0" anchor="t"/>
          <a:lstStyle/>
          <a:p>
            <a:pPr indent="0" marL="0">
              <a:buNone/>
            </a:pPr>
            <a:r>
              <a:rPr lang="en-US" sz="1000" dirty="0">
                <a:solidFill>
                  <a:srgbClr val="1A2340"/>
                </a:solidFill>
                <a:latin typeface="Calibri" pitchFamily="34" charset="0"/>
                <a:ea typeface="Calibri" pitchFamily="34" charset="-122"/>
                <a:cs typeface="Calibri" pitchFamily="34" charset="-120"/>
              </a:rPr>
              <a:t>🌡️  Thermometer — Reads current temperature as a simple attribute. Won't let you set -999°C.</a:t>
            </a:r>
            <a:endParaRPr lang="en-US" sz="1000" dirty="0"/>
          </a:p>
        </p:txBody>
      </p:sp>
      <p:sp>
        <p:nvSpPr>
          <p:cNvPr id="10" name="Shape 8"/>
          <p:cNvSpPr/>
          <p:nvPr/>
        </p:nvSpPr>
        <p:spPr>
          <a:xfrm>
            <a:off x="201168" y="1709928"/>
            <a:ext cx="4251960" cy="713232"/>
          </a:xfrm>
          <a:prstGeom prst="rect">
            <a:avLst/>
          </a:prstGeom>
          <a:solidFill>
            <a:srgbClr val="EBF3FF"/>
          </a:solidFill>
          <a:ln w="12700">
            <a:solidFill>
              <a:srgbClr val="BFDBFE"/>
            </a:solidFill>
            <a:prstDash val="solid"/>
          </a:ln>
        </p:spPr>
      </p:sp>
      <p:sp>
        <p:nvSpPr>
          <p:cNvPr id="11" name="Text 9"/>
          <p:cNvSpPr/>
          <p:nvPr/>
        </p:nvSpPr>
        <p:spPr>
          <a:xfrm>
            <a:off x="310896" y="1746504"/>
            <a:ext cx="4032504" cy="201168"/>
          </a:xfrm>
          <a:prstGeom prst="rect">
            <a:avLst/>
          </a:prstGeom>
          <a:noFill/>
          <a:ln/>
        </p:spPr>
        <p:txBody>
          <a:bodyPr wrap="square" lIns="0" tIns="0" rIns="0" bIns="0" rtlCol="0" anchor="ctr"/>
          <a:lstStyle/>
          <a:p>
            <a:pPr indent="0" marL="0">
              <a:buNone/>
            </a:pPr>
            <a:r>
              <a:rPr lang="en-US" sz="950" b="1" dirty="0">
                <a:solidFill>
                  <a:srgbClr val="1D4ED8"/>
                </a:solidFill>
                <a:latin typeface="Calibri" pitchFamily="34" charset="0"/>
                <a:ea typeface="Calibri" pitchFamily="34" charset="-122"/>
                <a:cs typeface="Calibri" pitchFamily="34" charset="-120"/>
              </a:rPr>
              <a:t>📖  What is it?</a:t>
            </a:r>
            <a:endParaRPr lang="en-US" sz="950" dirty="0"/>
          </a:p>
        </p:txBody>
      </p:sp>
      <p:sp>
        <p:nvSpPr>
          <p:cNvPr id="12" name="Text 10"/>
          <p:cNvSpPr/>
          <p:nvPr/>
        </p:nvSpPr>
        <p:spPr>
          <a:xfrm>
            <a:off x="310896" y="1947672"/>
            <a:ext cx="4032504" cy="420624"/>
          </a:xfrm>
          <a:prstGeom prst="rect">
            <a:avLst/>
          </a:prstGeom>
          <a:noFill/>
          <a:ln/>
        </p:spPr>
        <p:txBody>
          <a:bodyPr wrap="square" lIns="0" tIns="0" rIns="0" bIns="0" rtlCol="0" anchor="t"/>
          <a:lstStyle/>
          <a:p>
            <a:pPr indent="0" marL="0">
              <a:buNone/>
            </a:pPr>
            <a:r>
              <a:rPr lang="en-US" sz="1000" dirty="0">
                <a:solidFill>
                  <a:srgbClr val="1A2340"/>
                </a:solidFill>
                <a:latin typeface="Calibri" pitchFamily="34" charset="0"/>
                <a:ea typeface="Calibri" pitchFamily="34" charset="-122"/>
                <a:cs typeface="Calibri" pitchFamily="34" charset="-120"/>
              </a:rPr>
              <a:t>@property lets you read a value like an attribute (no parentheses). @setter runs validation before storing. Omit setter = read-only.</a:t>
            </a:r>
            <a:endParaRPr lang="en-US" sz="1000" dirty="0"/>
          </a:p>
        </p:txBody>
      </p:sp>
      <p:sp>
        <p:nvSpPr>
          <p:cNvPr id="13" name="Shape 11"/>
          <p:cNvSpPr/>
          <p:nvPr/>
        </p:nvSpPr>
        <p:spPr>
          <a:xfrm>
            <a:off x="201168" y="2487168"/>
            <a:ext cx="4251960" cy="777240"/>
          </a:xfrm>
          <a:prstGeom prst="rect">
            <a:avLst/>
          </a:prstGeom>
          <a:solidFill>
            <a:srgbClr val="F0FDF4"/>
          </a:solidFill>
          <a:ln w="12700">
            <a:solidFill>
              <a:srgbClr val="86EFAC"/>
            </a:solidFill>
            <a:prstDash val="solid"/>
          </a:ln>
        </p:spPr>
      </p:sp>
      <p:sp>
        <p:nvSpPr>
          <p:cNvPr id="14" name="Text 12"/>
          <p:cNvSpPr/>
          <p:nvPr/>
        </p:nvSpPr>
        <p:spPr>
          <a:xfrm>
            <a:off x="310896" y="2523744"/>
            <a:ext cx="4032504" cy="201168"/>
          </a:xfrm>
          <a:prstGeom prst="rect">
            <a:avLst/>
          </a:prstGeom>
          <a:noFill/>
          <a:ln/>
        </p:spPr>
        <p:txBody>
          <a:bodyPr wrap="square" lIns="0" tIns="0" rIns="0" bIns="0" rtlCol="0" anchor="ctr"/>
          <a:lstStyle/>
          <a:p>
            <a:pPr indent="0" marL="0">
              <a:buNone/>
            </a:pPr>
            <a:r>
              <a:rPr lang="en-US" sz="950" b="1" dirty="0">
                <a:solidFill>
                  <a:srgbClr val="15803D"/>
                </a:solidFill>
                <a:latin typeface="Calibri" pitchFamily="34" charset="0"/>
                <a:ea typeface="Calibri" pitchFamily="34" charset="-122"/>
                <a:cs typeface="Calibri" pitchFamily="34" charset="-120"/>
              </a:rPr>
              <a:t>🏢  Real World Examples</a:t>
            </a:r>
            <a:endParaRPr lang="en-US" sz="950" dirty="0"/>
          </a:p>
        </p:txBody>
      </p:sp>
      <p:sp>
        <p:nvSpPr>
          <p:cNvPr id="15" name="Text 13"/>
          <p:cNvSpPr/>
          <p:nvPr/>
        </p:nvSpPr>
        <p:spPr>
          <a:xfrm>
            <a:off x="310896" y="2724912"/>
            <a:ext cx="4032504" cy="502920"/>
          </a:xfrm>
          <a:prstGeom prst="rect">
            <a:avLst/>
          </a:prstGeom>
          <a:noFill/>
          <a:ln/>
        </p:spPr>
        <p:txBody>
          <a:bodyPr wrap="square" lIns="0" tIns="0" rIns="0" bIns="0" rtlCol="0" anchor="t"/>
          <a:lstStyle/>
          <a:p>
            <a:pPr indent="0" marL="0">
              <a:buNone/>
            </a:pPr>
            <a:r>
              <a:rPr lang="en-US" sz="950" dirty="0">
                <a:solidFill>
                  <a:srgbClr val="1A2340"/>
                </a:solidFill>
                <a:latin typeface="Calibri" pitchFamily="34" charset="0"/>
                <a:ea typeface="Calibri" pitchFamily="34" charset="-122"/>
                <a:cs typeface="Calibri" pitchFamily="34" charset="-120"/>
              </a:rPr>
              <a:t>Flipkart product price is a @property: computed from base_price + taxes automatically.</a:t>
            </a:r>
            <a:endParaRPr lang="en-US" sz="950" dirty="0"/>
          </a:p>
          <a:p>
            <a:pPr indent="0" marL="0">
              <a:buNone/>
            </a:pPr>
            <a:r>
              <a:rPr lang="en-US" sz="950" dirty="0">
                <a:solidFill>
                  <a:srgbClr val="1A2340"/>
                </a:solidFill>
                <a:latin typeface="Calibri" pitchFamily="34" charset="0"/>
                <a:ea typeface="Calibri" pitchFamily="34" charset="-122"/>
                <a:cs typeface="Calibri" pitchFamily="34" charset="-120"/>
              </a:rPr>
              <a:t>Zomato delivery ETA is @property: recalculated whenever order status changes.</a:t>
            </a:r>
            <a:endParaRPr lang="en-US" sz="950" dirty="0"/>
          </a:p>
        </p:txBody>
      </p:sp>
      <p:sp>
        <p:nvSpPr>
          <p:cNvPr id="16" name="Shape 14"/>
          <p:cNvSpPr/>
          <p:nvPr/>
        </p:nvSpPr>
        <p:spPr>
          <a:xfrm>
            <a:off x="4617720" y="960120"/>
            <a:ext cx="4315968" cy="3182112"/>
          </a:xfrm>
          <a:prstGeom prst="rect">
            <a:avLst/>
          </a:prstGeom>
          <a:solidFill>
            <a:srgbClr val="141E2C"/>
          </a:solidFill>
          <a:ln w="12700">
            <a:solidFill>
              <a:srgbClr val="2D3F55"/>
            </a:solidFill>
            <a:prstDash val="solid"/>
          </a:ln>
        </p:spPr>
      </p:sp>
      <p:sp>
        <p:nvSpPr>
          <p:cNvPr id="17" name="Text 15"/>
          <p:cNvSpPr/>
          <p:nvPr/>
        </p:nvSpPr>
        <p:spPr>
          <a:xfrm>
            <a:off x="4727448" y="1069848"/>
            <a:ext cx="4096512" cy="2999232"/>
          </a:xfrm>
          <a:prstGeom prst="rect">
            <a:avLst/>
          </a:prstGeom>
          <a:noFill/>
          <a:ln/>
        </p:spPr>
        <p:txBody>
          <a:bodyPr wrap="square" lIns="0" tIns="0" rIns="0" bIns="0" rtlCol="0" anchor="t"/>
          <a:lstStyle/>
          <a:p>
            <a:pPr indent="0" marL="0">
              <a:buNone/>
            </a:pPr>
            <a:r>
              <a:rPr lang="en-US" sz="950" dirty="0">
                <a:solidFill>
                  <a:srgbClr val="6B7280"/>
                </a:solidFill>
                <a:latin typeface="Consolas" pitchFamily="34" charset="0"/>
                <a:ea typeface="Consolas" pitchFamily="34" charset="-122"/>
                <a:cs typeface="Consolas" pitchFamily="34" charset="-120"/>
              </a:rPr>
              <a:t># Python</a:t>
            </a:r>
            <a:endParaRPr lang="en-US" sz="950" dirty="0"/>
          </a:p>
          <a:p>
            <a:pPr indent="0" marL="0">
              <a:buNone/>
            </a:pPr>
            <a:r>
              <a:rPr lang="en-US" sz="950" dirty="0">
                <a:solidFill>
                  <a:srgbClr val="FCD34D"/>
                </a:solidFill>
                <a:latin typeface="Consolas" pitchFamily="34" charset="0"/>
                <a:ea typeface="Consolas" pitchFamily="34" charset="-122"/>
                <a:cs typeface="Consolas" pitchFamily="34" charset="-120"/>
              </a:rPr>
              <a:t>class AIScore:</a:t>
            </a:r>
            <a:endParaRPr lang="en-US" sz="950" dirty="0"/>
          </a:p>
          <a:p>
            <a:pPr indent="0" marL="0">
              <a:buNone/>
            </a:pPr>
            <a:r>
              <a:rPr lang="en-US" sz="950" dirty="0">
                <a:solidFill>
                  <a:srgbClr val="F9A8D4"/>
                </a:solidFill>
                <a:latin typeface="Consolas" pitchFamily="34" charset="0"/>
                <a:ea typeface="Consolas" pitchFamily="34" charset="-122"/>
                <a:cs typeface="Consolas" pitchFamily="34" charset="-120"/>
              </a:rPr>
              <a:t>    def __init__(self): self._pts = 0</a:t>
            </a:r>
            <a:endParaRPr lang="en-US" sz="950" dirty="0"/>
          </a:p>
          <a:p>
            <a:pPr indent="0" marL="0">
              <a:buNone/>
            </a:pPr>
            <a:r>
              <a:rPr lang="en-US" sz="950" dirty="0">
                <a:solidFill>
                  <a:srgbClr val="FCD34D"/>
                </a:solidFill>
                <a:latin typeface="Consolas" pitchFamily="34" charset="0"/>
                <a:ea typeface="Consolas" pitchFamily="34" charset="-122"/>
                <a:cs typeface="Consolas" pitchFamily="34" charset="-120"/>
              </a:rPr>
              <a:t>    @property</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def points(self): return self._pts</a:t>
            </a:r>
            <a:endParaRPr lang="en-US" sz="950" dirty="0"/>
          </a:p>
          <a:p>
            <a:pPr indent="0" marL="0">
              <a:buNone/>
            </a:pPr>
            <a:r>
              <a:rPr lang="en-US" sz="950" dirty="0">
                <a:solidFill>
                  <a:srgbClr val="FCD34D"/>
                </a:solidFill>
                <a:latin typeface="Consolas" pitchFamily="34" charset="0"/>
                <a:ea typeface="Consolas" pitchFamily="34" charset="-122"/>
                <a:cs typeface="Consolas" pitchFamily="34" charset="-120"/>
              </a:rPr>
              <a:t>    @points.setter</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def points(self, v):</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if v&lt;0 or v&gt;100: raise ValueError('0–100 only')</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self._pts = v</a:t>
            </a:r>
            <a:endParaRPr lang="en-US" sz="950" dirty="0"/>
          </a:p>
          <a:p>
            <a:pPr indent="0" marL="0">
              <a:buNone/>
            </a:pPr>
            <a:r>
              <a:rPr lang="en-US" sz="950" dirty="0">
                <a:solidFill>
                  <a:srgbClr val="FCD34D"/>
                </a:solidFill>
                <a:latin typeface="Consolas" pitchFamily="34" charset="0"/>
                <a:ea typeface="Consolas" pitchFamily="34" charset="-122"/>
                <a:cs typeface="Consolas" pitchFamily="34" charset="-120"/>
              </a:rPr>
              <a:t>    @property</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def grade(self): return 'A' if self._pts&gt;=90 else 'B'</a:t>
            </a:r>
            <a:endParaRPr lang="en-US" sz="950" dirty="0"/>
          </a:p>
        </p:txBody>
      </p:sp>
      <p:sp>
        <p:nvSpPr>
          <p:cNvPr id="18" name="Text 16"/>
          <p:cNvSpPr/>
          <p:nvPr/>
        </p:nvSpPr>
        <p:spPr>
          <a:xfrm>
            <a:off x="5120640" y="4846320"/>
            <a:ext cx="3840480" cy="201168"/>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Ruthran Raghavan, Chief AI Scientist</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B3A6B"/>
          </a:solidFill>
          <a:ln w="12700">
            <a:solidFill>
              <a:srgbClr val="1B3A6B"/>
            </a:solidFill>
            <a:prstDash val="solid"/>
          </a:ln>
        </p:spPr>
      </p:sp>
      <p:sp>
        <p:nvSpPr>
          <p:cNvPr id="3" name="Text 1"/>
          <p:cNvSpPr/>
          <p:nvPr/>
        </p:nvSpPr>
        <p:spPr>
          <a:xfrm>
            <a:off x="274320" y="0"/>
            <a:ext cx="7132320" cy="56692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Concept 7  —  Metaclasses</a:t>
            </a:r>
            <a:endParaRPr lang="en-US" sz="1700" dirty="0"/>
          </a:p>
        </p:txBody>
      </p:sp>
      <p:sp>
        <p:nvSpPr>
          <p:cNvPr id="4" name="Shape 2"/>
          <p:cNvSpPr/>
          <p:nvPr/>
        </p:nvSpPr>
        <p:spPr>
          <a:xfrm>
            <a:off x="7589520" y="128016"/>
            <a:ext cx="1280160" cy="310896"/>
          </a:xfrm>
          <a:prstGeom prst="roundRect">
            <a:avLst>
              <a:gd name="adj" fmla="val 17647"/>
            </a:avLst>
          </a:prstGeom>
          <a:solidFill>
            <a:srgbClr val="7C3AED"/>
          </a:solidFill>
          <a:ln w="12700">
            <a:solidFill>
              <a:srgbClr val="7C3AED"/>
            </a:solidFill>
            <a:prstDash val="solid"/>
          </a:ln>
        </p:spPr>
      </p:sp>
      <p:sp>
        <p:nvSpPr>
          <p:cNvPr id="5" name="Text 3"/>
          <p:cNvSpPr/>
          <p:nvPr/>
        </p:nvSpPr>
        <p:spPr>
          <a:xfrm>
            <a:off x="7589520" y="128016"/>
            <a:ext cx="12801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ADVANCED</a:t>
            </a:r>
            <a:endParaRPr lang="en-US" sz="1000" dirty="0"/>
          </a:p>
        </p:txBody>
      </p:sp>
      <p:sp>
        <p:nvSpPr>
          <p:cNvPr id="6" name="Text 4"/>
          <p:cNvSpPr/>
          <p:nvPr/>
        </p:nvSpPr>
        <p:spPr>
          <a:xfrm>
            <a:off x="228600" y="658368"/>
            <a:ext cx="8686800" cy="256032"/>
          </a:xfrm>
          <a:prstGeom prst="rect">
            <a:avLst/>
          </a:prstGeom>
          <a:noFill/>
          <a:ln/>
        </p:spPr>
        <p:txBody>
          <a:bodyPr wrap="square" lIns="0" tIns="0" rIns="0" bIns="0" rtlCol="0" anchor="ctr"/>
          <a:lstStyle/>
          <a:p>
            <a:pPr indent="0" marL="0">
              <a:buNone/>
            </a:pPr>
            <a:r>
              <a:rPr lang="en-US" sz="1150" i="1" dirty="0">
                <a:solidFill>
                  <a:srgbClr val="475569"/>
                </a:solidFill>
                <a:latin typeface="Calibri" pitchFamily="34" charset="0"/>
                <a:ea typeface="Calibri" pitchFamily="34" charset="-122"/>
                <a:cs typeface="Calibri" pitchFamily="34" charset="-120"/>
              </a:rPr>
              <a:t>A 'class that creates classes' — runs code when a class is defined</a:t>
            </a:r>
            <a:endParaRPr lang="en-US" sz="1150" dirty="0"/>
          </a:p>
        </p:txBody>
      </p:sp>
      <p:sp>
        <p:nvSpPr>
          <p:cNvPr id="7" name="Shape 5"/>
          <p:cNvSpPr/>
          <p:nvPr/>
        </p:nvSpPr>
        <p:spPr>
          <a:xfrm>
            <a:off x="201168" y="960120"/>
            <a:ext cx="4251960" cy="685800"/>
          </a:xfrm>
          <a:prstGeom prst="rect">
            <a:avLst/>
          </a:prstGeom>
          <a:solidFill>
            <a:srgbClr val="FFFBEB"/>
          </a:solidFill>
          <a:ln w="12700">
            <a:solidFill>
              <a:srgbClr val="FCD34D"/>
            </a:solidFill>
            <a:prstDash val="solid"/>
          </a:ln>
        </p:spPr>
      </p:sp>
      <p:sp>
        <p:nvSpPr>
          <p:cNvPr id="8" name="Text 6"/>
          <p:cNvSpPr/>
          <p:nvPr/>
        </p:nvSpPr>
        <p:spPr>
          <a:xfrm>
            <a:off x="310896" y="996696"/>
            <a:ext cx="4032504" cy="201168"/>
          </a:xfrm>
          <a:prstGeom prst="rect">
            <a:avLst/>
          </a:prstGeom>
          <a:noFill/>
          <a:ln/>
        </p:spPr>
        <p:txBody>
          <a:bodyPr wrap="square" lIns="0" tIns="0" rIns="0" bIns="0" rtlCol="0" anchor="ctr"/>
          <a:lstStyle/>
          <a:p>
            <a:pPr indent="0" marL="0">
              <a:buNone/>
            </a:pPr>
            <a:r>
              <a:rPr lang="en-US" sz="950" b="1" dirty="0">
                <a:solidFill>
                  <a:srgbClr val="B45309"/>
                </a:solidFill>
                <a:latin typeface="Calibri" pitchFamily="34" charset="0"/>
                <a:ea typeface="Calibri" pitchFamily="34" charset="-122"/>
                <a:cs typeface="Calibri" pitchFamily="34" charset="-120"/>
              </a:rPr>
              <a:t>Think of it like...</a:t>
            </a:r>
            <a:endParaRPr lang="en-US" sz="950" dirty="0"/>
          </a:p>
        </p:txBody>
      </p:sp>
      <p:sp>
        <p:nvSpPr>
          <p:cNvPr id="9" name="Text 7"/>
          <p:cNvSpPr/>
          <p:nvPr/>
        </p:nvSpPr>
        <p:spPr>
          <a:xfrm>
            <a:off x="310896" y="1179576"/>
            <a:ext cx="4032504" cy="420624"/>
          </a:xfrm>
          <a:prstGeom prst="rect">
            <a:avLst/>
          </a:prstGeom>
          <a:noFill/>
          <a:ln/>
        </p:spPr>
        <p:txBody>
          <a:bodyPr wrap="square" lIns="0" tIns="0" rIns="0" bIns="0" rtlCol="0" anchor="t"/>
          <a:lstStyle/>
          <a:p>
            <a:pPr indent="0" marL="0">
              <a:buNone/>
            </a:pPr>
            <a:r>
              <a:rPr lang="en-US" sz="1000" dirty="0">
                <a:solidFill>
                  <a:srgbClr val="1A2340"/>
                </a:solidFill>
                <a:latin typeface="Calibri" pitchFamily="34" charset="0"/>
                <a:ea typeface="Calibri" pitchFamily="34" charset="-122"/>
                <a:cs typeface="Calibri" pitchFamily="34" charset="-120"/>
              </a:rPr>
              <a:t>🏭  Cookie Cutter Factory — The cutter (metaclass) creates cookies (classes). Change the factory and all cookies change.</a:t>
            </a:r>
            <a:endParaRPr lang="en-US" sz="1000" dirty="0"/>
          </a:p>
        </p:txBody>
      </p:sp>
      <p:sp>
        <p:nvSpPr>
          <p:cNvPr id="10" name="Shape 8"/>
          <p:cNvSpPr/>
          <p:nvPr/>
        </p:nvSpPr>
        <p:spPr>
          <a:xfrm>
            <a:off x="201168" y="1709928"/>
            <a:ext cx="4251960" cy="713232"/>
          </a:xfrm>
          <a:prstGeom prst="rect">
            <a:avLst/>
          </a:prstGeom>
          <a:solidFill>
            <a:srgbClr val="EBF3FF"/>
          </a:solidFill>
          <a:ln w="12700">
            <a:solidFill>
              <a:srgbClr val="BFDBFE"/>
            </a:solidFill>
            <a:prstDash val="solid"/>
          </a:ln>
        </p:spPr>
      </p:sp>
      <p:sp>
        <p:nvSpPr>
          <p:cNvPr id="11" name="Text 9"/>
          <p:cNvSpPr/>
          <p:nvPr/>
        </p:nvSpPr>
        <p:spPr>
          <a:xfrm>
            <a:off x="310896" y="1746504"/>
            <a:ext cx="4032504" cy="201168"/>
          </a:xfrm>
          <a:prstGeom prst="rect">
            <a:avLst/>
          </a:prstGeom>
          <a:noFill/>
          <a:ln/>
        </p:spPr>
        <p:txBody>
          <a:bodyPr wrap="square" lIns="0" tIns="0" rIns="0" bIns="0" rtlCol="0" anchor="ctr"/>
          <a:lstStyle/>
          <a:p>
            <a:pPr indent="0" marL="0">
              <a:buNone/>
            </a:pPr>
            <a:r>
              <a:rPr lang="en-US" sz="950" b="1" dirty="0">
                <a:solidFill>
                  <a:srgbClr val="1D4ED8"/>
                </a:solidFill>
                <a:latin typeface="Calibri" pitchFamily="34" charset="0"/>
                <a:ea typeface="Calibri" pitchFamily="34" charset="-122"/>
                <a:cs typeface="Calibri" pitchFamily="34" charset="-120"/>
              </a:rPr>
              <a:t>📖  What is it?</a:t>
            </a:r>
            <a:endParaRPr lang="en-US" sz="950" dirty="0"/>
          </a:p>
        </p:txBody>
      </p:sp>
      <p:sp>
        <p:nvSpPr>
          <p:cNvPr id="12" name="Text 10"/>
          <p:cNvSpPr/>
          <p:nvPr/>
        </p:nvSpPr>
        <p:spPr>
          <a:xfrm>
            <a:off x="310896" y="1947672"/>
            <a:ext cx="4032504" cy="420624"/>
          </a:xfrm>
          <a:prstGeom prst="rect">
            <a:avLst/>
          </a:prstGeom>
          <a:noFill/>
          <a:ln/>
        </p:spPr>
        <p:txBody>
          <a:bodyPr wrap="square" lIns="0" tIns="0" rIns="0" bIns="0" rtlCol="0" anchor="t"/>
          <a:lstStyle/>
          <a:p>
            <a:pPr indent="0" marL="0">
              <a:buNone/>
            </a:pPr>
            <a:r>
              <a:rPr lang="en-US" sz="1000" dirty="0">
                <a:solidFill>
                  <a:srgbClr val="1A2340"/>
                </a:solidFill>
                <a:latin typeface="Calibri" pitchFamily="34" charset="0"/>
                <a:ea typeface="Calibri" pitchFamily="34" charset="-122"/>
                <a:cs typeface="Calibri" pitchFamily="34" charset="-120"/>
              </a:rPr>
              <a:t>ToolMeta.__new__() fires every time Python reads a class definition. Use it to auto-register classes in a catalog — zero manual code.</a:t>
            </a:r>
            <a:endParaRPr lang="en-US" sz="1000" dirty="0"/>
          </a:p>
        </p:txBody>
      </p:sp>
      <p:sp>
        <p:nvSpPr>
          <p:cNvPr id="13" name="Shape 11"/>
          <p:cNvSpPr/>
          <p:nvPr/>
        </p:nvSpPr>
        <p:spPr>
          <a:xfrm>
            <a:off x="201168" y="2487168"/>
            <a:ext cx="4251960" cy="777240"/>
          </a:xfrm>
          <a:prstGeom prst="rect">
            <a:avLst/>
          </a:prstGeom>
          <a:solidFill>
            <a:srgbClr val="F0FDF4"/>
          </a:solidFill>
          <a:ln w="12700">
            <a:solidFill>
              <a:srgbClr val="86EFAC"/>
            </a:solidFill>
            <a:prstDash val="solid"/>
          </a:ln>
        </p:spPr>
      </p:sp>
      <p:sp>
        <p:nvSpPr>
          <p:cNvPr id="14" name="Text 12"/>
          <p:cNvSpPr/>
          <p:nvPr/>
        </p:nvSpPr>
        <p:spPr>
          <a:xfrm>
            <a:off x="310896" y="2523744"/>
            <a:ext cx="4032504" cy="201168"/>
          </a:xfrm>
          <a:prstGeom prst="rect">
            <a:avLst/>
          </a:prstGeom>
          <a:noFill/>
          <a:ln/>
        </p:spPr>
        <p:txBody>
          <a:bodyPr wrap="square" lIns="0" tIns="0" rIns="0" bIns="0" rtlCol="0" anchor="ctr"/>
          <a:lstStyle/>
          <a:p>
            <a:pPr indent="0" marL="0">
              <a:buNone/>
            </a:pPr>
            <a:r>
              <a:rPr lang="en-US" sz="950" b="1" dirty="0">
                <a:solidFill>
                  <a:srgbClr val="15803D"/>
                </a:solidFill>
                <a:latin typeface="Calibri" pitchFamily="34" charset="0"/>
                <a:ea typeface="Calibri" pitchFamily="34" charset="-122"/>
                <a:cs typeface="Calibri" pitchFamily="34" charset="-120"/>
              </a:rPr>
              <a:t>🏢  Real World Examples</a:t>
            </a:r>
            <a:endParaRPr lang="en-US" sz="950" dirty="0"/>
          </a:p>
        </p:txBody>
      </p:sp>
      <p:sp>
        <p:nvSpPr>
          <p:cNvPr id="15" name="Text 13"/>
          <p:cNvSpPr/>
          <p:nvPr/>
        </p:nvSpPr>
        <p:spPr>
          <a:xfrm>
            <a:off x="310896" y="2724912"/>
            <a:ext cx="4032504" cy="502920"/>
          </a:xfrm>
          <a:prstGeom prst="rect">
            <a:avLst/>
          </a:prstGeom>
          <a:noFill/>
          <a:ln/>
        </p:spPr>
        <p:txBody>
          <a:bodyPr wrap="square" lIns="0" tIns="0" rIns="0" bIns="0" rtlCol="0" anchor="t"/>
          <a:lstStyle/>
          <a:p>
            <a:pPr indent="0" marL="0">
              <a:buNone/>
            </a:pPr>
            <a:r>
              <a:rPr lang="en-US" sz="950" dirty="0">
                <a:solidFill>
                  <a:srgbClr val="1A2340"/>
                </a:solidFill>
                <a:latin typeface="Calibri" pitchFamily="34" charset="0"/>
                <a:ea typeface="Calibri" pitchFamily="34" charset="-122"/>
                <a:cs typeface="Calibri" pitchFamily="34" charset="-120"/>
              </a:rPr>
              <a:t>Django ORM: Every model class auto-registers its database table via ModelBase metaclass.</a:t>
            </a:r>
            <a:endParaRPr lang="en-US" sz="950" dirty="0"/>
          </a:p>
          <a:p>
            <a:pPr indent="0" marL="0">
              <a:buNone/>
            </a:pPr>
            <a:r>
              <a:rPr lang="en-US" sz="950" dirty="0">
                <a:solidFill>
                  <a:srgbClr val="1A2340"/>
                </a:solidFill>
                <a:latin typeface="Calibri" pitchFamily="34" charset="0"/>
                <a:ea typeface="Calibri" pitchFamily="34" charset="-122"/>
                <a:cs typeface="Calibri" pitchFamily="34" charset="-120"/>
              </a:rPr>
              <a:t>SQLAlchemy: DeclarativeMeta auto-discovers all mapped tables.</a:t>
            </a:r>
            <a:endParaRPr lang="en-US" sz="950" dirty="0"/>
          </a:p>
        </p:txBody>
      </p:sp>
      <p:sp>
        <p:nvSpPr>
          <p:cNvPr id="16" name="Shape 14"/>
          <p:cNvSpPr/>
          <p:nvPr/>
        </p:nvSpPr>
        <p:spPr>
          <a:xfrm>
            <a:off x="4617720" y="960120"/>
            <a:ext cx="4315968" cy="3182112"/>
          </a:xfrm>
          <a:prstGeom prst="rect">
            <a:avLst/>
          </a:prstGeom>
          <a:solidFill>
            <a:srgbClr val="141E2C"/>
          </a:solidFill>
          <a:ln w="12700">
            <a:solidFill>
              <a:srgbClr val="2D3F55"/>
            </a:solidFill>
            <a:prstDash val="solid"/>
          </a:ln>
        </p:spPr>
      </p:sp>
      <p:sp>
        <p:nvSpPr>
          <p:cNvPr id="17" name="Text 15"/>
          <p:cNvSpPr/>
          <p:nvPr/>
        </p:nvSpPr>
        <p:spPr>
          <a:xfrm>
            <a:off x="4727448" y="1069848"/>
            <a:ext cx="4096512" cy="2999232"/>
          </a:xfrm>
          <a:prstGeom prst="rect">
            <a:avLst/>
          </a:prstGeom>
          <a:noFill/>
          <a:ln/>
        </p:spPr>
        <p:txBody>
          <a:bodyPr wrap="square" lIns="0" tIns="0" rIns="0" bIns="0" rtlCol="0" anchor="t"/>
          <a:lstStyle/>
          <a:p>
            <a:pPr indent="0" marL="0">
              <a:buNone/>
            </a:pPr>
            <a:r>
              <a:rPr lang="en-US" sz="950" dirty="0">
                <a:solidFill>
                  <a:srgbClr val="6B7280"/>
                </a:solidFill>
                <a:latin typeface="Consolas" pitchFamily="34" charset="0"/>
                <a:ea typeface="Consolas" pitchFamily="34" charset="-122"/>
                <a:cs typeface="Consolas" pitchFamily="34" charset="-120"/>
              </a:rPr>
              <a:t># Python</a:t>
            </a:r>
            <a:endParaRPr lang="en-US" sz="950" dirty="0"/>
          </a:p>
          <a:p>
            <a:pPr indent="0" marL="0">
              <a:buNone/>
            </a:pPr>
            <a:r>
              <a:rPr lang="en-US" sz="950" dirty="0">
                <a:solidFill>
                  <a:srgbClr val="FCD34D"/>
                </a:solidFill>
                <a:latin typeface="Consolas" pitchFamily="34" charset="0"/>
                <a:ea typeface="Consolas" pitchFamily="34" charset="-122"/>
                <a:cs typeface="Consolas" pitchFamily="34" charset="-120"/>
              </a:rPr>
              <a:t>class SkillMeta(type):</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registry = {}</a:t>
            </a:r>
            <a:endParaRPr lang="en-US" sz="950" dirty="0"/>
          </a:p>
          <a:p>
            <a:pPr indent="0" marL="0">
              <a:buNone/>
            </a:pPr>
            <a:r>
              <a:rPr lang="en-US" sz="950" dirty="0">
                <a:solidFill>
                  <a:srgbClr val="F9A8D4"/>
                </a:solidFill>
                <a:latin typeface="Consolas" pitchFamily="34" charset="0"/>
                <a:ea typeface="Consolas" pitchFamily="34" charset="-122"/>
                <a:cs typeface="Consolas" pitchFamily="34" charset="-120"/>
              </a:rPr>
              <a:t>    def __new__(mcs, name, bases, ns):</a:t>
            </a:r>
            <a:endParaRPr lang="en-US" sz="950" dirty="0"/>
          </a:p>
          <a:p>
            <a:pPr indent="0" marL="0">
              <a:buNone/>
            </a:pPr>
            <a:r>
              <a:rPr lang="en-US" sz="950" dirty="0">
                <a:solidFill>
                  <a:srgbClr val="F9A8D4"/>
                </a:solidFill>
                <a:latin typeface="Consolas" pitchFamily="34" charset="0"/>
                <a:ea typeface="Consolas" pitchFamily="34" charset="-122"/>
                <a:cs typeface="Consolas" pitchFamily="34" charset="-120"/>
              </a:rPr>
              <a:t>        cls = super().__new__(mcs,name,bases,ns)</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if bases: mcs.registry[name]=cls  # auto-add!</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return cls</a:t>
            </a:r>
            <a:endParaRPr lang="en-US" sz="950" dirty="0"/>
          </a:p>
          <a:p>
            <a:pPr indent="0" marL="0">
              <a:buNone/>
            </a:pPr>
            <a:endParaRPr lang="en-US" sz="950" dirty="0"/>
          </a:p>
          <a:p>
            <a:pPr indent="0" marL="0">
              <a:buNone/>
            </a:pPr>
            <a:r>
              <a:rPr lang="en-US" sz="950" dirty="0">
                <a:solidFill>
                  <a:srgbClr val="FCD34D"/>
                </a:solidFill>
                <a:latin typeface="Consolas" pitchFamily="34" charset="0"/>
                <a:ea typeface="Consolas" pitchFamily="34" charset="-122"/>
                <a:cs typeface="Consolas" pitchFamily="34" charset="-120"/>
              </a:rPr>
              <a:t>class Skill(metaclass=SkillMeta): pass  # base</a:t>
            </a:r>
            <a:endParaRPr lang="en-US" sz="950" dirty="0"/>
          </a:p>
          <a:p>
            <a:pPr indent="0" marL="0">
              <a:buNone/>
            </a:pPr>
            <a:r>
              <a:rPr lang="en-US" sz="950" dirty="0">
                <a:solidFill>
                  <a:srgbClr val="FCD34D"/>
                </a:solidFill>
                <a:latin typeface="Consolas" pitchFamily="34" charset="0"/>
                <a:ea typeface="Consolas" pitchFamily="34" charset="-122"/>
                <a:cs typeface="Consolas" pitchFamily="34" charset="-120"/>
              </a:rPr>
              <a:t>class Chat(Skill): pass  # auto-registered!</a:t>
            </a:r>
            <a:endParaRPr lang="en-US" sz="950" dirty="0"/>
          </a:p>
        </p:txBody>
      </p:sp>
      <p:sp>
        <p:nvSpPr>
          <p:cNvPr id="18" name="Text 16"/>
          <p:cNvSpPr/>
          <p:nvPr/>
        </p:nvSpPr>
        <p:spPr>
          <a:xfrm>
            <a:off x="5120640" y="4846320"/>
            <a:ext cx="3840480" cy="201168"/>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Ruthran Raghavan, Chief AI Scientist</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B3A6B"/>
          </a:solidFill>
          <a:ln w="12700">
            <a:solidFill>
              <a:srgbClr val="1B3A6B"/>
            </a:solidFill>
            <a:prstDash val="solid"/>
          </a:ln>
        </p:spPr>
      </p:sp>
      <p:sp>
        <p:nvSpPr>
          <p:cNvPr id="3" name="Text 1"/>
          <p:cNvSpPr/>
          <p:nvPr/>
        </p:nvSpPr>
        <p:spPr>
          <a:xfrm>
            <a:off x="274320" y="0"/>
            <a:ext cx="7132320" cy="56692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Concept 8  —  MRO — Method Resolution Order</a:t>
            </a:r>
            <a:endParaRPr lang="en-US" sz="1700" dirty="0"/>
          </a:p>
        </p:txBody>
      </p:sp>
      <p:sp>
        <p:nvSpPr>
          <p:cNvPr id="4" name="Shape 2"/>
          <p:cNvSpPr/>
          <p:nvPr/>
        </p:nvSpPr>
        <p:spPr>
          <a:xfrm>
            <a:off x="7589520" y="128016"/>
            <a:ext cx="1280160" cy="310896"/>
          </a:xfrm>
          <a:prstGeom prst="roundRect">
            <a:avLst>
              <a:gd name="adj" fmla="val 17647"/>
            </a:avLst>
          </a:prstGeom>
          <a:solidFill>
            <a:srgbClr val="7C3AED"/>
          </a:solidFill>
          <a:ln w="12700">
            <a:solidFill>
              <a:srgbClr val="7C3AED"/>
            </a:solidFill>
            <a:prstDash val="solid"/>
          </a:ln>
        </p:spPr>
      </p:sp>
      <p:sp>
        <p:nvSpPr>
          <p:cNvPr id="5" name="Text 3"/>
          <p:cNvSpPr/>
          <p:nvPr/>
        </p:nvSpPr>
        <p:spPr>
          <a:xfrm>
            <a:off x="7589520" y="128016"/>
            <a:ext cx="12801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ADVANCED</a:t>
            </a:r>
            <a:endParaRPr lang="en-US" sz="1000" dirty="0"/>
          </a:p>
        </p:txBody>
      </p:sp>
      <p:sp>
        <p:nvSpPr>
          <p:cNvPr id="6" name="Text 4"/>
          <p:cNvSpPr/>
          <p:nvPr/>
        </p:nvSpPr>
        <p:spPr>
          <a:xfrm>
            <a:off x="228600" y="658368"/>
            <a:ext cx="8686800" cy="256032"/>
          </a:xfrm>
          <a:prstGeom prst="rect">
            <a:avLst/>
          </a:prstGeom>
          <a:noFill/>
          <a:ln/>
        </p:spPr>
        <p:txBody>
          <a:bodyPr wrap="square" lIns="0" tIns="0" rIns="0" bIns="0" rtlCol="0" anchor="ctr"/>
          <a:lstStyle/>
          <a:p>
            <a:pPr indent="0" marL="0">
              <a:buNone/>
            </a:pPr>
            <a:r>
              <a:rPr lang="en-US" sz="1150" i="1" dirty="0">
                <a:solidFill>
                  <a:srgbClr val="475569"/>
                </a:solidFill>
                <a:latin typeface="Calibri" pitchFamily="34" charset="0"/>
                <a:ea typeface="Calibri" pitchFamily="34" charset="-122"/>
                <a:cs typeface="Calibri" pitchFamily="34" charset="-120"/>
              </a:rPr>
              <a:t>When a class has multiple parents, Python picks the method in left-to-right order</a:t>
            </a:r>
            <a:endParaRPr lang="en-US" sz="1150" dirty="0"/>
          </a:p>
        </p:txBody>
      </p:sp>
      <p:sp>
        <p:nvSpPr>
          <p:cNvPr id="7" name="Shape 5"/>
          <p:cNvSpPr/>
          <p:nvPr/>
        </p:nvSpPr>
        <p:spPr>
          <a:xfrm>
            <a:off x="201168" y="960120"/>
            <a:ext cx="4251960" cy="685800"/>
          </a:xfrm>
          <a:prstGeom prst="rect">
            <a:avLst/>
          </a:prstGeom>
          <a:solidFill>
            <a:srgbClr val="FFFBEB"/>
          </a:solidFill>
          <a:ln w="12700">
            <a:solidFill>
              <a:srgbClr val="FCD34D"/>
            </a:solidFill>
            <a:prstDash val="solid"/>
          </a:ln>
        </p:spPr>
      </p:sp>
      <p:sp>
        <p:nvSpPr>
          <p:cNvPr id="8" name="Text 6"/>
          <p:cNvSpPr/>
          <p:nvPr/>
        </p:nvSpPr>
        <p:spPr>
          <a:xfrm>
            <a:off x="310896" y="996696"/>
            <a:ext cx="4032504" cy="201168"/>
          </a:xfrm>
          <a:prstGeom prst="rect">
            <a:avLst/>
          </a:prstGeom>
          <a:noFill/>
          <a:ln/>
        </p:spPr>
        <p:txBody>
          <a:bodyPr wrap="square" lIns="0" tIns="0" rIns="0" bIns="0" rtlCol="0" anchor="ctr"/>
          <a:lstStyle/>
          <a:p>
            <a:pPr indent="0" marL="0">
              <a:buNone/>
            </a:pPr>
            <a:r>
              <a:rPr lang="en-US" sz="950" b="1" dirty="0">
                <a:solidFill>
                  <a:srgbClr val="B45309"/>
                </a:solidFill>
                <a:latin typeface="Calibri" pitchFamily="34" charset="0"/>
                <a:ea typeface="Calibri" pitchFamily="34" charset="-122"/>
                <a:cs typeface="Calibri" pitchFamily="34" charset="-120"/>
              </a:rPr>
              <a:t>Think of it like...</a:t>
            </a:r>
            <a:endParaRPr lang="en-US" sz="950" dirty="0"/>
          </a:p>
        </p:txBody>
      </p:sp>
      <p:sp>
        <p:nvSpPr>
          <p:cNvPr id="9" name="Text 7"/>
          <p:cNvSpPr/>
          <p:nvPr/>
        </p:nvSpPr>
        <p:spPr>
          <a:xfrm>
            <a:off x="310896" y="1179576"/>
            <a:ext cx="4032504" cy="420624"/>
          </a:xfrm>
          <a:prstGeom prst="rect">
            <a:avLst/>
          </a:prstGeom>
          <a:noFill/>
          <a:ln/>
        </p:spPr>
        <p:txBody>
          <a:bodyPr wrap="square" lIns="0" tIns="0" rIns="0" bIns="0" rtlCol="0" anchor="t"/>
          <a:lstStyle/>
          <a:p>
            <a:pPr indent="0" marL="0">
              <a:buNone/>
            </a:pPr>
            <a:r>
              <a:rPr lang="en-US" sz="1000" dirty="0">
                <a:solidFill>
                  <a:srgbClr val="1A2340"/>
                </a:solidFill>
                <a:latin typeface="Calibri" pitchFamily="34" charset="0"/>
                <a:ea typeface="Calibri" pitchFamily="34" charset="-122"/>
                <a:cs typeface="Calibri" pitchFamily="34" charset="-120"/>
              </a:rPr>
              <a:t>👨‍👩‍👦  Family Traits — A child inherits traits from both parents. MRO decides: which parent's trait do you get first?</a:t>
            </a:r>
            <a:endParaRPr lang="en-US" sz="1000" dirty="0"/>
          </a:p>
        </p:txBody>
      </p:sp>
      <p:sp>
        <p:nvSpPr>
          <p:cNvPr id="10" name="Shape 8"/>
          <p:cNvSpPr/>
          <p:nvPr/>
        </p:nvSpPr>
        <p:spPr>
          <a:xfrm>
            <a:off x="201168" y="1709928"/>
            <a:ext cx="4251960" cy="713232"/>
          </a:xfrm>
          <a:prstGeom prst="rect">
            <a:avLst/>
          </a:prstGeom>
          <a:solidFill>
            <a:srgbClr val="EBF3FF"/>
          </a:solidFill>
          <a:ln w="12700">
            <a:solidFill>
              <a:srgbClr val="BFDBFE"/>
            </a:solidFill>
            <a:prstDash val="solid"/>
          </a:ln>
        </p:spPr>
      </p:sp>
      <p:sp>
        <p:nvSpPr>
          <p:cNvPr id="11" name="Text 9"/>
          <p:cNvSpPr/>
          <p:nvPr/>
        </p:nvSpPr>
        <p:spPr>
          <a:xfrm>
            <a:off x="310896" y="1746504"/>
            <a:ext cx="4032504" cy="201168"/>
          </a:xfrm>
          <a:prstGeom prst="rect">
            <a:avLst/>
          </a:prstGeom>
          <a:noFill/>
          <a:ln/>
        </p:spPr>
        <p:txBody>
          <a:bodyPr wrap="square" lIns="0" tIns="0" rIns="0" bIns="0" rtlCol="0" anchor="ctr"/>
          <a:lstStyle/>
          <a:p>
            <a:pPr indent="0" marL="0">
              <a:buNone/>
            </a:pPr>
            <a:r>
              <a:rPr lang="en-US" sz="950" b="1" dirty="0">
                <a:solidFill>
                  <a:srgbClr val="1D4ED8"/>
                </a:solidFill>
                <a:latin typeface="Calibri" pitchFamily="34" charset="0"/>
                <a:ea typeface="Calibri" pitchFamily="34" charset="-122"/>
                <a:cs typeface="Calibri" pitchFamily="34" charset="-120"/>
              </a:rPr>
              <a:t>📖  What is it?</a:t>
            </a:r>
            <a:endParaRPr lang="en-US" sz="950" dirty="0"/>
          </a:p>
        </p:txBody>
      </p:sp>
      <p:sp>
        <p:nvSpPr>
          <p:cNvPr id="12" name="Text 10"/>
          <p:cNvSpPr/>
          <p:nvPr/>
        </p:nvSpPr>
        <p:spPr>
          <a:xfrm>
            <a:off x="310896" y="1947672"/>
            <a:ext cx="4032504" cy="420624"/>
          </a:xfrm>
          <a:prstGeom prst="rect">
            <a:avLst/>
          </a:prstGeom>
          <a:noFill/>
          <a:ln/>
        </p:spPr>
        <p:txBody>
          <a:bodyPr wrap="square" lIns="0" tIns="0" rIns="0" bIns="0" rtlCol="0" anchor="t"/>
          <a:lstStyle/>
          <a:p>
            <a:pPr indent="0" marL="0">
              <a:buNone/>
            </a:pPr>
            <a:r>
              <a:rPr lang="en-US" sz="1000" dirty="0">
                <a:solidFill>
                  <a:srgbClr val="1A2340"/>
                </a:solidFill>
                <a:latin typeface="Calibri" pitchFamily="34" charset="0"/>
                <a:ea typeface="Calibri" pitchFamily="34" charset="-122"/>
                <a:cs typeface="Calibri" pitchFamily="34" charset="-120"/>
              </a:rPr>
              <a:t>Python uses C3 linearisation. Print __mro__ to see the exact search order. Leftmost parent wins. Use explicit parent calls for clarity.</a:t>
            </a:r>
            <a:endParaRPr lang="en-US" sz="1000" dirty="0"/>
          </a:p>
        </p:txBody>
      </p:sp>
      <p:sp>
        <p:nvSpPr>
          <p:cNvPr id="13" name="Shape 11"/>
          <p:cNvSpPr/>
          <p:nvPr/>
        </p:nvSpPr>
        <p:spPr>
          <a:xfrm>
            <a:off x="201168" y="2487168"/>
            <a:ext cx="4251960" cy="777240"/>
          </a:xfrm>
          <a:prstGeom prst="rect">
            <a:avLst/>
          </a:prstGeom>
          <a:solidFill>
            <a:srgbClr val="F0FDF4"/>
          </a:solidFill>
          <a:ln w="12700">
            <a:solidFill>
              <a:srgbClr val="86EFAC"/>
            </a:solidFill>
            <a:prstDash val="solid"/>
          </a:ln>
        </p:spPr>
      </p:sp>
      <p:sp>
        <p:nvSpPr>
          <p:cNvPr id="14" name="Text 12"/>
          <p:cNvSpPr/>
          <p:nvPr/>
        </p:nvSpPr>
        <p:spPr>
          <a:xfrm>
            <a:off x="310896" y="2523744"/>
            <a:ext cx="4032504" cy="201168"/>
          </a:xfrm>
          <a:prstGeom prst="rect">
            <a:avLst/>
          </a:prstGeom>
          <a:noFill/>
          <a:ln/>
        </p:spPr>
        <p:txBody>
          <a:bodyPr wrap="square" lIns="0" tIns="0" rIns="0" bIns="0" rtlCol="0" anchor="ctr"/>
          <a:lstStyle/>
          <a:p>
            <a:pPr indent="0" marL="0">
              <a:buNone/>
            </a:pPr>
            <a:r>
              <a:rPr lang="en-US" sz="950" b="1" dirty="0">
                <a:solidFill>
                  <a:srgbClr val="15803D"/>
                </a:solidFill>
                <a:latin typeface="Calibri" pitchFamily="34" charset="0"/>
                <a:ea typeface="Calibri" pitchFamily="34" charset="-122"/>
                <a:cs typeface="Calibri" pitchFamily="34" charset="-120"/>
              </a:rPr>
              <a:t>🏢  Real World Examples</a:t>
            </a:r>
            <a:endParaRPr lang="en-US" sz="950" dirty="0"/>
          </a:p>
        </p:txBody>
      </p:sp>
      <p:sp>
        <p:nvSpPr>
          <p:cNvPr id="15" name="Text 13"/>
          <p:cNvSpPr/>
          <p:nvPr/>
        </p:nvSpPr>
        <p:spPr>
          <a:xfrm>
            <a:off x="310896" y="2724912"/>
            <a:ext cx="4032504" cy="502920"/>
          </a:xfrm>
          <a:prstGeom prst="rect">
            <a:avLst/>
          </a:prstGeom>
          <a:noFill/>
          <a:ln/>
        </p:spPr>
        <p:txBody>
          <a:bodyPr wrap="square" lIns="0" tIns="0" rIns="0" bIns="0" rtlCol="0" anchor="t"/>
          <a:lstStyle/>
          <a:p>
            <a:pPr indent="0" marL="0">
              <a:buNone/>
            </a:pPr>
            <a:r>
              <a:rPr lang="en-US" sz="950" dirty="0">
                <a:solidFill>
                  <a:srgbClr val="1A2340"/>
                </a:solidFill>
                <a:latin typeface="Calibri" pitchFamily="34" charset="0"/>
                <a:ea typeface="Calibri" pitchFamily="34" charset="-122"/>
                <a:cs typeface="Calibri" pitchFamily="34" charset="-120"/>
              </a:rPr>
              <a:t>Python's logging module uses multiple inheritance — LoggingMixin resolves via MRO.</a:t>
            </a:r>
            <a:endParaRPr lang="en-US" sz="950" dirty="0"/>
          </a:p>
          <a:p>
            <a:pPr indent="0" marL="0">
              <a:buNone/>
            </a:pPr>
            <a:r>
              <a:rPr lang="en-US" sz="950" dirty="0">
                <a:solidFill>
                  <a:srgbClr val="1A2340"/>
                </a:solidFill>
                <a:latin typeface="Calibri" pitchFamily="34" charset="0"/>
                <a:ea typeface="Calibri" pitchFamily="34" charset="-122"/>
                <a:cs typeface="Calibri" pitchFamily="34" charset="-120"/>
              </a:rPr>
              <a:t>Django CBVs: Multiple mixins (LoginRequired, PermissionRequired) resolve safely via MRO.</a:t>
            </a:r>
            <a:endParaRPr lang="en-US" sz="950" dirty="0"/>
          </a:p>
        </p:txBody>
      </p:sp>
      <p:sp>
        <p:nvSpPr>
          <p:cNvPr id="16" name="Shape 14"/>
          <p:cNvSpPr/>
          <p:nvPr/>
        </p:nvSpPr>
        <p:spPr>
          <a:xfrm>
            <a:off x="4617720" y="960120"/>
            <a:ext cx="4315968" cy="3182112"/>
          </a:xfrm>
          <a:prstGeom prst="rect">
            <a:avLst/>
          </a:prstGeom>
          <a:solidFill>
            <a:srgbClr val="141E2C"/>
          </a:solidFill>
          <a:ln w="12700">
            <a:solidFill>
              <a:srgbClr val="2D3F55"/>
            </a:solidFill>
            <a:prstDash val="solid"/>
          </a:ln>
        </p:spPr>
      </p:sp>
      <p:sp>
        <p:nvSpPr>
          <p:cNvPr id="17" name="Text 15"/>
          <p:cNvSpPr/>
          <p:nvPr/>
        </p:nvSpPr>
        <p:spPr>
          <a:xfrm>
            <a:off x="4727448" y="1069848"/>
            <a:ext cx="4096512" cy="2999232"/>
          </a:xfrm>
          <a:prstGeom prst="rect">
            <a:avLst/>
          </a:prstGeom>
          <a:noFill/>
          <a:ln/>
        </p:spPr>
        <p:txBody>
          <a:bodyPr wrap="square" lIns="0" tIns="0" rIns="0" bIns="0" rtlCol="0" anchor="t"/>
          <a:lstStyle/>
          <a:p>
            <a:pPr indent="0" marL="0">
              <a:buNone/>
            </a:pPr>
            <a:r>
              <a:rPr lang="en-US" sz="950" dirty="0">
                <a:solidFill>
                  <a:srgbClr val="6B7280"/>
                </a:solidFill>
                <a:latin typeface="Consolas" pitchFamily="34" charset="0"/>
                <a:ea typeface="Consolas" pitchFamily="34" charset="-122"/>
                <a:cs typeface="Consolas" pitchFamily="34" charset="-120"/>
              </a:rPr>
              <a:t># Python</a:t>
            </a:r>
            <a:endParaRPr lang="en-US" sz="950" dirty="0"/>
          </a:p>
          <a:p>
            <a:pPr indent="0" marL="0">
              <a:buNone/>
            </a:pPr>
            <a:r>
              <a:rPr lang="en-US" sz="950" dirty="0">
                <a:solidFill>
                  <a:srgbClr val="FCD34D"/>
                </a:solidFill>
                <a:latin typeface="Consolas" pitchFamily="34" charset="0"/>
                <a:ea typeface="Consolas" pitchFamily="34" charset="-122"/>
                <a:cs typeface="Consolas" pitchFamily="34" charset="-120"/>
              </a:rPr>
              <a:t>class CanTalk:</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def greet(self): return 'Talking!'</a:t>
            </a:r>
            <a:endParaRPr lang="en-US" sz="950" dirty="0"/>
          </a:p>
          <a:p>
            <a:pPr indent="0" marL="0">
              <a:buNone/>
            </a:pPr>
            <a:r>
              <a:rPr lang="en-US" sz="950" dirty="0">
                <a:solidFill>
                  <a:srgbClr val="FCD34D"/>
                </a:solidFill>
                <a:latin typeface="Consolas" pitchFamily="34" charset="0"/>
                <a:ea typeface="Consolas" pitchFamily="34" charset="-122"/>
                <a:cs typeface="Consolas" pitchFamily="34" charset="-120"/>
              </a:rPr>
              <a:t>class CanSee:</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def greet(self): return 'Seeing!'</a:t>
            </a:r>
            <a:endParaRPr lang="en-US" sz="950" dirty="0"/>
          </a:p>
          <a:p>
            <a:pPr indent="0" marL="0">
              <a:buNone/>
            </a:pPr>
            <a:r>
              <a:rPr lang="en-US" sz="950" dirty="0">
                <a:solidFill>
                  <a:srgbClr val="FCD34D"/>
                </a:solidFill>
                <a:latin typeface="Consolas" pitchFamily="34" charset="0"/>
                <a:ea typeface="Consolas" pitchFamily="34" charset="-122"/>
                <a:cs typeface="Consolas" pitchFamily="34" charset="-120"/>
              </a:rPr>
              <a:t>class SuperBot(CanTalk, CanSee):</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pass</a:t>
            </a:r>
            <a:endParaRPr lang="en-US" sz="950" dirty="0"/>
          </a:p>
          <a:p>
            <a:pPr indent="0" marL="0">
              <a:buNone/>
            </a:pP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bot = SuperBot()</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print(bot.greet())           # 'Talking!' — CanTalk wins</a:t>
            </a:r>
            <a:endParaRPr lang="en-US" sz="950" dirty="0"/>
          </a:p>
          <a:p>
            <a:pPr indent="0" marL="0">
              <a:buNone/>
            </a:pPr>
            <a:r>
              <a:rPr lang="en-US" sz="950" dirty="0">
                <a:solidFill>
                  <a:srgbClr val="F9A8D4"/>
                </a:solidFill>
                <a:latin typeface="Consolas" pitchFamily="34" charset="0"/>
                <a:ea typeface="Consolas" pitchFamily="34" charset="-122"/>
                <a:cs typeface="Consolas" pitchFamily="34" charset="-120"/>
              </a:rPr>
              <a:t>print(SuperBot.__mro__)      # [SuperBot,CanTalk,CanSee,object]</a:t>
            </a:r>
            <a:endParaRPr lang="en-US" sz="950" dirty="0"/>
          </a:p>
        </p:txBody>
      </p:sp>
      <p:sp>
        <p:nvSpPr>
          <p:cNvPr id="18" name="Text 16"/>
          <p:cNvSpPr/>
          <p:nvPr/>
        </p:nvSpPr>
        <p:spPr>
          <a:xfrm>
            <a:off x="5120640" y="4846320"/>
            <a:ext cx="3840480" cy="201168"/>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Ruthran Raghavan, Chief AI Scientist</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B3A6B"/>
          </a:solidFill>
          <a:ln w="12700">
            <a:solidFill>
              <a:srgbClr val="1B3A6B"/>
            </a:solidFill>
            <a:prstDash val="solid"/>
          </a:ln>
        </p:spPr>
      </p:sp>
      <p:sp>
        <p:nvSpPr>
          <p:cNvPr id="3" name="Text 1"/>
          <p:cNvSpPr/>
          <p:nvPr/>
        </p:nvSpPr>
        <p:spPr>
          <a:xfrm>
            <a:off x="274320" y="0"/>
            <a:ext cx="7132320" cy="56692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Concept 9  —  Dataclasses</a:t>
            </a:r>
            <a:endParaRPr lang="en-US" sz="1700" dirty="0"/>
          </a:p>
        </p:txBody>
      </p:sp>
      <p:sp>
        <p:nvSpPr>
          <p:cNvPr id="4" name="Shape 2"/>
          <p:cNvSpPr/>
          <p:nvPr/>
        </p:nvSpPr>
        <p:spPr>
          <a:xfrm>
            <a:off x="7589520" y="128016"/>
            <a:ext cx="1280160" cy="310896"/>
          </a:xfrm>
          <a:prstGeom prst="roundRect">
            <a:avLst>
              <a:gd name="adj" fmla="val 17647"/>
            </a:avLst>
          </a:prstGeom>
          <a:solidFill>
            <a:srgbClr val="7C3AED"/>
          </a:solidFill>
          <a:ln w="12700">
            <a:solidFill>
              <a:srgbClr val="7C3AED"/>
            </a:solidFill>
            <a:prstDash val="solid"/>
          </a:ln>
        </p:spPr>
      </p:sp>
      <p:sp>
        <p:nvSpPr>
          <p:cNvPr id="5" name="Text 3"/>
          <p:cNvSpPr/>
          <p:nvPr/>
        </p:nvSpPr>
        <p:spPr>
          <a:xfrm>
            <a:off x="7589520" y="128016"/>
            <a:ext cx="12801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ADVANCED</a:t>
            </a:r>
            <a:endParaRPr lang="en-US" sz="1000" dirty="0"/>
          </a:p>
        </p:txBody>
      </p:sp>
      <p:sp>
        <p:nvSpPr>
          <p:cNvPr id="6" name="Text 4"/>
          <p:cNvSpPr/>
          <p:nvPr/>
        </p:nvSpPr>
        <p:spPr>
          <a:xfrm>
            <a:off x="228600" y="658368"/>
            <a:ext cx="8686800" cy="256032"/>
          </a:xfrm>
          <a:prstGeom prst="rect">
            <a:avLst/>
          </a:prstGeom>
          <a:noFill/>
          <a:ln/>
        </p:spPr>
        <p:txBody>
          <a:bodyPr wrap="square" lIns="0" tIns="0" rIns="0" bIns="0" rtlCol="0" anchor="ctr"/>
          <a:lstStyle/>
          <a:p>
            <a:pPr indent="0" marL="0">
              <a:buNone/>
            </a:pPr>
            <a:r>
              <a:rPr lang="en-US" sz="1150" i="1" dirty="0">
                <a:solidFill>
                  <a:srgbClr val="475569"/>
                </a:solidFill>
                <a:latin typeface="Calibri" pitchFamily="34" charset="0"/>
                <a:ea typeface="Calibri" pitchFamily="34" charset="-122"/>
                <a:cs typeface="Calibri" pitchFamily="34" charset="-120"/>
              </a:rPr>
              <a:t>@dataclass writes __init__, __repr__, and __eq__ automatically from fields</a:t>
            </a:r>
            <a:endParaRPr lang="en-US" sz="1150" dirty="0"/>
          </a:p>
        </p:txBody>
      </p:sp>
      <p:sp>
        <p:nvSpPr>
          <p:cNvPr id="7" name="Shape 5"/>
          <p:cNvSpPr/>
          <p:nvPr/>
        </p:nvSpPr>
        <p:spPr>
          <a:xfrm>
            <a:off x="201168" y="960120"/>
            <a:ext cx="4251960" cy="685800"/>
          </a:xfrm>
          <a:prstGeom prst="rect">
            <a:avLst/>
          </a:prstGeom>
          <a:solidFill>
            <a:srgbClr val="FFFBEB"/>
          </a:solidFill>
          <a:ln w="12700">
            <a:solidFill>
              <a:srgbClr val="FCD34D"/>
            </a:solidFill>
            <a:prstDash val="solid"/>
          </a:ln>
        </p:spPr>
      </p:sp>
      <p:sp>
        <p:nvSpPr>
          <p:cNvPr id="8" name="Text 6"/>
          <p:cNvSpPr/>
          <p:nvPr/>
        </p:nvSpPr>
        <p:spPr>
          <a:xfrm>
            <a:off x="310896" y="996696"/>
            <a:ext cx="4032504" cy="201168"/>
          </a:xfrm>
          <a:prstGeom prst="rect">
            <a:avLst/>
          </a:prstGeom>
          <a:noFill/>
          <a:ln/>
        </p:spPr>
        <p:txBody>
          <a:bodyPr wrap="square" lIns="0" tIns="0" rIns="0" bIns="0" rtlCol="0" anchor="ctr"/>
          <a:lstStyle/>
          <a:p>
            <a:pPr indent="0" marL="0">
              <a:buNone/>
            </a:pPr>
            <a:r>
              <a:rPr lang="en-US" sz="950" b="1" dirty="0">
                <a:solidFill>
                  <a:srgbClr val="B45309"/>
                </a:solidFill>
                <a:latin typeface="Calibri" pitchFamily="34" charset="0"/>
                <a:ea typeface="Calibri" pitchFamily="34" charset="-122"/>
                <a:cs typeface="Calibri" pitchFamily="34" charset="-120"/>
              </a:rPr>
              <a:t>Think of it like...</a:t>
            </a:r>
            <a:endParaRPr lang="en-US" sz="950" dirty="0"/>
          </a:p>
        </p:txBody>
      </p:sp>
      <p:sp>
        <p:nvSpPr>
          <p:cNvPr id="9" name="Text 7"/>
          <p:cNvSpPr/>
          <p:nvPr/>
        </p:nvSpPr>
        <p:spPr>
          <a:xfrm>
            <a:off x="310896" y="1179576"/>
            <a:ext cx="4032504" cy="420624"/>
          </a:xfrm>
          <a:prstGeom prst="rect">
            <a:avLst/>
          </a:prstGeom>
          <a:noFill/>
          <a:ln/>
        </p:spPr>
        <p:txBody>
          <a:bodyPr wrap="square" lIns="0" tIns="0" rIns="0" bIns="0" rtlCol="0" anchor="t"/>
          <a:lstStyle/>
          <a:p>
            <a:pPr indent="0" marL="0">
              <a:buNone/>
            </a:pPr>
            <a:r>
              <a:rPr lang="en-US" sz="1000" dirty="0">
                <a:solidFill>
                  <a:srgbClr val="1A2340"/>
                </a:solidFill>
                <a:latin typeface="Calibri" pitchFamily="34" charset="0"/>
                <a:ea typeface="Calibri" pitchFamily="34" charset="-122"/>
                <a:cs typeface="Calibri" pitchFamily="34" charset="-120"/>
              </a:rPr>
              <a:t>📋  Student ID Card Template — Pre-printed fields (Name, Grade, Roll No). Just fill in the data.</a:t>
            </a:r>
            <a:endParaRPr lang="en-US" sz="1000" dirty="0"/>
          </a:p>
        </p:txBody>
      </p:sp>
      <p:sp>
        <p:nvSpPr>
          <p:cNvPr id="10" name="Shape 8"/>
          <p:cNvSpPr/>
          <p:nvPr/>
        </p:nvSpPr>
        <p:spPr>
          <a:xfrm>
            <a:off x="201168" y="1709928"/>
            <a:ext cx="4251960" cy="713232"/>
          </a:xfrm>
          <a:prstGeom prst="rect">
            <a:avLst/>
          </a:prstGeom>
          <a:solidFill>
            <a:srgbClr val="EBF3FF"/>
          </a:solidFill>
          <a:ln w="12700">
            <a:solidFill>
              <a:srgbClr val="BFDBFE"/>
            </a:solidFill>
            <a:prstDash val="solid"/>
          </a:ln>
        </p:spPr>
      </p:sp>
      <p:sp>
        <p:nvSpPr>
          <p:cNvPr id="11" name="Text 9"/>
          <p:cNvSpPr/>
          <p:nvPr/>
        </p:nvSpPr>
        <p:spPr>
          <a:xfrm>
            <a:off x="310896" y="1746504"/>
            <a:ext cx="4032504" cy="201168"/>
          </a:xfrm>
          <a:prstGeom prst="rect">
            <a:avLst/>
          </a:prstGeom>
          <a:noFill/>
          <a:ln/>
        </p:spPr>
        <p:txBody>
          <a:bodyPr wrap="square" lIns="0" tIns="0" rIns="0" bIns="0" rtlCol="0" anchor="ctr"/>
          <a:lstStyle/>
          <a:p>
            <a:pPr indent="0" marL="0">
              <a:buNone/>
            </a:pPr>
            <a:r>
              <a:rPr lang="en-US" sz="950" b="1" dirty="0">
                <a:solidFill>
                  <a:srgbClr val="1D4ED8"/>
                </a:solidFill>
                <a:latin typeface="Calibri" pitchFamily="34" charset="0"/>
                <a:ea typeface="Calibri" pitchFamily="34" charset="-122"/>
                <a:cs typeface="Calibri" pitchFamily="34" charset="-120"/>
              </a:rPr>
              <a:t>📖  What is it?</a:t>
            </a:r>
            <a:endParaRPr lang="en-US" sz="950" dirty="0"/>
          </a:p>
        </p:txBody>
      </p:sp>
      <p:sp>
        <p:nvSpPr>
          <p:cNvPr id="12" name="Text 10"/>
          <p:cNvSpPr/>
          <p:nvPr/>
        </p:nvSpPr>
        <p:spPr>
          <a:xfrm>
            <a:off x="310896" y="1947672"/>
            <a:ext cx="4032504" cy="420624"/>
          </a:xfrm>
          <a:prstGeom prst="rect">
            <a:avLst/>
          </a:prstGeom>
          <a:noFill/>
          <a:ln/>
        </p:spPr>
        <p:txBody>
          <a:bodyPr wrap="square" lIns="0" tIns="0" rIns="0" bIns="0" rtlCol="0" anchor="t"/>
          <a:lstStyle/>
          <a:p>
            <a:pPr indent="0" marL="0">
              <a:buNone/>
            </a:pPr>
            <a:r>
              <a:rPr lang="en-US" sz="1000" dirty="0">
                <a:solidFill>
                  <a:srgbClr val="1A2340"/>
                </a:solidFill>
                <a:latin typeface="Calibri" pitchFamily="34" charset="0"/>
                <a:ea typeface="Calibri" pitchFamily="34" charset="-122"/>
                <a:cs typeface="Calibri" pitchFamily="34" charset="-120"/>
              </a:rPr>
              <a:t>Declare fields with types. Python generates all boilerplate. Use field(default_factory=list) for lists — never use = [] as a default.</a:t>
            </a:r>
            <a:endParaRPr lang="en-US" sz="1000" dirty="0"/>
          </a:p>
        </p:txBody>
      </p:sp>
      <p:sp>
        <p:nvSpPr>
          <p:cNvPr id="13" name="Shape 11"/>
          <p:cNvSpPr/>
          <p:nvPr/>
        </p:nvSpPr>
        <p:spPr>
          <a:xfrm>
            <a:off x="201168" y="2487168"/>
            <a:ext cx="4251960" cy="777240"/>
          </a:xfrm>
          <a:prstGeom prst="rect">
            <a:avLst/>
          </a:prstGeom>
          <a:solidFill>
            <a:srgbClr val="F0FDF4"/>
          </a:solidFill>
          <a:ln w="12700">
            <a:solidFill>
              <a:srgbClr val="86EFAC"/>
            </a:solidFill>
            <a:prstDash val="solid"/>
          </a:ln>
        </p:spPr>
      </p:sp>
      <p:sp>
        <p:nvSpPr>
          <p:cNvPr id="14" name="Text 12"/>
          <p:cNvSpPr/>
          <p:nvPr/>
        </p:nvSpPr>
        <p:spPr>
          <a:xfrm>
            <a:off x="310896" y="2523744"/>
            <a:ext cx="4032504" cy="201168"/>
          </a:xfrm>
          <a:prstGeom prst="rect">
            <a:avLst/>
          </a:prstGeom>
          <a:noFill/>
          <a:ln/>
        </p:spPr>
        <p:txBody>
          <a:bodyPr wrap="square" lIns="0" tIns="0" rIns="0" bIns="0" rtlCol="0" anchor="ctr"/>
          <a:lstStyle/>
          <a:p>
            <a:pPr indent="0" marL="0">
              <a:buNone/>
            </a:pPr>
            <a:r>
              <a:rPr lang="en-US" sz="950" b="1" dirty="0">
                <a:solidFill>
                  <a:srgbClr val="15803D"/>
                </a:solidFill>
                <a:latin typeface="Calibri" pitchFamily="34" charset="0"/>
                <a:ea typeface="Calibri" pitchFamily="34" charset="-122"/>
                <a:cs typeface="Calibri" pitchFamily="34" charset="-120"/>
              </a:rPr>
              <a:t>🏢  Real World Examples</a:t>
            </a:r>
            <a:endParaRPr lang="en-US" sz="950" dirty="0"/>
          </a:p>
        </p:txBody>
      </p:sp>
      <p:sp>
        <p:nvSpPr>
          <p:cNvPr id="15" name="Text 13"/>
          <p:cNvSpPr/>
          <p:nvPr/>
        </p:nvSpPr>
        <p:spPr>
          <a:xfrm>
            <a:off x="310896" y="2724912"/>
            <a:ext cx="4032504" cy="502920"/>
          </a:xfrm>
          <a:prstGeom prst="rect">
            <a:avLst/>
          </a:prstGeom>
          <a:noFill/>
          <a:ln/>
        </p:spPr>
        <p:txBody>
          <a:bodyPr wrap="square" lIns="0" tIns="0" rIns="0" bIns="0" rtlCol="0" anchor="t"/>
          <a:lstStyle/>
          <a:p>
            <a:pPr indent="0" marL="0">
              <a:buNone/>
            </a:pPr>
            <a:r>
              <a:rPr lang="en-US" sz="950" dirty="0">
                <a:solidFill>
                  <a:srgbClr val="1A2340"/>
                </a:solidFill>
                <a:latin typeface="Calibri" pitchFamily="34" charset="0"/>
                <a:ea typeface="Calibri" pitchFamily="34" charset="-122"/>
                <a:cs typeface="Calibri" pitchFamily="34" charset="-120"/>
              </a:rPr>
              <a:t>Zomato OrderItem(name, qty, price) — dataclass with auto __repr__.</a:t>
            </a:r>
            <a:endParaRPr lang="en-US" sz="950" dirty="0"/>
          </a:p>
          <a:p>
            <a:pPr indent="0" marL="0">
              <a:buNone/>
            </a:pPr>
            <a:r>
              <a:rPr lang="en-US" sz="950" dirty="0">
                <a:solidFill>
                  <a:srgbClr val="1A2340"/>
                </a:solidFill>
                <a:latin typeface="Calibri" pitchFamily="34" charset="0"/>
                <a:ea typeface="Calibri" pitchFamily="34" charset="-122"/>
                <a:cs typeface="Calibri" pitchFamily="34" charset="-120"/>
              </a:rPr>
              <a:t>FastAPI request models use dataclasses/Pydantic — auto validation + docs.</a:t>
            </a:r>
            <a:endParaRPr lang="en-US" sz="950" dirty="0"/>
          </a:p>
        </p:txBody>
      </p:sp>
      <p:sp>
        <p:nvSpPr>
          <p:cNvPr id="16" name="Shape 14"/>
          <p:cNvSpPr/>
          <p:nvPr/>
        </p:nvSpPr>
        <p:spPr>
          <a:xfrm>
            <a:off x="4617720" y="960120"/>
            <a:ext cx="4315968" cy="3182112"/>
          </a:xfrm>
          <a:prstGeom prst="rect">
            <a:avLst/>
          </a:prstGeom>
          <a:solidFill>
            <a:srgbClr val="141E2C"/>
          </a:solidFill>
          <a:ln w="12700">
            <a:solidFill>
              <a:srgbClr val="2D3F55"/>
            </a:solidFill>
            <a:prstDash val="solid"/>
          </a:ln>
        </p:spPr>
      </p:sp>
      <p:sp>
        <p:nvSpPr>
          <p:cNvPr id="17" name="Text 15"/>
          <p:cNvSpPr/>
          <p:nvPr/>
        </p:nvSpPr>
        <p:spPr>
          <a:xfrm>
            <a:off x="4727448" y="1069848"/>
            <a:ext cx="4096512" cy="2999232"/>
          </a:xfrm>
          <a:prstGeom prst="rect">
            <a:avLst/>
          </a:prstGeom>
          <a:noFill/>
          <a:ln/>
        </p:spPr>
        <p:txBody>
          <a:bodyPr wrap="square" lIns="0" tIns="0" rIns="0" bIns="0" rtlCol="0" anchor="t"/>
          <a:lstStyle/>
          <a:p>
            <a:pPr indent="0" marL="0">
              <a:buNone/>
            </a:pPr>
            <a:r>
              <a:rPr lang="en-US" sz="950" dirty="0">
                <a:solidFill>
                  <a:srgbClr val="6B7280"/>
                </a:solidFill>
                <a:latin typeface="Consolas" pitchFamily="34" charset="0"/>
                <a:ea typeface="Consolas" pitchFamily="34" charset="-122"/>
                <a:cs typeface="Consolas" pitchFamily="34" charset="-120"/>
              </a:rPr>
              <a:t># Python</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from dataclasses import dataclass, field</a:t>
            </a:r>
            <a:endParaRPr lang="en-US" sz="950" dirty="0"/>
          </a:p>
          <a:p>
            <a:pPr indent="0" marL="0">
              <a:buNone/>
            </a:pPr>
            <a:endParaRPr lang="en-US" sz="950" dirty="0"/>
          </a:p>
          <a:p>
            <a:pPr indent="0" marL="0">
              <a:buNone/>
            </a:pPr>
            <a:r>
              <a:rPr lang="en-US" sz="950" dirty="0">
                <a:solidFill>
                  <a:srgbClr val="FCD34D"/>
                </a:solidFill>
                <a:latin typeface="Consolas" pitchFamily="34" charset="0"/>
                <a:ea typeface="Consolas" pitchFamily="34" charset="-122"/>
                <a:cs typeface="Consolas" pitchFamily="34" charset="-120"/>
              </a:rPr>
              <a:t>@dataclass</a:t>
            </a:r>
            <a:endParaRPr lang="en-US" sz="950" dirty="0"/>
          </a:p>
          <a:p>
            <a:pPr indent="0" marL="0">
              <a:buNone/>
            </a:pPr>
            <a:r>
              <a:rPr lang="en-US" sz="950" dirty="0">
                <a:solidFill>
                  <a:srgbClr val="FCD34D"/>
                </a:solidFill>
                <a:latin typeface="Consolas" pitchFamily="34" charset="0"/>
                <a:ea typeface="Consolas" pitchFamily="34" charset="-122"/>
                <a:cs typeface="Consolas" pitchFamily="34" charset="-120"/>
              </a:rPr>
              <a:t>class Student:</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name  : str</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grade : int</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marks : list = field(default_factory=list)</a:t>
            </a:r>
            <a:endParaRPr lang="en-US" sz="950" dirty="0"/>
          </a:p>
          <a:p>
            <a:pPr indent="0" marL="0">
              <a:buNone/>
            </a:pP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alice = Student('Alice', 5, [90,85,92])</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print(alice)  # Student(name='Alice', grade=5, marks=[90,85,92])</a:t>
            </a:r>
            <a:endParaRPr lang="en-US" sz="950" dirty="0"/>
          </a:p>
        </p:txBody>
      </p:sp>
      <p:sp>
        <p:nvSpPr>
          <p:cNvPr id="18" name="Text 16"/>
          <p:cNvSpPr/>
          <p:nvPr/>
        </p:nvSpPr>
        <p:spPr>
          <a:xfrm>
            <a:off x="5120640" y="4846320"/>
            <a:ext cx="3840480" cy="201168"/>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Ruthran Raghavan, Chief AI Scientist</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B3A6B"/>
          </a:solidFill>
          <a:ln w="12700">
            <a:solidFill>
              <a:srgbClr val="1B3A6B"/>
            </a:solidFill>
            <a:prstDash val="solid"/>
          </a:ln>
        </p:spPr>
      </p:sp>
      <p:sp>
        <p:nvSpPr>
          <p:cNvPr id="3" name="Text 1"/>
          <p:cNvSpPr/>
          <p:nvPr/>
        </p:nvSpPr>
        <p:spPr>
          <a:xfrm>
            <a:off x="274320" y="0"/>
            <a:ext cx="7132320" cy="56692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Concept 10  —  Mixins</a:t>
            </a:r>
            <a:endParaRPr lang="en-US" sz="1700" dirty="0"/>
          </a:p>
        </p:txBody>
      </p:sp>
      <p:sp>
        <p:nvSpPr>
          <p:cNvPr id="4" name="Shape 2"/>
          <p:cNvSpPr/>
          <p:nvPr/>
        </p:nvSpPr>
        <p:spPr>
          <a:xfrm>
            <a:off x="7589520" y="128016"/>
            <a:ext cx="1280160" cy="310896"/>
          </a:xfrm>
          <a:prstGeom prst="roundRect">
            <a:avLst>
              <a:gd name="adj" fmla="val 17647"/>
            </a:avLst>
          </a:prstGeom>
          <a:solidFill>
            <a:srgbClr val="7C3AED"/>
          </a:solidFill>
          <a:ln w="12700">
            <a:solidFill>
              <a:srgbClr val="7C3AED"/>
            </a:solidFill>
            <a:prstDash val="solid"/>
          </a:ln>
        </p:spPr>
      </p:sp>
      <p:sp>
        <p:nvSpPr>
          <p:cNvPr id="5" name="Text 3"/>
          <p:cNvSpPr/>
          <p:nvPr/>
        </p:nvSpPr>
        <p:spPr>
          <a:xfrm>
            <a:off x="7589520" y="128016"/>
            <a:ext cx="12801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ADVANCED</a:t>
            </a:r>
            <a:endParaRPr lang="en-US" sz="1000" dirty="0"/>
          </a:p>
        </p:txBody>
      </p:sp>
      <p:sp>
        <p:nvSpPr>
          <p:cNvPr id="6" name="Text 4"/>
          <p:cNvSpPr/>
          <p:nvPr/>
        </p:nvSpPr>
        <p:spPr>
          <a:xfrm>
            <a:off x="228600" y="658368"/>
            <a:ext cx="8686800" cy="256032"/>
          </a:xfrm>
          <a:prstGeom prst="rect">
            <a:avLst/>
          </a:prstGeom>
          <a:noFill/>
          <a:ln/>
        </p:spPr>
        <p:txBody>
          <a:bodyPr wrap="square" lIns="0" tIns="0" rIns="0" bIns="0" rtlCol="0" anchor="ctr"/>
          <a:lstStyle/>
          <a:p>
            <a:pPr indent="0" marL="0">
              <a:buNone/>
            </a:pPr>
            <a:r>
              <a:rPr lang="en-US" sz="1150" i="1" dirty="0">
                <a:solidFill>
                  <a:srgbClr val="475569"/>
                </a:solidFill>
                <a:latin typeface="Calibri" pitchFamily="34" charset="0"/>
                <a:ea typeface="Calibri" pitchFamily="34" charset="-122"/>
                <a:cs typeface="Calibri" pitchFamily="34" charset="-120"/>
              </a:rPr>
              <a:t>Small add-on classes that give any class a specific extra ability</a:t>
            </a:r>
            <a:endParaRPr lang="en-US" sz="1150" dirty="0"/>
          </a:p>
        </p:txBody>
      </p:sp>
      <p:sp>
        <p:nvSpPr>
          <p:cNvPr id="7" name="Shape 5"/>
          <p:cNvSpPr/>
          <p:nvPr/>
        </p:nvSpPr>
        <p:spPr>
          <a:xfrm>
            <a:off x="201168" y="960120"/>
            <a:ext cx="4251960" cy="685800"/>
          </a:xfrm>
          <a:prstGeom prst="rect">
            <a:avLst/>
          </a:prstGeom>
          <a:solidFill>
            <a:srgbClr val="FFFBEB"/>
          </a:solidFill>
          <a:ln w="12700">
            <a:solidFill>
              <a:srgbClr val="FCD34D"/>
            </a:solidFill>
            <a:prstDash val="solid"/>
          </a:ln>
        </p:spPr>
      </p:sp>
      <p:sp>
        <p:nvSpPr>
          <p:cNvPr id="8" name="Text 6"/>
          <p:cNvSpPr/>
          <p:nvPr/>
        </p:nvSpPr>
        <p:spPr>
          <a:xfrm>
            <a:off x="310896" y="996696"/>
            <a:ext cx="4032504" cy="201168"/>
          </a:xfrm>
          <a:prstGeom prst="rect">
            <a:avLst/>
          </a:prstGeom>
          <a:noFill/>
          <a:ln/>
        </p:spPr>
        <p:txBody>
          <a:bodyPr wrap="square" lIns="0" tIns="0" rIns="0" bIns="0" rtlCol="0" anchor="ctr"/>
          <a:lstStyle/>
          <a:p>
            <a:pPr indent="0" marL="0">
              <a:buNone/>
            </a:pPr>
            <a:r>
              <a:rPr lang="en-US" sz="950" b="1" dirty="0">
                <a:solidFill>
                  <a:srgbClr val="B45309"/>
                </a:solidFill>
                <a:latin typeface="Calibri" pitchFamily="34" charset="0"/>
                <a:ea typeface="Calibri" pitchFamily="34" charset="-122"/>
                <a:cs typeface="Calibri" pitchFamily="34" charset="-120"/>
              </a:rPr>
              <a:t>Think of it like...</a:t>
            </a:r>
            <a:endParaRPr lang="en-US" sz="950" dirty="0"/>
          </a:p>
        </p:txBody>
      </p:sp>
      <p:sp>
        <p:nvSpPr>
          <p:cNvPr id="9" name="Text 7"/>
          <p:cNvSpPr/>
          <p:nvPr/>
        </p:nvSpPr>
        <p:spPr>
          <a:xfrm>
            <a:off x="310896" y="1179576"/>
            <a:ext cx="4032504" cy="420624"/>
          </a:xfrm>
          <a:prstGeom prst="rect">
            <a:avLst/>
          </a:prstGeom>
          <a:noFill/>
          <a:ln/>
        </p:spPr>
        <p:txBody>
          <a:bodyPr wrap="square" lIns="0" tIns="0" rIns="0" bIns="0" rtlCol="0" anchor="t"/>
          <a:lstStyle/>
          <a:p>
            <a:pPr indent="0" marL="0">
              <a:buNone/>
            </a:pPr>
            <a:r>
              <a:rPr lang="en-US" sz="1000" dirty="0">
                <a:solidFill>
                  <a:srgbClr val="1A2340"/>
                </a:solidFill>
                <a:latin typeface="Calibri" pitchFamily="34" charset="0"/>
                <a:ea typeface="Calibri" pitchFamily="34" charset="-122"/>
                <a:cs typeface="Calibri" pitchFamily="34" charset="-120"/>
              </a:rPr>
              <a:t>🎮  Game Power-Ups — Attach a LoggingPowerUp and instantly your character logs everything. Attach RetryPowerUp and it retries on failure.</a:t>
            </a:r>
            <a:endParaRPr lang="en-US" sz="1000" dirty="0"/>
          </a:p>
        </p:txBody>
      </p:sp>
      <p:sp>
        <p:nvSpPr>
          <p:cNvPr id="10" name="Shape 8"/>
          <p:cNvSpPr/>
          <p:nvPr/>
        </p:nvSpPr>
        <p:spPr>
          <a:xfrm>
            <a:off x="201168" y="1709928"/>
            <a:ext cx="4251960" cy="713232"/>
          </a:xfrm>
          <a:prstGeom prst="rect">
            <a:avLst/>
          </a:prstGeom>
          <a:solidFill>
            <a:srgbClr val="EBF3FF"/>
          </a:solidFill>
          <a:ln w="12700">
            <a:solidFill>
              <a:srgbClr val="BFDBFE"/>
            </a:solidFill>
            <a:prstDash val="solid"/>
          </a:ln>
        </p:spPr>
      </p:sp>
      <p:sp>
        <p:nvSpPr>
          <p:cNvPr id="11" name="Text 9"/>
          <p:cNvSpPr/>
          <p:nvPr/>
        </p:nvSpPr>
        <p:spPr>
          <a:xfrm>
            <a:off x="310896" y="1746504"/>
            <a:ext cx="4032504" cy="201168"/>
          </a:xfrm>
          <a:prstGeom prst="rect">
            <a:avLst/>
          </a:prstGeom>
          <a:noFill/>
          <a:ln/>
        </p:spPr>
        <p:txBody>
          <a:bodyPr wrap="square" lIns="0" tIns="0" rIns="0" bIns="0" rtlCol="0" anchor="ctr"/>
          <a:lstStyle/>
          <a:p>
            <a:pPr indent="0" marL="0">
              <a:buNone/>
            </a:pPr>
            <a:r>
              <a:rPr lang="en-US" sz="950" b="1" dirty="0">
                <a:solidFill>
                  <a:srgbClr val="1D4ED8"/>
                </a:solidFill>
                <a:latin typeface="Calibri" pitchFamily="34" charset="0"/>
                <a:ea typeface="Calibri" pitchFamily="34" charset="-122"/>
                <a:cs typeface="Calibri" pitchFamily="34" charset="-120"/>
              </a:rPr>
              <a:t>📖  What is it?</a:t>
            </a:r>
            <a:endParaRPr lang="en-US" sz="950" dirty="0"/>
          </a:p>
        </p:txBody>
      </p:sp>
      <p:sp>
        <p:nvSpPr>
          <p:cNvPr id="12" name="Text 10"/>
          <p:cNvSpPr/>
          <p:nvPr/>
        </p:nvSpPr>
        <p:spPr>
          <a:xfrm>
            <a:off x="310896" y="1947672"/>
            <a:ext cx="4032504" cy="420624"/>
          </a:xfrm>
          <a:prstGeom prst="rect">
            <a:avLst/>
          </a:prstGeom>
          <a:noFill/>
          <a:ln/>
        </p:spPr>
        <p:txBody>
          <a:bodyPr wrap="square" lIns="0" tIns="0" rIns="0" bIns="0" rtlCol="0" anchor="t"/>
          <a:lstStyle/>
          <a:p>
            <a:pPr indent="0" marL="0">
              <a:buNone/>
            </a:pPr>
            <a:r>
              <a:rPr lang="en-US" sz="1000" dirty="0">
                <a:solidFill>
                  <a:srgbClr val="1A2340"/>
                </a:solidFill>
                <a:latin typeface="Calibri" pitchFamily="34" charset="0"/>
                <a:ea typeface="Calibri" pitchFamily="34" charset="-122"/>
                <a:cs typeface="Calibri" pitchFamily="34" charset="-120"/>
              </a:rPr>
              <a:t>Mixins add ONE behaviour via multiple inheritance. List them before the main class. Use getattr(self, 'name', ...) to safely access host attributes.</a:t>
            </a:r>
            <a:endParaRPr lang="en-US" sz="1000" dirty="0"/>
          </a:p>
        </p:txBody>
      </p:sp>
      <p:sp>
        <p:nvSpPr>
          <p:cNvPr id="13" name="Shape 11"/>
          <p:cNvSpPr/>
          <p:nvPr/>
        </p:nvSpPr>
        <p:spPr>
          <a:xfrm>
            <a:off x="201168" y="2487168"/>
            <a:ext cx="4251960" cy="777240"/>
          </a:xfrm>
          <a:prstGeom prst="rect">
            <a:avLst/>
          </a:prstGeom>
          <a:solidFill>
            <a:srgbClr val="F0FDF4"/>
          </a:solidFill>
          <a:ln w="12700">
            <a:solidFill>
              <a:srgbClr val="86EFAC"/>
            </a:solidFill>
            <a:prstDash val="solid"/>
          </a:ln>
        </p:spPr>
      </p:sp>
      <p:sp>
        <p:nvSpPr>
          <p:cNvPr id="14" name="Text 12"/>
          <p:cNvSpPr/>
          <p:nvPr/>
        </p:nvSpPr>
        <p:spPr>
          <a:xfrm>
            <a:off x="310896" y="2523744"/>
            <a:ext cx="4032504" cy="201168"/>
          </a:xfrm>
          <a:prstGeom prst="rect">
            <a:avLst/>
          </a:prstGeom>
          <a:noFill/>
          <a:ln/>
        </p:spPr>
        <p:txBody>
          <a:bodyPr wrap="square" lIns="0" tIns="0" rIns="0" bIns="0" rtlCol="0" anchor="ctr"/>
          <a:lstStyle/>
          <a:p>
            <a:pPr indent="0" marL="0">
              <a:buNone/>
            </a:pPr>
            <a:r>
              <a:rPr lang="en-US" sz="950" b="1" dirty="0">
                <a:solidFill>
                  <a:srgbClr val="15803D"/>
                </a:solidFill>
                <a:latin typeface="Calibri" pitchFamily="34" charset="0"/>
                <a:ea typeface="Calibri" pitchFamily="34" charset="-122"/>
                <a:cs typeface="Calibri" pitchFamily="34" charset="-120"/>
              </a:rPr>
              <a:t>🏢  Real World Examples</a:t>
            </a:r>
            <a:endParaRPr lang="en-US" sz="950" dirty="0"/>
          </a:p>
        </p:txBody>
      </p:sp>
      <p:sp>
        <p:nvSpPr>
          <p:cNvPr id="15" name="Text 13"/>
          <p:cNvSpPr/>
          <p:nvPr/>
        </p:nvSpPr>
        <p:spPr>
          <a:xfrm>
            <a:off x="310896" y="2724912"/>
            <a:ext cx="4032504" cy="502920"/>
          </a:xfrm>
          <a:prstGeom prst="rect">
            <a:avLst/>
          </a:prstGeom>
          <a:noFill/>
          <a:ln/>
        </p:spPr>
        <p:txBody>
          <a:bodyPr wrap="square" lIns="0" tIns="0" rIns="0" bIns="0" rtlCol="0" anchor="t"/>
          <a:lstStyle/>
          <a:p>
            <a:pPr indent="0" marL="0">
              <a:buNone/>
            </a:pPr>
            <a:r>
              <a:rPr lang="en-US" sz="950" dirty="0">
                <a:solidFill>
                  <a:srgbClr val="1A2340"/>
                </a:solidFill>
                <a:latin typeface="Calibri" pitchFamily="34" charset="0"/>
                <a:ea typeface="Calibri" pitchFamily="34" charset="-122"/>
                <a:cs typeface="Calibri" pitchFamily="34" charset="-120"/>
              </a:rPr>
              <a:t>Django LoginRequiredMixin — attach to any view and it auto-checks login.</a:t>
            </a:r>
            <a:endParaRPr lang="en-US" sz="950" dirty="0"/>
          </a:p>
          <a:p>
            <a:pPr indent="0" marL="0">
              <a:buNone/>
            </a:pPr>
            <a:r>
              <a:rPr lang="en-US" sz="950" dirty="0">
                <a:solidFill>
                  <a:srgbClr val="1A2340"/>
                </a:solidFill>
                <a:latin typeface="Calibri" pitchFamily="34" charset="0"/>
                <a:ea typeface="Calibri" pitchFamily="34" charset="-122"/>
                <a:cs typeface="Calibri" pitchFamily="34" charset="-120"/>
              </a:rPr>
              <a:t>DRF IsAuthenticatedMixin — attach to any API endpoint.</a:t>
            </a:r>
            <a:endParaRPr lang="en-US" sz="950" dirty="0"/>
          </a:p>
        </p:txBody>
      </p:sp>
      <p:sp>
        <p:nvSpPr>
          <p:cNvPr id="16" name="Shape 14"/>
          <p:cNvSpPr/>
          <p:nvPr/>
        </p:nvSpPr>
        <p:spPr>
          <a:xfrm>
            <a:off x="4617720" y="960120"/>
            <a:ext cx="4315968" cy="3182112"/>
          </a:xfrm>
          <a:prstGeom prst="rect">
            <a:avLst/>
          </a:prstGeom>
          <a:solidFill>
            <a:srgbClr val="141E2C"/>
          </a:solidFill>
          <a:ln w="12700">
            <a:solidFill>
              <a:srgbClr val="2D3F55"/>
            </a:solidFill>
            <a:prstDash val="solid"/>
          </a:ln>
        </p:spPr>
      </p:sp>
      <p:sp>
        <p:nvSpPr>
          <p:cNvPr id="17" name="Text 15"/>
          <p:cNvSpPr/>
          <p:nvPr/>
        </p:nvSpPr>
        <p:spPr>
          <a:xfrm>
            <a:off x="4727448" y="1069848"/>
            <a:ext cx="4096512" cy="2999232"/>
          </a:xfrm>
          <a:prstGeom prst="rect">
            <a:avLst/>
          </a:prstGeom>
          <a:noFill/>
          <a:ln/>
        </p:spPr>
        <p:txBody>
          <a:bodyPr wrap="square" lIns="0" tIns="0" rIns="0" bIns="0" rtlCol="0" anchor="t"/>
          <a:lstStyle/>
          <a:p>
            <a:pPr indent="0" marL="0">
              <a:buNone/>
            </a:pPr>
            <a:r>
              <a:rPr lang="en-US" sz="950" dirty="0">
                <a:solidFill>
                  <a:srgbClr val="6B7280"/>
                </a:solidFill>
                <a:latin typeface="Consolas" pitchFamily="34" charset="0"/>
                <a:ea typeface="Consolas" pitchFamily="34" charset="-122"/>
                <a:cs typeface="Consolas" pitchFamily="34" charset="-120"/>
              </a:rPr>
              <a:t># Python</a:t>
            </a:r>
            <a:endParaRPr lang="en-US" sz="950" dirty="0"/>
          </a:p>
          <a:p>
            <a:pPr indent="0" marL="0">
              <a:buNone/>
            </a:pPr>
            <a:r>
              <a:rPr lang="en-US" sz="950" dirty="0">
                <a:solidFill>
                  <a:srgbClr val="FCD34D"/>
                </a:solidFill>
                <a:latin typeface="Consolas" pitchFamily="34" charset="0"/>
                <a:ea typeface="Consolas" pitchFamily="34" charset="-122"/>
                <a:cs typeface="Consolas" pitchFamily="34" charset="-120"/>
              </a:rPr>
              <a:t>class LogMixin:</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def log(self,msg):</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print(f'[LOG] {self.name}: {msg}')</a:t>
            </a:r>
            <a:endParaRPr lang="en-US" sz="950" dirty="0"/>
          </a:p>
          <a:p>
            <a:pPr indent="0" marL="0">
              <a:buNone/>
            </a:pPr>
            <a:endParaRPr lang="en-US" sz="950" dirty="0"/>
          </a:p>
          <a:p>
            <a:pPr indent="0" marL="0">
              <a:buNone/>
            </a:pPr>
            <a:r>
              <a:rPr lang="en-US" sz="950" dirty="0">
                <a:solidFill>
                  <a:srgbClr val="FCD34D"/>
                </a:solidFill>
                <a:latin typeface="Consolas" pitchFamily="34" charset="0"/>
                <a:ea typeface="Consolas" pitchFamily="34" charset="-122"/>
                <a:cs typeface="Consolas" pitchFamily="34" charset="-120"/>
              </a:rPr>
              <a:t>class SaveMixin:</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def save(self):</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print(f'[SAVE] {self.name} saved!')</a:t>
            </a:r>
            <a:endParaRPr lang="en-US" sz="950" dirty="0"/>
          </a:p>
          <a:p>
            <a:pPr indent="0" marL="0">
              <a:buNone/>
            </a:pPr>
            <a:endParaRPr lang="en-US" sz="950" dirty="0"/>
          </a:p>
          <a:p>
            <a:pPr indent="0" marL="0">
              <a:buNone/>
            </a:pPr>
            <a:r>
              <a:rPr lang="en-US" sz="950" dirty="0">
                <a:solidFill>
                  <a:srgbClr val="FCD34D"/>
                </a:solidFill>
                <a:latin typeface="Consolas" pitchFamily="34" charset="0"/>
                <a:ea typeface="Consolas" pitchFamily="34" charset="-122"/>
                <a:cs typeface="Consolas" pitchFamily="34" charset="-120"/>
              </a:rPr>
              <a:t>class SmartBot(LogMixin, SaveMixin, Bot):</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def do(self,t): self.log(t); self.save()</a:t>
            </a:r>
            <a:endParaRPr lang="en-US" sz="950" dirty="0"/>
          </a:p>
        </p:txBody>
      </p:sp>
      <p:sp>
        <p:nvSpPr>
          <p:cNvPr id="18" name="Text 16"/>
          <p:cNvSpPr/>
          <p:nvPr/>
        </p:nvSpPr>
        <p:spPr>
          <a:xfrm>
            <a:off x="5120640" y="4846320"/>
            <a:ext cx="3840480" cy="201168"/>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Ruthran Raghavan, Chief AI Scientist</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B3A6B"/>
          </a:solidFill>
          <a:ln w="12700">
            <a:solidFill>
              <a:srgbClr val="1B3A6B"/>
            </a:solidFill>
            <a:prstDash val="solid"/>
          </a:ln>
        </p:spPr>
      </p:sp>
      <p:sp>
        <p:nvSpPr>
          <p:cNvPr id="3" name="Text 1"/>
          <p:cNvSpPr/>
          <p:nvPr/>
        </p:nvSpPr>
        <p:spPr>
          <a:xfrm>
            <a:off x="274320" y="0"/>
            <a:ext cx="7132320" cy="56692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Concept 11  —  Context Managers</a:t>
            </a:r>
            <a:endParaRPr lang="en-US" sz="1700" dirty="0"/>
          </a:p>
        </p:txBody>
      </p:sp>
      <p:sp>
        <p:nvSpPr>
          <p:cNvPr id="4" name="Shape 2"/>
          <p:cNvSpPr/>
          <p:nvPr/>
        </p:nvSpPr>
        <p:spPr>
          <a:xfrm>
            <a:off x="7589520" y="128016"/>
            <a:ext cx="1280160" cy="310896"/>
          </a:xfrm>
          <a:prstGeom prst="roundRect">
            <a:avLst>
              <a:gd name="adj" fmla="val 17647"/>
            </a:avLst>
          </a:prstGeom>
          <a:solidFill>
            <a:srgbClr val="7C3AED"/>
          </a:solidFill>
          <a:ln w="12700">
            <a:solidFill>
              <a:srgbClr val="7C3AED"/>
            </a:solidFill>
            <a:prstDash val="solid"/>
          </a:ln>
        </p:spPr>
      </p:sp>
      <p:sp>
        <p:nvSpPr>
          <p:cNvPr id="5" name="Text 3"/>
          <p:cNvSpPr/>
          <p:nvPr/>
        </p:nvSpPr>
        <p:spPr>
          <a:xfrm>
            <a:off x="7589520" y="128016"/>
            <a:ext cx="12801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ADVANCED</a:t>
            </a:r>
            <a:endParaRPr lang="en-US" sz="1000" dirty="0"/>
          </a:p>
        </p:txBody>
      </p:sp>
      <p:sp>
        <p:nvSpPr>
          <p:cNvPr id="6" name="Text 4"/>
          <p:cNvSpPr/>
          <p:nvPr/>
        </p:nvSpPr>
        <p:spPr>
          <a:xfrm>
            <a:off x="228600" y="658368"/>
            <a:ext cx="8686800" cy="256032"/>
          </a:xfrm>
          <a:prstGeom prst="rect">
            <a:avLst/>
          </a:prstGeom>
          <a:noFill/>
          <a:ln/>
        </p:spPr>
        <p:txBody>
          <a:bodyPr wrap="square" lIns="0" tIns="0" rIns="0" bIns="0" rtlCol="0" anchor="ctr"/>
          <a:lstStyle/>
          <a:p>
            <a:pPr indent="0" marL="0">
              <a:buNone/>
            </a:pPr>
            <a:r>
              <a:rPr lang="en-US" sz="1150" i="1" dirty="0">
                <a:solidFill>
                  <a:srgbClr val="475569"/>
                </a:solidFill>
                <a:latin typeface="Calibri" pitchFamily="34" charset="0"/>
                <a:ea typeface="Calibri" pitchFamily="34" charset="-122"/>
                <a:cs typeface="Calibri" pitchFamily="34" charset="-120"/>
              </a:rPr>
              <a:t>__enter__ sets up a resource. __exit__ ALWAYS cleans up — even on error.</a:t>
            </a:r>
            <a:endParaRPr lang="en-US" sz="1150" dirty="0"/>
          </a:p>
        </p:txBody>
      </p:sp>
      <p:sp>
        <p:nvSpPr>
          <p:cNvPr id="7" name="Shape 5"/>
          <p:cNvSpPr/>
          <p:nvPr/>
        </p:nvSpPr>
        <p:spPr>
          <a:xfrm>
            <a:off x="201168" y="960120"/>
            <a:ext cx="4251960" cy="685800"/>
          </a:xfrm>
          <a:prstGeom prst="rect">
            <a:avLst/>
          </a:prstGeom>
          <a:solidFill>
            <a:srgbClr val="FFFBEB"/>
          </a:solidFill>
          <a:ln w="12700">
            <a:solidFill>
              <a:srgbClr val="FCD34D"/>
            </a:solidFill>
            <a:prstDash val="solid"/>
          </a:ln>
        </p:spPr>
      </p:sp>
      <p:sp>
        <p:nvSpPr>
          <p:cNvPr id="8" name="Text 6"/>
          <p:cNvSpPr/>
          <p:nvPr/>
        </p:nvSpPr>
        <p:spPr>
          <a:xfrm>
            <a:off x="310896" y="996696"/>
            <a:ext cx="4032504" cy="201168"/>
          </a:xfrm>
          <a:prstGeom prst="rect">
            <a:avLst/>
          </a:prstGeom>
          <a:noFill/>
          <a:ln/>
        </p:spPr>
        <p:txBody>
          <a:bodyPr wrap="square" lIns="0" tIns="0" rIns="0" bIns="0" rtlCol="0" anchor="ctr"/>
          <a:lstStyle/>
          <a:p>
            <a:pPr indent="0" marL="0">
              <a:buNone/>
            </a:pPr>
            <a:r>
              <a:rPr lang="en-US" sz="950" b="1" dirty="0">
                <a:solidFill>
                  <a:srgbClr val="B45309"/>
                </a:solidFill>
                <a:latin typeface="Calibri" pitchFamily="34" charset="0"/>
                <a:ea typeface="Calibri" pitchFamily="34" charset="-122"/>
                <a:cs typeface="Calibri" pitchFamily="34" charset="-120"/>
              </a:rPr>
              <a:t>Think of it like...</a:t>
            </a:r>
            <a:endParaRPr lang="en-US" sz="950" dirty="0"/>
          </a:p>
        </p:txBody>
      </p:sp>
      <p:sp>
        <p:nvSpPr>
          <p:cNvPr id="9" name="Text 7"/>
          <p:cNvSpPr/>
          <p:nvPr/>
        </p:nvSpPr>
        <p:spPr>
          <a:xfrm>
            <a:off x="310896" y="1179576"/>
            <a:ext cx="4032504" cy="420624"/>
          </a:xfrm>
          <a:prstGeom prst="rect">
            <a:avLst/>
          </a:prstGeom>
          <a:noFill/>
          <a:ln/>
        </p:spPr>
        <p:txBody>
          <a:bodyPr wrap="square" lIns="0" tIns="0" rIns="0" bIns="0" rtlCol="0" anchor="t"/>
          <a:lstStyle/>
          <a:p>
            <a:pPr indent="0" marL="0">
              <a:buNone/>
            </a:pPr>
            <a:r>
              <a:rPr lang="en-US" sz="1000" dirty="0">
                <a:solidFill>
                  <a:srgbClr val="1A2340"/>
                </a:solidFill>
                <a:latin typeface="Calibri" pitchFamily="34" charset="0"/>
                <a:ea typeface="Calibri" pitchFamily="34" charset="-122"/>
                <a:cs typeface="Calibri" pitchFamily="34" charset="-120"/>
              </a:rPr>
              <a:t>📚  Library Book — Automatically 'checked back in' when you leave, even if you forget or something goes wrong.</a:t>
            </a:r>
            <a:endParaRPr lang="en-US" sz="1000" dirty="0"/>
          </a:p>
        </p:txBody>
      </p:sp>
      <p:sp>
        <p:nvSpPr>
          <p:cNvPr id="10" name="Shape 8"/>
          <p:cNvSpPr/>
          <p:nvPr/>
        </p:nvSpPr>
        <p:spPr>
          <a:xfrm>
            <a:off x="201168" y="1709928"/>
            <a:ext cx="4251960" cy="713232"/>
          </a:xfrm>
          <a:prstGeom prst="rect">
            <a:avLst/>
          </a:prstGeom>
          <a:solidFill>
            <a:srgbClr val="EBF3FF"/>
          </a:solidFill>
          <a:ln w="12700">
            <a:solidFill>
              <a:srgbClr val="BFDBFE"/>
            </a:solidFill>
            <a:prstDash val="solid"/>
          </a:ln>
        </p:spPr>
      </p:sp>
      <p:sp>
        <p:nvSpPr>
          <p:cNvPr id="11" name="Text 9"/>
          <p:cNvSpPr/>
          <p:nvPr/>
        </p:nvSpPr>
        <p:spPr>
          <a:xfrm>
            <a:off x="310896" y="1746504"/>
            <a:ext cx="4032504" cy="201168"/>
          </a:xfrm>
          <a:prstGeom prst="rect">
            <a:avLst/>
          </a:prstGeom>
          <a:noFill/>
          <a:ln/>
        </p:spPr>
        <p:txBody>
          <a:bodyPr wrap="square" lIns="0" tIns="0" rIns="0" bIns="0" rtlCol="0" anchor="ctr"/>
          <a:lstStyle/>
          <a:p>
            <a:pPr indent="0" marL="0">
              <a:buNone/>
            </a:pPr>
            <a:r>
              <a:rPr lang="en-US" sz="950" b="1" dirty="0">
                <a:solidFill>
                  <a:srgbClr val="1D4ED8"/>
                </a:solidFill>
                <a:latin typeface="Calibri" pitchFamily="34" charset="0"/>
                <a:ea typeface="Calibri" pitchFamily="34" charset="-122"/>
                <a:cs typeface="Calibri" pitchFamily="34" charset="-120"/>
              </a:rPr>
              <a:t>📖  What is it?</a:t>
            </a:r>
            <a:endParaRPr lang="en-US" sz="950" dirty="0"/>
          </a:p>
        </p:txBody>
      </p:sp>
      <p:sp>
        <p:nvSpPr>
          <p:cNvPr id="12" name="Text 10"/>
          <p:cNvSpPr/>
          <p:nvPr/>
        </p:nvSpPr>
        <p:spPr>
          <a:xfrm>
            <a:off x="310896" y="1947672"/>
            <a:ext cx="4032504" cy="420624"/>
          </a:xfrm>
          <a:prstGeom prst="rect">
            <a:avLst/>
          </a:prstGeom>
          <a:noFill/>
          <a:ln/>
        </p:spPr>
        <p:txBody>
          <a:bodyPr wrap="square" lIns="0" tIns="0" rIns="0" bIns="0" rtlCol="0" anchor="t"/>
          <a:lstStyle/>
          <a:p>
            <a:pPr indent="0" marL="0">
              <a:buNone/>
            </a:pPr>
            <a:r>
              <a:rPr lang="en-US" sz="1000" dirty="0">
                <a:solidFill>
                  <a:srgbClr val="1A2340"/>
                </a:solidFill>
                <a:latin typeface="Calibri" pitchFamily="34" charset="0"/>
                <a:ea typeface="Calibri" pitchFamily="34" charset="-122"/>
                <a:cs typeface="Calibri" pitchFamily="34" charset="-120"/>
              </a:rPr>
              <a:t>'with' block calls __enter__ on entry and __exit__ on exit. Return True from __exit__ to swallow exceptions. Perfect for timers, DB connections, file handles.</a:t>
            </a:r>
            <a:endParaRPr lang="en-US" sz="1000" dirty="0"/>
          </a:p>
        </p:txBody>
      </p:sp>
      <p:sp>
        <p:nvSpPr>
          <p:cNvPr id="13" name="Shape 11"/>
          <p:cNvSpPr/>
          <p:nvPr/>
        </p:nvSpPr>
        <p:spPr>
          <a:xfrm>
            <a:off x="201168" y="2487168"/>
            <a:ext cx="4251960" cy="777240"/>
          </a:xfrm>
          <a:prstGeom prst="rect">
            <a:avLst/>
          </a:prstGeom>
          <a:solidFill>
            <a:srgbClr val="F0FDF4"/>
          </a:solidFill>
          <a:ln w="12700">
            <a:solidFill>
              <a:srgbClr val="86EFAC"/>
            </a:solidFill>
            <a:prstDash val="solid"/>
          </a:ln>
        </p:spPr>
      </p:sp>
      <p:sp>
        <p:nvSpPr>
          <p:cNvPr id="14" name="Text 12"/>
          <p:cNvSpPr/>
          <p:nvPr/>
        </p:nvSpPr>
        <p:spPr>
          <a:xfrm>
            <a:off x="310896" y="2523744"/>
            <a:ext cx="4032504" cy="201168"/>
          </a:xfrm>
          <a:prstGeom prst="rect">
            <a:avLst/>
          </a:prstGeom>
          <a:noFill/>
          <a:ln/>
        </p:spPr>
        <p:txBody>
          <a:bodyPr wrap="square" lIns="0" tIns="0" rIns="0" bIns="0" rtlCol="0" anchor="ctr"/>
          <a:lstStyle/>
          <a:p>
            <a:pPr indent="0" marL="0">
              <a:buNone/>
            </a:pPr>
            <a:r>
              <a:rPr lang="en-US" sz="950" b="1" dirty="0">
                <a:solidFill>
                  <a:srgbClr val="15803D"/>
                </a:solidFill>
                <a:latin typeface="Calibri" pitchFamily="34" charset="0"/>
                <a:ea typeface="Calibri" pitchFamily="34" charset="-122"/>
                <a:cs typeface="Calibri" pitchFamily="34" charset="-120"/>
              </a:rPr>
              <a:t>🏢  Real World Examples</a:t>
            </a:r>
            <a:endParaRPr lang="en-US" sz="950" dirty="0"/>
          </a:p>
        </p:txBody>
      </p:sp>
      <p:sp>
        <p:nvSpPr>
          <p:cNvPr id="15" name="Text 13"/>
          <p:cNvSpPr/>
          <p:nvPr/>
        </p:nvSpPr>
        <p:spPr>
          <a:xfrm>
            <a:off x="310896" y="2724912"/>
            <a:ext cx="4032504" cy="502920"/>
          </a:xfrm>
          <a:prstGeom prst="rect">
            <a:avLst/>
          </a:prstGeom>
          <a:noFill/>
          <a:ln/>
        </p:spPr>
        <p:txBody>
          <a:bodyPr wrap="square" lIns="0" tIns="0" rIns="0" bIns="0" rtlCol="0" anchor="t"/>
          <a:lstStyle/>
          <a:p>
            <a:pPr indent="0" marL="0">
              <a:buNone/>
            </a:pPr>
            <a:r>
              <a:rPr lang="en-US" sz="950" dirty="0">
                <a:solidFill>
                  <a:srgbClr val="1A2340"/>
                </a:solidFill>
                <a:latin typeface="Calibri" pitchFamily="34" charset="0"/>
                <a:ea typeface="Calibri" pitchFamily="34" charset="-122"/>
                <a:cs typeface="Calibri" pitchFamily="34" charset="-120"/>
              </a:rPr>
              <a:t>Python open() — file always closes with 'with open()'</a:t>
            </a:r>
            <a:endParaRPr lang="en-US" sz="950" dirty="0"/>
          </a:p>
          <a:p>
            <a:pPr indent="0" marL="0">
              <a:buNone/>
            </a:pPr>
            <a:r>
              <a:rPr lang="en-US" sz="950" dirty="0">
                <a:solidFill>
                  <a:srgbClr val="1A2340"/>
                </a:solidFill>
                <a:latin typeface="Calibri" pitchFamily="34" charset="0"/>
                <a:ea typeface="Calibri" pitchFamily="34" charset="-122"/>
                <a:cs typeface="Calibri" pitchFamily="34" charset="-120"/>
              </a:rPr>
              <a:t>Django DB transactions — 'with transaction.atomic()' always rolls back on error.</a:t>
            </a:r>
            <a:endParaRPr lang="en-US" sz="950" dirty="0"/>
          </a:p>
          <a:p>
            <a:pPr indent="0" marL="0">
              <a:buNone/>
            </a:pPr>
            <a:r>
              <a:rPr lang="en-US" sz="950" dirty="0">
                <a:solidFill>
                  <a:srgbClr val="1A2340"/>
                </a:solidFill>
                <a:latin typeface="Calibri" pitchFamily="34" charset="0"/>
                <a:ea typeface="Calibri" pitchFamily="34" charset="-122"/>
                <a:cs typeface="Calibri" pitchFamily="34" charset="-120"/>
              </a:rPr>
              <a:t>AWS Boto3 — 'with boto3.client()' cleans up connections.</a:t>
            </a:r>
            <a:endParaRPr lang="en-US" sz="950" dirty="0"/>
          </a:p>
        </p:txBody>
      </p:sp>
      <p:sp>
        <p:nvSpPr>
          <p:cNvPr id="16" name="Shape 14"/>
          <p:cNvSpPr/>
          <p:nvPr/>
        </p:nvSpPr>
        <p:spPr>
          <a:xfrm>
            <a:off x="4617720" y="960120"/>
            <a:ext cx="4315968" cy="3182112"/>
          </a:xfrm>
          <a:prstGeom prst="rect">
            <a:avLst/>
          </a:prstGeom>
          <a:solidFill>
            <a:srgbClr val="141E2C"/>
          </a:solidFill>
          <a:ln w="12700">
            <a:solidFill>
              <a:srgbClr val="2D3F55"/>
            </a:solidFill>
            <a:prstDash val="solid"/>
          </a:ln>
        </p:spPr>
      </p:sp>
      <p:sp>
        <p:nvSpPr>
          <p:cNvPr id="17" name="Text 15"/>
          <p:cNvSpPr/>
          <p:nvPr/>
        </p:nvSpPr>
        <p:spPr>
          <a:xfrm>
            <a:off x="4727448" y="1069848"/>
            <a:ext cx="4096512" cy="2999232"/>
          </a:xfrm>
          <a:prstGeom prst="rect">
            <a:avLst/>
          </a:prstGeom>
          <a:noFill/>
          <a:ln/>
        </p:spPr>
        <p:txBody>
          <a:bodyPr wrap="square" lIns="0" tIns="0" rIns="0" bIns="0" rtlCol="0" anchor="t"/>
          <a:lstStyle/>
          <a:p>
            <a:pPr indent="0" marL="0">
              <a:buNone/>
            </a:pPr>
            <a:r>
              <a:rPr lang="en-US" sz="950" dirty="0">
                <a:solidFill>
                  <a:srgbClr val="6B7280"/>
                </a:solidFill>
                <a:latin typeface="Consolas" pitchFamily="34" charset="0"/>
                <a:ea typeface="Consolas" pitchFamily="34" charset="-122"/>
                <a:cs typeface="Consolas" pitchFamily="34" charset="-120"/>
              </a:rPr>
              <a:t># Python</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import time</a:t>
            </a:r>
            <a:endParaRPr lang="en-US" sz="950" dirty="0"/>
          </a:p>
          <a:p>
            <a:pPr indent="0" marL="0">
              <a:buNone/>
            </a:pPr>
            <a:r>
              <a:rPr lang="en-US" sz="950" dirty="0">
                <a:solidFill>
                  <a:srgbClr val="FCD34D"/>
                </a:solidFill>
                <a:latin typeface="Consolas" pitchFamily="34" charset="0"/>
                <a:ea typeface="Consolas" pitchFamily="34" charset="-122"/>
                <a:cs typeface="Consolas" pitchFamily="34" charset="-120"/>
              </a:rPr>
              <a:t>class TaskTimer:</a:t>
            </a:r>
            <a:endParaRPr lang="en-US" sz="950" dirty="0"/>
          </a:p>
          <a:p>
            <a:pPr indent="0" marL="0">
              <a:buNone/>
            </a:pPr>
            <a:r>
              <a:rPr lang="en-US" sz="950" dirty="0">
                <a:solidFill>
                  <a:srgbClr val="F9A8D4"/>
                </a:solidFill>
                <a:latin typeface="Consolas" pitchFamily="34" charset="0"/>
                <a:ea typeface="Consolas" pitchFamily="34" charset="-122"/>
                <a:cs typeface="Consolas" pitchFamily="34" charset="-120"/>
              </a:rPr>
              <a:t>    def __enter__(self):</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self._t = time.perf_counter(); return self</a:t>
            </a:r>
            <a:endParaRPr lang="en-US" sz="950" dirty="0"/>
          </a:p>
          <a:p>
            <a:pPr indent="0" marL="0">
              <a:buNone/>
            </a:pPr>
            <a:r>
              <a:rPr lang="en-US" sz="950" dirty="0">
                <a:solidFill>
                  <a:srgbClr val="F9A8D4"/>
                </a:solidFill>
                <a:latin typeface="Consolas" pitchFamily="34" charset="0"/>
                <a:ea typeface="Consolas" pitchFamily="34" charset="-122"/>
                <a:cs typeface="Consolas" pitchFamily="34" charset="-120"/>
              </a:rPr>
              <a:t>    def __exit__(self, err_type, err, tb):</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self.ms = (time.perf_counter()-self._t)*1000</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return True  # swallow errors</a:t>
            </a:r>
            <a:endParaRPr lang="en-US" sz="950" dirty="0"/>
          </a:p>
          <a:p>
            <a:pPr indent="0" marL="0">
              <a:buNone/>
            </a:pP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with TaskTimer() as t: do_search()</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print(f'Took {t.ms:.1f}ms')</a:t>
            </a:r>
            <a:endParaRPr lang="en-US" sz="950" dirty="0"/>
          </a:p>
        </p:txBody>
      </p:sp>
      <p:sp>
        <p:nvSpPr>
          <p:cNvPr id="18" name="Text 16"/>
          <p:cNvSpPr/>
          <p:nvPr/>
        </p:nvSpPr>
        <p:spPr>
          <a:xfrm>
            <a:off x="5120640" y="4846320"/>
            <a:ext cx="3840480" cy="201168"/>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Ruthran Raghavan, Chief AI Scientist</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B3A6B"/>
          </a:solidFill>
          <a:ln w="12700">
            <a:solidFill>
              <a:srgbClr val="1B3A6B"/>
            </a:solidFill>
            <a:prstDash val="solid"/>
          </a:ln>
        </p:spPr>
      </p:sp>
      <p:sp>
        <p:nvSpPr>
          <p:cNvPr id="3" name="Text 1"/>
          <p:cNvSpPr/>
          <p:nvPr/>
        </p:nvSpPr>
        <p:spPr>
          <a:xfrm>
            <a:off x="274320" y="0"/>
            <a:ext cx="7132320" cy="56692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Concept 12  —  __slots__</a:t>
            </a:r>
            <a:endParaRPr lang="en-US" sz="1700" dirty="0"/>
          </a:p>
        </p:txBody>
      </p:sp>
      <p:sp>
        <p:nvSpPr>
          <p:cNvPr id="4" name="Shape 2"/>
          <p:cNvSpPr/>
          <p:nvPr/>
        </p:nvSpPr>
        <p:spPr>
          <a:xfrm>
            <a:off x="7589520" y="128016"/>
            <a:ext cx="1280160" cy="310896"/>
          </a:xfrm>
          <a:prstGeom prst="roundRect">
            <a:avLst>
              <a:gd name="adj" fmla="val 17647"/>
            </a:avLst>
          </a:prstGeom>
          <a:solidFill>
            <a:srgbClr val="7C3AED"/>
          </a:solidFill>
          <a:ln w="12700">
            <a:solidFill>
              <a:srgbClr val="7C3AED"/>
            </a:solidFill>
            <a:prstDash val="solid"/>
          </a:ln>
        </p:spPr>
      </p:sp>
      <p:sp>
        <p:nvSpPr>
          <p:cNvPr id="5" name="Text 3"/>
          <p:cNvSpPr/>
          <p:nvPr/>
        </p:nvSpPr>
        <p:spPr>
          <a:xfrm>
            <a:off x="7589520" y="128016"/>
            <a:ext cx="128016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ADVANCED</a:t>
            </a:r>
            <a:endParaRPr lang="en-US" sz="1000" dirty="0"/>
          </a:p>
        </p:txBody>
      </p:sp>
      <p:sp>
        <p:nvSpPr>
          <p:cNvPr id="6" name="Text 4"/>
          <p:cNvSpPr/>
          <p:nvPr/>
        </p:nvSpPr>
        <p:spPr>
          <a:xfrm>
            <a:off x="228600" y="658368"/>
            <a:ext cx="8686800" cy="256032"/>
          </a:xfrm>
          <a:prstGeom prst="rect">
            <a:avLst/>
          </a:prstGeom>
          <a:noFill/>
          <a:ln/>
        </p:spPr>
        <p:txBody>
          <a:bodyPr wrap="square" lIns="0" tIns="0" rIns="0" bIns="0" rtlCol="0" anchor="ctr"/>
          <a:lstStyle/>
          <a:p>
            <a:pPr indent="0" marL="0">
              <a:buNone/>
            </a:pPr>
            <a:r>
              <a:rPr lang="en-US" sz="1150" i="1" dirty="0">
                <a:solidFill>
                  <a:srgbClr val="475569"/>
                </a:solidFill>
                <a:latin typeface="Calibri" pitchFamily="34" charset="0"/>
                <a:ea typeface="Calibri" pitchFamily="34" charset="-122"/>
                <a:cs typeface="Calibri" pitchFamily="34" charset="-120"/>
              </a:rPr>
              <a:t>Replace the per-instance __dict__ with a fixed C-level struct to save memory</a:t>
            </a:r>
            <a:endParaRPr lang="en-US" sz="1150" dirty="0"/>
          </a:p>
        </p:txBody>
      </p:sp>
      <p:sp>
        <p:nvSpPr>
          <p:cNvPr id="7" name="Shape 5"/>
          <p:cNvSpPr/>
          <p:nvPr/>
        </p:nvSpPr>
        <p:spPr>
          <a:xfrm>
            <a:off x="201168" y="960120"/>
            <a:ext cx="4251960" cy="685800"/>
          </a:xfrm>
          <a:prstGeom prst="rect">
            <a:avLst/>
          </a:prstGeom>
          <a:solidFill>
            <a:srgbClr val="FFFBEB"/>
          </a:solidFill>
          <a:ln w="12700">
            <a:solidFill>
              <a:srgbClr val="FCD34D"/>
            </a:solidFill>
            <a:prstDash val="solid"/>
          </a:ln>
        </p:spPr>
      </p:sp>
      <p:sp>
        <p:nvSpPr>
          <p:cNvPr id="8" name="Text 6"/>
          <p:cNvSpPr/>
          <p:nvPr/>
        </p:nvSpPr>
        <p:spPr>
          <a:xfrm>
            <a:off x="310896" y="996696"/>
            <a:ext cx="4032504" cy="201168"/>
          </a:xfrm>
          <a:prstGeom prst="rect">
            <a:avLst/>
          </a:prstGeom>
          <a:noFill/>
          <a:ln/>
        </p:spPr>
        <p:txBody>
          <a:bodyPr wrap="square" lIns="0" tIns="0" rIns="0" bIns="0" rtlCol="0" anchor="ctr"/>
          <a:lstStyle/>
          <a:p>
            <a:pPr indent="0" marL="0">
              <a:buNone/>
            </a:pPr>
            <a:r>
              <a:rPr lang="en-US" sz="950" b="1" dirty="0">
                <a:solidFill>
                  <a:srgbClr val="B45309"/>
                </a:solidFill>
                <a:latin typeface="Calibri" pitchFamily="34" charset="0"/>
                <a:ea typeface="Calibri" pitchFamily="34" charset="-122"/>
                <a:cs typeface="Calibri" pitchFamily="34" charset="-120"/>
              </a:rPr>
              <a:t>Think of it like...</a:t>
            </a:r>
            <a:endParaRPr lang="en-US" sz="950" dirty="0"/>
          </a:p>
        </p:txBody>
      </p:sp>
      <p:sp>
        <p:nvSpPr>
          <p:cNvPr id="9" name="Text 7"/>
          <p:cNvSpPr/>
          <p:nvPr/>
        </p:nvSpPr>
        <p:spPr>
          <a:xfrm>
            <a:off x="310896" y="1179576"/>
            <a:ext cx="4032504" cy="420624"/>
          </a:xfrm>
          <a:prstGeom prst="rect">
            <a:avLst/>
          </a:prstGeom>
          <a:noFill/>
          <a:ln/>
        </p:spPr>
        <p:txBody>
          <a:bodyPr wrap="square" lIns="0" tIns="0" rIns="0" bIns="0" rtlCol="0" anchor="t"/>
          <a:lstStyle/>
          <a:p>
            <a:pPr indent="0" marL="0">
              <a:buNone/>
            </a:pPr>
            <a:r>
              <a:rPr lang="en-US" sz="1000" dirty="0">
                <a:solidFill>
                  <a:srgbClr val="1A2340"/>
                </a:solidFill>
                <a:latin typeface="Calibri" pitchFamily="34" charset="0"/>
                <a:ea typeface="Calibri" pitchFamily="34" charset="-122"/>
                <a:cs typeface="Calibri" pitchFamily="34" charset="-120"/>
              </a:rPr>
              <a:t>🎒  School Locker — A locker has 3 fixed compartments (Maths, Science, English). You cannot add a 4th. But it's lighter and faster to open.</a:t>
            </a:r>
            <a:endParaRPr lang="en-US" sz="1000" dirty="0"/>
          </a:p>
        </p:txBody>
      </p:sp>
      <p:sp>
        <p:nvSpPr>
          <p:cNvPr id="10" name="Shape 8"/>
          <p:cNvSpPr/>
          <p:nvPr/>
        </p:nvSpPr>
        <p:spPr>
          <a:xfrm>
            <a:off x="201168" y="1709928"/>
            <a:ext cx="4251960" cy="713232"/>
          </a:xfrm>
          <a:prstGeom prst="rect">
            <a:avLst/>
          </a:prstGeom>
          <a:solidFill>
            <a:srgbClr val="EBF3FF"/>
          </a:solidFill>
          <a:ln w="12700">
            <a:solidFill>
              <a:srgbClr val="BFDBFE"/>
            </a:solidFill>
            <a:prstDash val="solid"/>
          </a:ln>
        </p:spPr>
      </p:sp>
      <p:sp>
        <p:nvSpPr>
          <p:cNvPr id="11" name="Text 9"/>
          <p:cNvSpPr/>
          <p:nvPr/>
        </p:nvSpPr>
        <p:spPr>
          <a:xfrm>
            <a:off x="310896" y="1746504"/>
            <a:ext cx="4032504" cy="201168"/>
          </a:xfrm>
          <a:prstGeom prst="rect">
            <a:avLst/>
          </a:prstGeom>
          <a:noFill/>
          <a:ln/>
        </p:spPr>
        <p:txBody>
          <a:bodyPr wrap="square" lIns="0" tIns="0" rIns="0" bIns="0" rtlCol="0" anchor="ctr"/>
          <a:lstStyle/>
          <a:p>
            <a:pPr indent="0" marL="0">
              <a:buNone/>
            </a:pPr>
            <a:r>
              <a:rPr lang="en-US" sz="950" b="1" dirty="0">
                <a:solidFill>
                  <a:srgbClr val="1D4ED8"/>
                </a:solidFill>
                <a:latin typeface="Calibri" pitchFamily="34" charset="0"/>
                <a:ea typeface="Calibri" pitchFamily="34" charset="-122"/>
                <a:cs typeface="Calibri" pitchFamily="34" charset="-120"/>
              </a:rPr>
              <a:t>📖  What is it?</a:t>
            </a:r>
            <a:endParaRPr lang="en-US" sz="950" dirty="0"/>
          </a:p>
        </p:txBody>
      </p:sp>
      <p:sp>
        <p:nvSpPr>
          <p:cNvPr id="12" name="Text 10"/>
          <p:cNvSpPr/>
          <p:nvPr/>
        </p:nvSpPr>
        <p:spPr>
          <a:xfrm>
            <a:off x="310896" y="1947672"/>
            <a:ext cx="4032504" cy="420624"/>
          </a:xfrm>
          <a:prstGeom prst="rect">
            <a:avLst/>
          </a:prstGeom>
          <a:noFill/>
          <a:ln/>
        </p:spPr>
        <p:txBody>
          <a:bodyPr wrap="square" lIns="0" tIns="0" rIns="0" bIns="0" rtlCol="0" anchor="t"/>
          <a:lstStyle/>
          <a:p>
            <a:pPr indent="0" marL="0">
              <a:buNone/>
            </a:pPr>
            <a:r>
              <a:rPr lang="en-US" sz="1000" dirty="0">
                <a:solidFill>
                  <a:srgbClr val="1A2340"/>
                </a:solidFill>
                <a:latin typeface="Calibri" pitchFamily="34" charset="0"/>
                <a:ea typeface="Calibri" pitchFamily="34" charset="-122"/>
                <a:cs typeface="Calibri" pitchFamily="34" charset="-120"/>
              </a:rPr>
              <a:t>__slots__ = ('user','text') tells Python: only these attributes, ever. No __dict__ is created. Saves 60–70% memory per instance.</a:t>
            </a:r>
            <a:endParaRPr lang="en-US" sz="1000" dirty="0"/>
          </a:p>
        </p:txBody>
      </p:sp>
      <p:sp>
        <p:nvSpPr>
          <p:cNvPr id="13" name="Shape 11"/>
          <p:cNvSpPr/>
          <p:nvPr/>
        </p:nvSpPr>
        <p:spPr>
          <a:xfrm>
            <a:off x="201168" y="2487168"/>
            <a:ext cx="4251960" cy="777240"/>
          </a:xfrm>
          <a:prstGeom prst="rect">
            <a:avLst/>
          </a:prstGeom>
          <a:solidFill>
            <a:srgbClr val="F0FDF4"/>
          </a:solidFill>
          <a:ln w="12700">
            <a:solidFill>
              <a:srgbClr val="86EFAC"/>
            </a:solidFill>
            <a:prstDash val="solid"/>
          </a:ln>
        </p:spPr>
      </p:sp>
      <p:sp>
        <p:nvSpPr>
          <p:cNvPr id="14" name="Text 12"/>
          <p:cNvSpPr/>
          <p:nvPr/>
        </p:nvSpPr>
        <p:spPr>
          <a:xfrm>
            <a:off x="310896" y="2523744"/>
            <a:ext cx="4032504" cy="201168"/>
          </a:xfrm>
          <a:prstGeom prst="rect">
            <a:avLst/>
          </a:prstGeom>
          <a:noFill/>
          <a:ln/>
        </p:spPr>
        <p:txBody>
          <a:bodyPr wrap="square" lIns="0" tIns="0" rIns="0" bIns="0" rtlCol="0" anchor="ctr"/>
          <a:lstStyle/>
          <a:p>
            <a:pPr indent="0" marL="0">
              <a:buNone/>
            </a:pPr>
            <a:r>
              <a:rPr lang="en-US" sz="950" b="1" dirty="0">
                <a:solidFill>
                  <a:srgbClr val="15803D"/>
                </a:solidFill>
                <a:latin typeface="Calibri" pitchFamily="34" charset="0"/>
                <a:ea typeface="Calibri" pitchFamily="34" charset="-122"/>
                <a:cs typeface="Calibri" pitchFamily="34" charset="-120"/>
              </a:rPr>
              <a:t>🏢  Real World Examples</a:t>
            </a:r>
            <a:endParaRPr lang="en-US" sz="950" dirty="0"/>
          </a:p>
        </p:txBody>
      </p:sp>
      <p:sp>
        <p:nvSpPr>
          <p:cNvPr id="15" name="Text 13"/>
          <p:cNvSpPr/>
          <p:nvPr/>
        </p:nvSpPr>
        <p:spPr>
          <a:xfrm>
            <a:off x="310896" y="2724912"/>
            <a:ext cx="4032504" cy="502920"/>
          </a:xfrm>
          <a:prstGeom prst="rect">
            <a:avLst/>
          </a:prstGeom>
          <a:noFill/>
          <a:ln/>
        </p:spPr>
        <p:txBody>
          <a:bodyPr wrap="square" lIns="0" tIns="0" rIns="0" bIns="0" rtlCol="0" anchor="t"/>
          <a:lstStyle/>
          <a:p>
            <a:pPr indent="0" marL="0">
              <a:buNone/>
            </a:pPr>
            <a:r>
              <a:rPr lang="en-US" sz="950" dirty="0">
                <a:solidFill>
                  <a:srgbClr val="1A2340"/>
                </a:solidFill>
                <a:latin typeface="Calibri" pitchFamily="34" charset="0"/>
                <a:ea typeface="Calibri" pitchFamily="34" charset="-122"/>
                <a:cs typeface="Calibri" pitchFamily="34" charset="-120"/>
              </a:rPr>
              <a:t>Twitter/X: TweetObject uses __slots__ — processing billions of tweets per day.</a:t>
            </a:r>
            <a:endParaRPr lang="en-US" sz="950" dirty="0"/>
          </a:p>
          <a:p>
            <a:pPr indent="0" marL="0">
              <a:buNone/>
            </a:pPr>
            <a:r>
              <a:rPr lang="en-US" sz="950" dirty="0">
                <a:solidFill>
                  <a:srgbClr val="1A2340"/>
                </a:solidFill>
                <a:latin typeface="Calibri" pitchFamily="34" charset="0"/>
                <a:ea typeface="Calibri" pitchFamily="34" charset="-122"/>
                <a:cs typeface="Calibri" pitchFamily="34" charset="-120"/>
              </a:rPr>
              <a:t>High-frequency trading firms (Citadel, Jane Street) use __slots__ for order objects.</a:t>
            </a:r>
            <a:endParaRPr lang="en-US" sz="950" dirty="0"/>
          </a:p>
          <a:p>
            <a:pPr indent="0" marL="0">
              <a:buNone/>
            </a:pPr>
            <a:r>
              <a:rPr lang="en-US" sz="950" dirty="0">
                <a:solidFill>
                  <a:srgbClr val="1A2340"/>
                </a:solidFill>
                <a:latin typeface="Calibri" pitchFamily="34" charset="0"/>
                <a:ea typeface="Calibri" pitchFamily="34" charset="-122"/>
                <a:cs typeface="Calibri" pitchFamily="34" charset="-120"/>
              </a:rPr>
              <a:t>Infosys trading platform uses __slots__ for real-time market tick data.</a:t>
            </a:r>
            <a:endParaRPr lang="en-US" sz="950" dirty="0"/>
          </a:p>
        </p:txBody>
      </p:sp>
      <p:sp>
        <p:nvSpPr>
          <p:cNvPr id="16" name="Shape 14"/>
          <p:cNvSpPr/>
          <p:nvPr/>
        </p:nvSpPr>
        <p:spPr>
          <a:xfrm>
            <a:off x="4617720" y="960120"/>
            <a:ext cx="4315968" cy="3182112"/>
          </a:xfrm>
          <a:prstGeom prst="rect">
            <a:avLst/>
          </a:prstGeom>
          <a:solidFill>
            <a:srgbClr val="141E2C"/>
          </a:solidFill>
          <a:ln w="12700">
            <a:solidFill>
              <a:srgbClr val="2D3F55"/>
            </a:solidFill>
            <a:prstDash val="solid"/>
          </a:ln>
        </p:spPr>
      </p:sp>
      <p:sp>
        <p:nvSpPr>
          <p:cNvPr id="17" name="Text 15"/>
          <p:cNvSpPr/>
          <p:nvPr/>
        </p:nvSpPr>
        <p:spPr>
          <a:xfrm>
            <a:off x="4727448" y="1069848"/>
            <a:ext cx="4096512" cy="2999232"/>
          </a:xfrm>
          <a:prstGeom prst="rect">
            <a:avLst/>
          </a:prstGeom>
          <a:noFill/>
          <a:ln/>
        </p:spPr>
        <p:txBody>
          <a:bodyPr wrap="square" lIns="0" tIns="0" rIns="0" bIns="0" rtlCol="0" anchor="t"/>
          <a:lstStyle/>
          <a:p>
            <a:pPr indent="0" marL="0">
              <a:buNone/>
            </a:pPr>
            <a:r>
              <a:rPr lang="en-US" sz="950" dirty="0">
                <a:solidFill>
                  <a:srgbClr val="6B7280"/>
                </a:solidFill>
                <a:latin typeface="Consolas" pitchFamily="34" charset="0"/>
                <a:ea typeface="Consolas" pitchFamily="34" charset="-122"/>
                <a:cs typeface="Consolas" pitchFamily="34" charset="-120"/>
              </a:rPr>
              <a:t># Python</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import sys</a:t>
            </a:r>
            <a:endParaRPr lang="en-US" sz="950" dirty="0"/>
          </a:p>
          <a:p>
            <a:pPr indent="0" marL="0">
              <a:buNone/>
            </a:pPr>
            <a:r>
              <a:rPr lang="en-US" sz="950" dirty="0">
                <a:solidFill>
                  <a:srgbClr val="FCD34D"/>
                </a:solidFill>
                <a:latin typeface="Consolas" pitchFamily="34" charset="0"/>
                <a:ea typeface="Consolas" pitchFamily="34" charset="-122"/>
                <a:cs typeface="Consolas" pitchFamily="34" charset="-120"/>
              </a:rPr>
              <a:t>class ChatMessage:         # normal</a:t>
            </a:r>
            <a:endParaRPr lang="en-US" sz="950" dirty="0"/>
          </a:p>
          <a:p>
            <a:pPr indent="0" marL="0">
              <a:buNone/>
            </a:pPr>
            <a:r>
              <a:rPr lang="en-US" sz="950" dirty="0">
                <a:solidFill>
                  <a:srgbClr val="F9A8D4"/>
                </a:solidFill>
                <a:latin typeface="Consolas" pitchFamily="34" charset="0"/>
                <a:ea typeface="Consolas" pitchFamily="34" charset="-122"/>
                <a:cs typeface="Consolas" pitchFamily="34" charset="-120"/>
              </a:rPr>
              <a:t>    def __init__(self,user,text):</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self.user,self.text=user,text</a:t>
            </a:r>
            <a:endParaRPr lang="en-US" sz="950" dirty="0"/>
          </a:p>
          <a:p>
            <a:pPr indent="0" marL="0">
              <a:buNone/>
            </a:pPr>
            <a:r>
              <a:rPr lang="en-US" sz="950" dirty="0">
                <a:solidFill>
                  <a:srgbClr val="FCD34D"/>
                </a:solidFill>
                <a:latin typeface="Consolas" pitchFamily="34" charset="0"/>
                <a:ea typeface="Consolas" pitchFamily="34" charset="-122"/>
                <a:cs typeface="Consolas" pitchFamily="34" charset="-120"/>
              </a:rPr>
              <a:t>class FastMessage:          # __slots__</a:t>
            </a:r>
            <a:endParaRPr lang="en-US" sz="950" dirty="0"/>
          </a:p>
          <a:p>
            <a:pPr indent="0" marL="0">
              <a:buNone/>
            </a:pPr>
            <a:r>
              <a:rPr lang="en-US" sz="950" dirty="0">
                <a:solidFill>
                  <a:srgbClr val="F9A8D4"/>
                </a:solidFill>
                <a:latin typeface="Consolas" pitchFamily="34" charset="0"/>
                <a:ea typeface="Consolas" pitchFamily="34" charset="-122"/>
                <a:cs typeface="Consolas" pitchFamily="34" charset="-120"/>
              </a:rPr>
              <a:t>    __slots__=('user','text')</a:t>
            </a:r>
            <a:endParaRPr lang="en-US" sz="950" dirty="0"/>
          </a:p>
          <a:p>
            <a:pPr indent="0" marL="0">
              <a:buNone/>
            </a:pPr>
            <a:r>
              <a:rPr lang="en-US" sz="950" dirty="0">
                <a:solidFill>
                  <a:srgbClr val="F9A8D4"/>
                </a:solidFill>
                <a:latin typeface="Consolas" pitchFamily="34" charset="0"/>
                <a:ea typeface="Consolas" pitchFamily="34" charset="-122"/>
                <a:cs typeface="Consolas" pitchFamily="34" charset="-120"/>
              </a:rPr>
              <a:t>    def __init__(self,user,text):</a:t>
            </a:r>
            <a:endParaRPr lang="en-US" sz="950" dirty="0"/>
          </a:p>
          <a:p>
            <a:pPr indent="0" marL="0">
              <a:buNone/>
            </a:pPr>
            <a:r>
              <a:rPr lang="en-US" sz="950" dirty="0">
                <a:solidFill>
                  <a:srgbClr val="93C5FD"/>
                </a:solidFill>
                <a:latin typeface="Consolas" pitchFamily="34" charset="0"/>
                <a:ea typeface="Consolas" pitchFamily="34" charset="-122"/>
                <a:cs typeface="Consolas" pitchFamily="34" charset="-120"/>
              </a:rPr>
              <a:t>        self.user,self.text=user,text</a:t>
            </a:r>
            <a:endParaRPr lang="en-US" sz="950" dirty="0"/>
          </a:p>
          <a:p>
            <a:pPr indent="0" marL="0">
              <a:buNone/>
            </a:pPr>
            <a:endParaRPr lang="en-US" sz="950" dirty="0"/>
          </a:p>
          <a:p>
            <a:pPr indent="0" marL="0">
              <a:buNone/>
            </a:pPr>
            <a:r>
              <a:rPr lang="en-US" sz="950" dirty="0">
                <a:solidFill>
                  <a:srgbClr val="6B7280"/>
                </a:solidFill>
                <a:latin typeface="Consolas" pitchFamily="34" charset="0"/>
                <a:ea typeface="Consolas" pitchFamily="34" charset="-122"/>
                <a:cs typeface="Consolas" pitchFamily="34" charset="-120"/>
              </a:rPr>
              <a:t># Saves 296B each  →  282 MB per million messages!</a:t>
            </a:r>
            <a:endParaRPr lang="en-US" sz="950" dirty="0"/>
          </a:p>
        </p:txBody>
      </p:sp>
      <p:sp>
        <p:nvSpPr>
          <p:cNvPr id="18" name="Text 16"/>
          <p:cNvSpPr/>
          <p:nvPr/>
        </p:nvSpPr>
        <p:spPr>
          <a:xfrm>
            <a:off x="5120640" y="4846320"/>
            <a:ext cx="3840480" cy="201168"/>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Ruthran Raghavan, Chief AI Scientist</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3A0D6E"/>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A855F7"/>
          </a:solidFill>
          <a:ln w="12700">
            <a:solidFill>
              <a:srgbClr val="A855F7"/>
            </a:solidFill>
            <a:prstDash val="solid"/>
          </a:ln>
        </p:spPr>
      </p:sp>
      <p:sp>
        <p:nvSpPr>
          <p:cNvPr id="3" name="Text 1"/>
          <p:cNvSpPr/>
          <p:nvPr/>
        </p:nvSpPr>
        <p:spPr>
          <a:xfrm>
            <a:off x="365760" y="914400"/>
            <a:ext cx="8503920" cy="457200"/>
          </a:xfrm>
          <a:prstGeom prst="rect">
            <a:avLst/>
          </a:prstGeom>
          <a:noFill/>
          <a:ln/>
        </p:spPr>
        <p:txBody>
          <a:bodyPr wrap="square" lIns="0" tIns="0" rIns="0" bIns="0" rtlCol="0" anchor="ctr"/>
          <a:lstStyle/>
          <a:p>
            <a:pPr indent="0" marL="0">
              <a:buNone/>
            </a:pPr>
            <a:r>
              <a:rPr lang="en-US" sz="2000" spc="600" kern="0" dirty="0">
                <a:solidFill>
                  <a:srgbClr val="D8B4FE"/>
                </a:solidFill>
                <a:latin typeface="Calibri" pitchFamily="34" charset="0"/>
                <a:ea typeface="Calibri" pitchFamily="34" charset="-122"/>
                <a:cs typeface="Calibri" pitchFamily="34" charset="-120"/>
              </a:rPr>
              <a:t>PART 2</a:t>
            </a:r>
            <a:endParaRPr lang="en-US" sz="2000" dirty="0"/>
          </a:p>
        </p:txBody>
      </p:sp>
      <p:sp>
        <p:nvSpPr>
          <p:cNvPr id="4" name="Text 2"/>
          <p:cNvSpPr/>
          <p:nvPr/>
        </p:nvSpPr>
        <p:spPr>
          <a:xfrm>
            <a:off x="365760" y="1371600"/>
            <a:ext cx="8503920" cy="73152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Modular Architecture</a:t>
            </a:r>
            <a:endParaRPr lang="en-US" sz="4400" dirty="0"/>
          </a:p>
        </p:txBody>
      </p:sp>
      <p:sp>
        <p:nvSpPr>
          <p:cNvPr id="5" name="Text 3"/>
          <p:cNvSpPr/>
          <p:nvPr/>
        </p:nvSpPr>
        <p:spPr>
          <a:xfrm>
            <a:off x="365760" y="2103120"/>
            <a:ext cx="8503920" cy="640080"/>
          </a:xfrm>
          <a:prstGeom prst="rect">
            <a:avLst/>
          </a:prstGeom>
          <a:noFill/>
          <a:ln/>
        </p:spPr>
        <p:txBody>
          <a:bodyPr wrap="square" lIns="0" tIns="0" rIns="0" bIns="0" rtlCol="0" anchor="ctr"/>
          <a:lstStyle/>
          <a:p>
            <a:pPr indent="0" marL="0">
              <a:buNone/>
            </a:pPr>
            <a:r>
              <a:rPr lang="en-US" sz="3000" dirty="0">
                <a:solidFill>
                  <a:srgbClr val="C4B5FD"/>
                </a:solidFill>
                <a:latin typeface="Calibri" pitchFamily="34" charset="0"/>
                <a:ea typeface="Calibri" pitchFamily="34" charset="-122"/>
                <a:cs typeface="Calibri" pitchFamily="34" charset="-120"/>
              </a:rPr>
              <a:t>Design Patterns</a:t>
            </a:r>
            <a:endParaRPr lang="en-US" sz="3000" dirty="0"/>
          </a:p>
        </p:txBody>
      </p:sp>
      <p:sp>
        <p:nvSpPr>
          <p:cNvPr id="6" name="Text 4"/>
          <p:cNvSpPr/>
          <p:nvPr/>
        </p:nvSpPr>
        <p:spPr>
          <a:xfrm>
            <a:off x="365760" y="2834640"/>
            <a:ext cx="8503920" cy="320040"/>
          </a:xfrm>
          <a:prstGeom prst="rect">
            <a:avLst/>
          </a:prstGeom>
          <a:noFill/>
          <a:ln/>
        </p:spPr>
        <p:txBody>
          <a:bodyPr wrap="square" lIns="0" tIns="0" rIns="0" bIns="0" rtlCol="0" anchor="ctr"/>
          <a:lstStyle/>
          <a:p>
            <a:pPr indent="0" marL="0">
              <a:buNone/>
            </a:pPr>
            <a:r>
              <a:rPr lang="en-US" sz="1300" i="1" dirty="0">
                <a:solidFill>
                  <a:srgbClr val="A78BFA"/>
                </a:solidFill>
                <a:latin typeface="Calibri" pitchFamily="34" charset="0"/>
                <a:ea typeface="Calibri" pitchFamily="34" charset="-122"/>
                <a:cs typeface="Calibri" pitchFamily="34" charset="-120"/>
              </a:rPr>
              <a:t>Famous American Companies  +  Famous Indian Companies  |  How they use each pattern</a:t>
            </a:r>
            <a:endParaRPr lang="en-US" sz="1300" dirty="0"/>
          </a:p>
        </p:txBody>
      </p:sp>
      <p:sp>
        <p:nvSpPr>
          <p:cNvPr id="7" name="Shape 5"/>
          <p:cNvSpPr/>
          <p:nvPr/>
        </p:nvSpPr>
        <p:spPr>
          <a:xfrm>
            <a:off x="365760" y="3337560"/>
            <a:ext cx="1261872" cy="310896"/>
          </a:xfrm>
          <a:prstGeom prst="roundRect">
            <a:avLst>
              <a:gd name="adj" fmla="val 14706"/>
            </a:avLst>
          </a:prstGeom>
          <a:solidFill>
            <a:srgbClr val="4C1D95"/>
          </a:solidFill>
          <a:ln w="12700">
            <a:solidFill>
              <a:srgbClr val="7C3AED"/>
            </a:solidFill>
            <a:prstDash val="solid"/>
          </a:ln>
        </p:spPr>
      </p:sp>
      <p:sp>
        <p:nvSpPr>
          <p:cNvPr id="8" name="Text 6"/>
          <p:cNvSpPr/>
          <p:nvPr/>
        </p:nvSpPr>
        <p:spPr>
          <a:xfrm>
            <a:off x="365760" y="3337560"/>
            <a:ext cx="1261872" cy="310896"/>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Layered</a:t>
            </a:r>
            <a:endParaRPr lang="en-US" sz="950" dirty="0"/>
          </a:p>
        </p:txBody>
      </p:sp>
      <p:sp>
        <p:nvSpPr>
          <p:cNvPr id="9" name="Shape 7"/>
          <p:cNvSpPr/>
          <p:nvPr/>
        </p:nvSpPr>
        <p:spPr>
          <a:xfrm>
            <a:off x="1792224" y="3337560"/>
            <a:ext cx="1261872" cy="310896"/>
          </a:xfrm>
          <a:prstGeom prst="roundRect">
            <a:avLst>
              <a:gd name="adj" fmla="val 14706"/>
            </a:avLst>
          </a:prstGeom>
          <a:solidFill>
            <a:srgbClr val="4C1D95"/>
          </a:solidFill>
          <a:ln w="12700">
            <a:solidFill>
              <a:srgbClr val="7C3AED"/>
            </a:solidFill>
            <a:prstDash val="solid"/>
          </a:ln>
        </p:spPr>
      </p:sp>
      <p:sp>
        <p:nvSpPr>
          <p:cNvPr id="10" name="Text 8"/>
          <p:cNvSpPr/>
          <p:nvPr/>
        </p:nvSpPr>
        <p:spPr>
          <a:xfrm>
            <a:off x="1792224" y="3337560"/>
            <a:ext cx="1261872" cy="310896"/>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Plugin</a:t>
            </a:r>
            <a:endParaRPr lang="en-US" sz="950" dirty="0"/>
          </a:p>
        </p:txBody>
      </p:sp>
      <p:sp>
        <p:nvSpPr>
          <p:cNvPr id="11" name="Shape 9"/>
          <p:cNvSpPr/>
          <p:nvPr/>
        </p:nvSpPr>
        <p:spPr>
          <a:xfrm>
            <a:off x="3218688" y="3337560"/>
            <a:ext cx="1261872" cy="310896"/>
          </a:xfrm>
          <a:prstGeom prst="roundRect">
            <a:avLst>
              <a:gd name="adj" fmla="val 14706"/>
            </a:avLst>
          </a:prstGeom>
          <a:solidFill>
            <a:srgbClr val="4C1D95"/>
          </a:solidFill>
          <a:ln w="12700">
            <a:solidFill>
              <a:srgbClr val="7C3AED"/>
            </a:solidFill>
            <a:prstDash val="solid"/>
          </a:ln>
        </p:spPr>
      </p:sp>
      <p:sp>
        <p:nvSpPr>
          <p:cNvPr id="12" name="Text 10"/>
          <p:cNvSpPr/>
          <p:nvPr/>
        </p:nvSpPr>
        <p:spPr>
          <a:xfrm>
            <a:off x="3218688" y="3337560"/>
            <a:ext cx="1261872" cy="310896"/>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Microservices</a:t>
            </a:r>
            <a:endParaRPr lang="en-US" sz="950" dirty="0"/>
          </a:p>
        </p:txBody>
      </p:sp>
      <p:sp>
        <p:nvSpPr>
          <p:cNvPr id="13" name="Shape 11"/>
          <p:cNvSpPr/>
          <p:nvPr/>
        </p:nvSpPr>
        <p:spPr>
          <a:xfrm>
            <a:off x="4645152" y="3337560"/>
            <a:ext cx="1261872" cy="310896"/>
          </a:xfrm>
          <a:prstGeom prst="roundRect">
            <a:avLst>
              <a:gd name="adj" fmla="val 14706"/>
            </a:avLst>
          </a:prstGeom>
          <a:solidFill>
            <a:srgbClr val="4C1D95"/>
          </a:solidFill>
          <a:ln w="12700">
            <a:solidFill>
              <a:srgbClr val="7C3AED"/>
            </a:solidFill>
            <a:prstDash val="solid"/>
          </a:ln>
        </p:spPr>
      </p:sp>
      <p:sp>
        <p:nvSpPr>
          <p:cNvPr id="14" name="Text 12"/>
          <p:cNvSpPr/>
          <p:nvPr/>
        </p:nvSpPr>
        <p:spPr>
          <a:xfrm>
            <a:off x="4645152" y="3337560"/>
            <a:ext cx="1261872" cy="310896"/>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Hexagonal</a:t>
            </a:r>
            <a:endParaRPr lang="en-US" sz="950" dirty="0"/>
          </a:p>
        </p:txBody>
      </p:sp>
      <p:sp>
        <p:nvSpPr>
          <p:cNvPr id="15" name="Shape 13"/>
          <p:cNvSpPr/>
          <p:nvPr/>
        </p:nvSpPr>
        <p:spPr>
          <a:xfrm>
            <a:off x="6071616" y="3337560"/>
            <a:ext cx="1261872" cy="310896"/>
          </a:xfrm>
          <a:prstGeom prst="roundRect">
            <a:avLst>
              <a:gd name="adj" fmla="val 14706"/>
            </a:avLst>
          </a:prstGeom>
          <a:solidFill>
            <a:srgbClr val="4C1D95"/>
          </a:solidFill>
          <a:ln w="12700">
            <a:solidFill>
              <a:srgbClr val="7C3AED"/>
            </a:solidFill>
            <a:prstDash val="solid"/>
          </a:ln>
        </p:spPr>
      </p:sp>
      <p:sp>
        <p:nvSpPr>
          <p:cNvPr id="16" name="Text 14"/>
          <p:cNvSpPr/>
          <p:nvPr/>
        </p:nvSpPr>
        <p:spPr>
          <a:xfrm>
            <a:off x="6071616" y="3337560"/>
            <a:ext cx="1261872" cy="310896"/>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Event-Driven</a:t>
            </a:r>
            <a:endParaRPr lang="en-US" sz="950" dirty="0"/>
          </a:p>
        </p:txBody>
      </p:sp>
      <p:sp>
        <p:nvSpPr>
          <p:cNvPr id="17" name="Shape 15"/>
          <p:cNvSpPr/>
          <p:nvPr/>
        </p:nvSpPr>
        <p:spPr>
          <a:xfrm>
            <a:off x="7498080" y="3337560"/>
            <a:ext cx="1261872" cy="310896"/>
          </a:xfrm>
          <a:prstGeom prst="roundRect">
            <a:avLst>
              <a:gd name="adj" fmla="val 14706"/>
            </a:avLst>
          </a:prstGeom>
          <a:solidFill>
            <a:srgbClr val="4C1D95"/>
          </a:solidFill>
          <a:ln w="12700">
            <a:solidFill>
              <a:srgbClr val="7C3AED"/>
            </a:solidFill>
            <a:prstDash val="solid"/>
          </a:ln>
        </p:spPr>
      </p:sp>
      <p:sp>
        <p:nvSpPr>
          <p:cNvPr id="18" name="Text 16"/>
          <p:cNvSpPr/>
          <p:nvPr/>
        </p:nvSpPr>
        <p:spPr>
          <a:xfrm>
            <a:off x="7498080" y="3337560"/>
            <a:ext cx="1261872" cy="310896"/>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DDD</a:t>
            </a:r>
            <a:endParaRPr lang="en-US" sz="950" dirty="0"/>
          </a:p>
        </p:txBody>
      </p:sp>
      <p:sp>
        <p:nvSpPr>
          <p:cNvPr id="19" name="Text 17"/>
          <p:cNvSpPr/>
          <p:nvPr/>
        </p:nvSpPr>
        <p:spPr>
          <a:xfrm>
            <a:off x="5120640" y="4846320"/>
            <a:ext cx="3840480" cy="201168"/>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Ruthran Raghavan, Chief AI Scientist</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A0D6E"/>
          </a:solidFill>
          <a:ln w="12700">
            <a:solidFill>
              <a:srgbClr val="3A0D6E"/>
            </a:solidFill>
            <a:prstDash val="solid"/>
          </a:ln>
        </p:spPr>
      </p:sp>
      <p:sp>
        <p:nvSpPr>
          <p:cNvPr id="3" name="Text 1"/>
          <p:cNvSpPr/>
          <p:nvPr/>
        </p:nvSpPr>
        <p:spPr>
          <a:xfrm>
            <a:off x="274320" y="0"/>
            <a:ext cx="8595360" cy="56692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Pattern 1  —  Layered Architecture</a:t>
            </a:r>
            <a:endParaRPr lang="en-US" sz="1700" dirty="0"/>
          </a:p>
        </p:txBody>
      </p:sp>
      <p:sp>
        <p:nvSpPr>
          <p:cNvPr id="4" name="Text 2"/>
          <p:cNvSpPr/>
          <p:nvPr/>
        </p:nvSpPr>
        <p:spPr>
          <a:xfrm>
            <a:off x="228600" y="658368"/>
            <a:ext cx="8686800" cy="256032"/>
          </a:xfrm>
          <a:prstGeom prst="rect">
            <a:avLst/>
          </a:prstGeom>
          <a:noFill/>
          <a:ln/>
        </p:spPr>
        <p:txBody>
          <a:bodyPr wrap="square" lIns="0" tIns="0" rIns="0" bIns="0" rtlCol="0" anchor="ctr"/>
          <a:lstStyle/>
          <a:p>
            <a:pPr indent="0" marL="0">
              <a:buNone/>
            </a:pPr>
            <a:r>
              <a:rPr lang="en-US" sz="1150" i="1" dirty="0">
                <a:solidFill>
                  <a:srgbClr val="475569"/>
                </a:solidFill>
                <a:latin typeface="Calibri" pitchFamily="34" charset="0"/>
                <a:ea typeface="Calibri" pitchFamily="34" charset="-122"/>
                <a:cs typeface="Calibri" pitchFamily="34" charset="-120"/>
              </a:rPr>
              <a:t>Code is stacked in horizontal layers — each layer only talks to the one directly below it</a:t>
            </a:r>
            <a:endParaRPr lang="en-US" sz="1150" dirty="0"/>
          </a:p>
        </p:txBody>
      </p:sp>
      <p:sp>
        <p:nvSpPr>
          <p:cNvPr id="5" name="Shape 3"/>
          <p:cNvSpPr/>
          <p:nvPr/>
        </p:nvSpPr>
        <p:spPr>
          <a:xfrm>
            <a:off x="201168" y="960120"/>
            <a:ext cx="4251960" cy="749808"/>
          </a:xfrm>
          <a:prstGeom prst="rect">
            <a:avLst/>
          </a:prstGeom>
          <a:solidFill>
            <a:srgbClr val="F0EBFF"/>
          </a:solidFill>
          <a:ln w="12700">
            <a:solidFill>
              <a:srgbClr val="DDD6FE"/>
            </a:solidFill>
            <a:prstDash val="solid"/>
          </a:ln>
        </p:spPr>
      </p:sp>
      <p:sp>
        <p:nvSpPr>
          <p:cNvPr id="6" name="Text 4"/>
          <p:cNvSpPr/>
          <p:nvPr/>
        </p:nvSpPr>
        <p:spPr>
          <a:xfrm>
            <a:off x="310896" y="996696"/>
            <a:ext cx="4023360" cy="201168"/>
          </a:xfrm>
          <a:prstGeom prst="rect">
            <a:avLst/>
          </a:prstGeom>
          <a:noFill/>
          <a:ln/>
        </p:spPr>
        <p:txBody>
          <a:bodyPr wrap="square" lIns="0" tIns="0" rIns="0" bIns="0" rtlCol="0" anchor="ctr"/>
          <a:lstStyle/>
          <a:p>
            <a:pPr indent="0" marL="0">
              <a:buNone/>
            </a:pPr>
            <a:r>
              <a:rPr lang="en-US" sz="950" b="1" dirty="0">
                <a:solidFill>
                  <a:srgbClr val="6D28D9"/>
                </a:solidFill>
                <a:latin typeface="Calibri" pitchFamily="34" charset="0"/>
                <a:ea typeface="Calibri" pitchFamily="34" charset="-122"/>
                <a:cs typeface="Calibri" pitchFamily="34" charset="-120"/>
              </a:rPr>
              <a:t>📖  What is it?</a:t>
            </a:r>
            <a:endParaRPr lang="en-US" sz="950" dirty="0"/>
          </a:p>
        </p:txBody>
      </p:sp>
      <p:sp>
        <p:nvSpPr>
          <p:cNvPr id="7" name="Text 5"/>
          <p:cNvSpPr/>
          <p:nvPr/>
        </p:nvSpPr>
        <p:spPr>
          <a:xfrm>
            <a:off x="310896" y="1197864"/>
            <a:ext cx="4023360" cy="475488"/>
          </a:xfrm>
          <a:prstGeom prst="rect">
            <a:avLst/>
          </a:prstGeom>
          <a:noFill/>
          <a:ln/>
        </p:spPr>
        <p:txBody>
          <a:bodyPr wrap="square" lIns="0" tIns="0" rIns="0" bIns="0" rtlCol="0" anchor="t"/>
          <a:lstStyle/>
          <a:p>
            <a:pPr indent="0" marL="0">
              <a:buNone/>
            </a:pPr>
            <a:r>
              <a:rPr lang="en-US" sz="950" dirty="0">
                <a:solidFill>
                  <a:srgbClr val="1A2340"/>
                </a:solidFill>
                <a:latin typeface="Calibri" pitchFamily="34" charset="0"/>
                <a:ea typeface="Calibri" pitchFamily="34" charset="-122"/>
                <a:cs typeface="Calibri" pitchFamily="34" charset="-120"/>
              </a:rPr>
              <a:t>The system is divided into clearly defined layers. The top layer (user-facing) calls the middle layer (business logic), which calls the bottom layer (database). No layer skips another.</a:t>
            </a:r>
            <a:endParaRPr lang="en-US" sz="950" dirty="0"/>
          </a:p>
        </p:txBody>
      </p:sp>
      <p:sp>
        <p:nvSpPr>
          <p:cNvPr id="8" name="Shape 6"/>
          <p:cNvSpPr/>
          <p:nvPr/>
        </p:nvSpPr>
        <p:spPr>
          <a:xfrm>
            <a:off x="201168" y="1764792"/>
            <a:ext cx="4251960" cy="1554480"/>
          </a:xfrm>
          <a:prstGeom prst="rect">
            <a:avLst/>
          </a:prstGeom>
          <a:solidFill>
            <a:srgbClr val="141E2C"/>
          </a:solidFill>
          <a:ln w="12700">
            <a:solidFill>
              <a:srgbClr val="2D3F55"/>
            </a:solidFill>
            <a:prstDash val="solid"/>
          </a:ln>
        </p:spPr>
      </p:sp>
      <p:sp>
        <p:nvSpPr>
          <p:cNvPr id="9" name="Text 7"/>
          <p:cNvSpPr/>
          <p:nvPr/>
        </p:nvSpPr>
        <p:spPr>
          <a:xfrm>
            <a:off x="310896" y="1801368"/>
            <a:ext cx="4023360" cy="201168"/>
          </a:xfrm>
          <a:prstGeom prst="rect">
            <a:avLst/>
          </a:prstGeom>
          <a:noFill/>
          <a:ln/>
        </p:spPr>
        <p:txBody>
          <a:bodyPr wrap="square" lIns="0" tIns="0" rIns="0" bIns="0" rtlCol="0" anchor="ctr"/>
          <a:lstStyle/>
          <a:p>
            <a:pPr indent="0" marL="0">
              <a:buNone/>
            </a:pPr>
            <a:r>
              <a:rPr lang="en-US" sz="950" b="1" dirty="0">
                <a:solidFill>
                  <a:srgbClr val="A78BFA"/>
                </a:solidFill>
                <a:latin typeface="Consolas" pitchFamily="34" charset="0"/>
                <a:ea typeface="Consolas" pitchFamily="34" charset="-122"/>
                <a:cs typeface="Consolas" pitchFamily="34" charset="-120"/>
              </a:rPr>
              <a:t>How it works:</a:t>
            </a:r>
            <a:endParaRPr lang="en-US" sz="950" dirty="0"/>
          </a:p>
        </p:txBody>
      </p:sp>
      <p:sp>
        <p:nvSpPr>
          <p:cNvPr id="10" name="Text 8"/>
          <p:cNvSpPr/>
          <p:nvPr/>
        </p:nvSpPr>
        <p:spPr>
          <a:xfrm>
            <a:off x="310896" y="1993392"/>
            <a:ext cx="4023360" cy="1261872"/>
          </a:xfrm>
          <a:prstGeom prst="rect">
            <a:avLst/>
          </a:prstGeom>
          <a:noFill/>
          <a:ln/>
        </p:spPr>
        <p:txBody>
          <a:bodyPr wrap="square" lIns="0" tIns="0" rIns="0" bIns="0" rtlCol="0" anchor="t"/>
          <a:lstStyle/>
          <a:p>
            <a:pPr indent="0" marL="0">
              <a:buNone/>
            </a:pPr>
            <a:r>
              <a:rPr lang="en-US" sz="900" dirty="0">
                <a:solidFill>
                  <a:srgbClr val="93C5FD"/>
                </a:solidFill>
                <a:latin typeface="Consolas" pitchFamily="34" charset="0"/>
                <a:ea typeface="Consolas" pitchFamily="34" charset="-122"/>
                <a:cs typeface="Consolas" pitchFamily="34" charset="-120"/>
              </a:rPr>
              <a:t>[ Presentation Layer ]  ← UI, Website, Mobile App</a:t>
            </a:r>
            <a:endParaRPr lang="en-US" sz="900" dirty="0"/>
          </a:p>
          <a:p>
            <a:pPr indent="0" marL="0">
              <a:buNone/>
            </a:pPr>
            <a:r>
              <a:rPr lang="en-US" sz="900" dirty="0">
                <a:solidFill>
                  <a:srgbClr val="93C5FD"/>
                </a:solidFill>
                <a:latin typeface="Consolas" pitchFamily="34" charset="0"/>
                <a:ea typeface="Consolas" pitchFamily="34" charset="-122"/>
                <a:cs typeface="Consolas" pitchFamily="34" charset="-120"/>
              </a:rPr>
              <a:t>         ↕</a:t>
            </a:r>
            <a:endParaRPr lang="en-US" sz="900" dirty="0"/>
          </a:p>
          <a:p>
            <a:pPr indent="0" marL="0">
              <a:buNone/>
            </a:pPr>
            <a:r>
              <a:rPr lang="en-US" sz="900" dirty="0">
                <a:solidFill>
                  <a:srgbClr val="93C5FD"/>
                </a:solidFill>
                <a:latin typeface="Consolas" pitchFamily="34" charset="0"/>
                <a:ea typeface="Consolas" pitchFamily="34" charset="-122"/>
                <a:cs typeface="Consolas" pitchFamily="34" charset="-120"/>
              </a:rPr>
              <a:t>[ Business Logic Layer ] ← Rules, Calculations</a:t>
            </a:r>
            <a:endParaRPr lang="en-US" sz="900" dirty="0"/>
          </a:p>
          <a:p>
            <a:pPr indent="0" marL="0">
              <a:buNone/>
            </a:pPr>
            <a:r>
              <a:rPr lang="en-US" sz="900" dirty="0">
                <a:solidFill>
                  <a:srgbClr val="93C5FD"/>
                </a:solidFill>
                <a:latin typeface="Consolas" pitchFamily="34" charset="0"/>
                <a:ea typeface="Consolas" pitchFamily="34" charset="-122"/>
                <a:cs typeface="Consolas" pitchFamily="34" charset="-120"/>
              </a:rPr>
              <a:t>         ↕</a:t>
            </a:r>
            <a:endParaRPr lang="en-US" sz="900" dirty="0"/>
          </a:p>
          <a:p>
            <a:pPr indent="0" marL="0">
              <a:buNone/>
            </a:pPr>
            <a:r>
              <a:rPr lang="en-US" sz="900" dirty="0">
                <a:solidFill>
                  <a:srgbClr val="93C5FD"/>
                </a:solidFill>
                <a:latin typeface="Consolas" pitchFamily="34" charset="0"/>
                <a:ea typeface="Consolas" pitchFamily="34" charset="-122"/>
                <a:cs typeface="Consolas" pitchFamily="34" charset="-120"/>
              </a:rPr>
              <a:t>[ Data Access Layer ]    ← Database Read/Write</a:t>
            </a:r>
            <a:endParaRPr lang="en-US" sz="900" dirty="0"/>
          </a:p>
        </p:txBody>
      </p:sp>
      <p:sp>
        <p:nvSpPr>
          <p:cNvPr id="11" name="Shape 9"/>
          <p:cNvSpPr/>
          <p:nvPr/>
        </p:nvSpPr>
        <p:spPr>
          <a:xfrm>
            <a:off x="4663440" y="960120"/>
            <a:ext cx="4279392" cy="1581912"/>
          </a:xfrm>
          <a:prstGeom prst="rect">
            <a:avLst/>
          </a:prstGeom>
          <a:solidFill>
            <a:srgbClr val="EFF6FF"/>
          </a:solidFill>
          <a:ln w="12700">
            <a:solidFill>
              <a:srgbClr val="BFDBFE"/>
            </a:solidFill>
            <a:prstDash val="solid"/>
          </a:ln>
        </p:spPr>
      </p:sp>
      <p:sp>
        <p:nvSpPr>
          <p:cNvPr id="12" name="Shape 10"/>
          <p:cNvSpPr/>
          <p:nvPr/>
        </p:nvSpPr>
        <p:spPr>
          <a:xfrm>
            <a:off x="4663440" y="960120"/>
            <a:ext cx="4279392" cy="329184"/>
          </a:xfrm>
          <a:prstGeom prst="rect">
            <a:avLst/>
          </a:prstGeom>
          <a:solidFill>
            <a:srgbClr val="1E40AF"/>
          </a:solidFill>
          <a:ln w="12700">
            <a:solidFill>
              <a:srgbClr val="1E40AF"/>
            </a:solidFill>
            <a:prstDash val="solid"/>
          </a:ln>
        </p:spPr>
      </p:sp>
      <p:sp>
        <p:nvSpPr>
          <p:cNvPr id="13" name="Text 11"/>
          <p:cNvSpPr/>
          <p:nvPr/>
        </p:nvSpPr>
        <p:spPr>
          <a:xfrm>
            <a:off x="4773168" y="960120"/>
            <a:ext cx="4059936" cy="32918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American Companies</a:t>
            </a:r>
            <a:endParaRPr lang="en-US" sz="1050" dirty="0"/>
          </a:p>
        </p:txBody>
      </p:sp>
      <p:sp>
        <p:nvSpPr>
          <p:cNvPr id="14" name="Text 12"/>
          <p:cNvSpPr/>
          <p:nvPr/>
        </p:nvSpPr>
        <p:spPr>
          <a:xfrm>
            <a:off x="4773168" y="1325880"/>
            <a:ext cx="4059936" cy="521208"/>
          </a:xfrm>
          <a:prstGeom prst="rect">
            <a:avLst/>
          </a:prstGeom>
          <a:noFill/>
          <a:ln/>
        </p:spPr>
        <p:txBody>
          <a:bodyPr wrap="square" lIns="0" tIns="0" rIns="0" bIns="0" rtlCol="0" anchor="t"/>
          <a:lstStyle/>
          <a:p>
            <a:pPr indent="0" marL="0">
              <a:buNone/>
            </a:pPr>
            <a:r>
              <a:rPr lang="en-US" sz="950" b="1" dirty="0">
                <a:solidFill>
                  <a:srgbClr val="1E40AF"/>
                </a:solidFill>
                <a:latin typeface="Calibri" pitchFamily="34" charset="0"/>
                <a:ea typeface="Calibri" pitchFamily="34" charset="-122"/>
                <a:cs typeface="Calibri" pitchFamily="34" charset="-120"/>
              </a:rPr>
              <a:t>▸ </a:t>
            </a:r>
            <a:pPr indent="0" marL="0">
              <a:buNone/>
            </a:pPr>
            <a:r>
              <a:rPr lang="en-US" sz="950" dirty="0">
                <a:solidFill>
                  <a:srgbClr val="1A2340"/>
                </a:solidFill>
                <a:latin typeface="Calibri" pitchFamily="34" charset="0"/>
                <a:ea typeface="Calibri" pitchFamily="34" charset="-122"/>
                <a:cs typeface="Calibri" pitchFamily="34" charset="-120"/>
              </a:rPr>
              <a:t>Facebook/Meta: React UI Layer → GraphQL/PHP Business Layer → MySQL + Cassandra Data Layer. Each layer only talks to the one below.</a:t>
            </a:r>
            <a:endParaRPr lang="en-US" sz="950" dirty="0"/>
          </a:p>
        </p:txBody>
      </p:sp>
      <p:sp>
        <p:nvSpPr>
          <p:cNvPr id="15" name="Text 13"/>
          <p:cNvSpPr/>
          <p:nvPr/>
        </p:nvSpPr>
        <p:spPr>
          <a:xfrm>
            <a:off x="4773168" y="1892808"/>
            <a:ext cx="4059936" cy="521208"/>
          </a:xfrm>
          <a:prstGeom prst="rect">
            <a:avLst/>
          </a:prstGeom>
          <a:noFill/>
          <a:ln/>
        </p:spPr>
        <p:txBody>
          <a:bodyPr wrap="square" lIns="0" tIns="0" rIns="0" bIns="0" rtlCol="0" anchor="t"/>
          <a:lstStyle/>
          <a:p>
            <a:pPr indent="0" marL="0">
              <a:buNone/>
            </a:pPr>
            <a:r>
              <a:rPr lang="en-US" sz="950" b="1" dirty="0">
                <a:solidFill>
                  <a:srgbClr val="1E40AF"/>
                </a:solidFill>
                <a:latin typeface="Calibri" pitchFamily="34" charset="0"/>
                <a:ea typeface="Calibri" pitchFamily="34" charset="-122"/>
                <a:cs typeface="Calibri" pitchFamily="34" charset="-120"/>
              </a:rPr>
              <a:t>▸ </a:t>
            </a:r>
            <a:pPr indent="0" marL="0">
              <a:buNone/>
            </a:pPr>
            <a:r>
              <a:rPr lang="en-US" sz="950" dirty="0">
                <a:solidFill>
                  <a:srgbClr val="1A2340"/>
                </a:solidFill>
                <a:latin typeface="Calibri" pitchFamily="34" charset="0"/>
                <a:ea typeface="Calibri" pitchFamily="34" charset="-122"/>
                <a:cs typeface="Calibri" pitchFamily="34" charset="-120"/>
              </a:rPr>
              <a:t>LinkedIn: Presentation (React) → Service Layer (Java) → Database Layer (MySQL + Espresso). Developers on different layers work independently.</a:t>
            </a:r>
            <a:endParaRPr lang="en-US" sz="950" dirty="0"/>
          </a:p>
        </p:txBody>
      </p:sp>
      <p:sp>
        <p:nvSpPr>
          <p:cNvPr id="16" name="Shape 14"/>
          <p:cNvSpPr/>
          <p:nvPr/>
        </p:nvSpPr>
        <p:spPr>
          <a:xfrm>
            <a:off x="4663440" y="2596896"/>
            <a:ext cx="4279392" cy="1636776"/>
          </a:xfrm>
          <a:prstGeom prst="rect">
            <a:avLst/>
          </a:prstGeom>
          <a:solidFill>
            <a:srgbClr val="FFF5F5"/>
          </a:solidFill>
          <a:ln w="12700">
            <a:solidFill>
              <a:srgbClr val="FECACA"/>
            </a:solidFill>
            <a:prstDash val="solid"/>
          </a:ln>
        </p:spPr>
      </p:sp>
      <p:sp>
        <p:nvSpPr>
          <p:cNvPr id="17" name="Shape 15"/>
          <p:cNvSpPr/>
          <p:nvPr/>
        </p:nvSpPr>
        <p:spPr>
          <a:xfrm>
            <a:off x="4663440" y="2596896"/>
            <a:ext cx="4279392" cy="329184"/>
          </a:xfrm>
          <a:prstGeom prst="rect">
            <a:avLst/>
          </a:prstGeom>
          <a:solidFill>
            <a:srgbClr val="B91C1C"/>
          </a:solidFill>
          <a:ln w="12700">
            <a:solidFill>
              <a:srgbClr val="B91C1C"/>
            </a:solidFill>
            <a:prstDash val="solid"/>
          </a:ln>
        </p:spPr>
      </p:sp>
      <p:sp>
        <p:nvSpPr>
          <p:cNvPr id="18" name="Text 16"/>
          <p:cNvSpPr/>
          <p:nvPr/>
        </p:nvSpPr>
        <p:spPr>
          <a:xfrm>
            <a:off x="4773168" y="2596896"/>
            <a:ext cx="4059936" cy="32918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Indian Companies</a:t>
            </a:r>
            <a:endParaRPr lang="en-US" sz="1050" dirty="0"/>
          </a:p>
        </p:txBody>
      </p:sp>
      <p:sp>
        <p:nvSpPr>
          <p:cNvPr id="19" name="Text 17"/>
          <p:cNvSpPr/>
          <p:nvPr/>
        </p:nvSpPr>
        <p:spPr>
          <a:xfrm>
            <a:off x="4773168" y="2962656"/>
            <a:ext cx="4059936" cy="548640"/>
          </a:xfrm>
          <a:prstGeom prst="rect">
            <a:avLst/>
          </a:prstGeom>
          <a:noFill/>
          <a:ln/>
        </p:spPr>
        <p:txBody>
          <a:bodyPr wrap="square" lIns="0" tIns="0" rIns="0" bIns="0" rtlCol="0" anchor="t"/>
          <a:lstStyle/>
          <a:p>
            <a:pPr indent="0" marL="0">
              <a:buNone/>
            </a:pPr>
            <a:r>
              <a:rPr lang="en-US" sz="950" b="1" dirty="0">
                <a:solidFill>
                  <a:srgbClr val="B91C1C"/>
                </a:solidFill>
                <a:latin typeface="Calibri" pitchFamily="34" charset="0"/>
                <a:ea typeface="Calibri" pitchFamily="34" charset="-122"/>
                <a:cs typeface="Calibri" pitchFamily="34" charset="-120"/>
              </a:rPr>
              <a:t>▸ </a:t>
            </a:r>
            <a:pPr indent="0" marL="0">
              <a:buNone/>
            </a:pPr>
            <a:r>
              <a:rPr lang="en-US" sz="950" dirty="0">
                <a:solidFill>
                  <a:srgbClr val="1A2340"/>
                </a:solidFill>
                <a:latin typeface="Calibri" pitchFamily="34" charset="0"/>
                <a:ea typeface="Calibri" pitchFamily="34" charset="-122"/>
                <a:cs typeface="Calibri" pitchFamily="34" charset="-120"/>
              </a:rPr>
              <a:t>HDFC Bank: NetBanking Portal (UI) → Transaction Logic Layer → Core Banking System (Finacle). Keeps customer UI separate from banking rules.</a:t>
            </a:r>
            <a:endParaRPr lang="en-US" sz="950" dirty="0"/>
          </a:p>
        </p:txBody>
      </p:sp>
      <p:sp>
        <p:nvSpPr>
          <p:cNvPr id="20" name="Text 18"/>
          <p:cNvSpPr/>
          <p:nvPr/>
        </p:nvSpPr>
        <p:spPr>
          <a:xfrm>
            <a:off x="4773168" y="3557016"/>
            <a:ext cx="4059936" cy="548640"/>
          </a:xfrm>
          <a:prstGeom prst="rect">
            <a:avLst/>
          </a:prstGeom>
          <a:noFill/>
          <a:ln/>
        </p:spPr>
        <p:txBody>
          <a:bodyPr wrap="square" lIns="0" tIns="0" rIns="0" bIns="0" rtlCol="0" anchor="t"/>
          <a:lstStyle/>
          <a:p>
            <a:pPr indent="0" marL="0">
              <a:buNone/>
            </a:pPr>
            <a:r>
              <a:rPr lang="en-US" sz="950" b="1" dirty="0">
                <a:solidFill>
                  <a:srgbClr val="B91C1C"/>
                </a:solidFill>
                <a:latin typeface="Calibri" pitchFamily="34" charset="0"/>
                <a:ea typeface="Calibri" pitchFamily="34" charset="-122"/>
                <a:cs typeface="Calibri" pitchFamily="34" charset="-120"/>
              </a:rPr>
              <a:t>▸ </a:t>
            </a:r>
            <a:pPr indent="0" marL="0">
              <a:buNone/>
            </a:pPr>
            <a:r>
              <a:rPr lang="en-US" sz="950" dirty="0">
                <a:solidFill>
                  <a:srgbClr val="1A2340"/>
                </a:solidFill>
                <a:latin typeface="Calibri" pitchFamily="34" charset="0"/>
                <a:ea typeface="Calibri" pitchFamily="34" charset="-122"/>
                <a:cs typeface="Calibri" pitchFamily="34" charset="-120"/>
              </a:rPr>
              <a:t>MakeMyTrip: Web/App UI → Booking Engine (logic) → Hotel &amp; Flight Databases. UI can be redesigned without touching booking rules.</a:t>
            </a:r>
            <a:endParaRPr lang="en-US" sz="950" dirty="0"/>
          </a:p>
        </p:txBody>
      </p:sp>
      <p:sp>
        <p:nvSpPr>
          <p:cNvPr id="21" name="Text 19"/>
          <p:cNvSpPr/>
          <p:nvPr/>
        </p:nvSpPr>
        <p:spPr>
          <a:xfrm>
            <a:off x="5120640" y="4846320"/>
            <a:ext cx="3840480" cy="201168"/>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Ruthran Raghavan, Chief AI Scientist</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A0D6E"/>
          </a:solidFill>
          <a:ln w="12700">
            <a:solidFill>
              <a:srgbClr val="3A0D6E"/>
            </a:solidFill>
            <a:prstDash val="solid"/>
          </a:ln>
        </p:spPr>
      </p:sp>
      <p:sp>
        <p:nvSpPr>
          <p:cNvPr id="3" name="Text 1"/>
          <p:cNvSpPr/>
          <p:nvPr/>
        </p:nvSpPr>
        <p:spPr>
          <a:xfrm>
            <a:off x="274320" y="0"/>
            <a:ext cx="8595360" cy="56692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Pattern 2  —  Plugin Architecture</a:t>
            </a:r>
            <a:endParaRPr lang="en-US" sz="1700" dirty="0"/>
          </a:p>
        </p:txBody>
      </p:sp>
      <p:sp>
        <p:nvSpPr>
          <p:cNvPr id="4" name="Text 2"/>
          <p:cNvSpPr/>
          <p:nvPr/>
        </p:nvSpPr>
        <p:spPr>
          <a:xfrm>
            <a:off x="228600" y="658368"/>
            <a:ext cx="8686800" cy="256032"/>
          </a:xfrm>
          <a:prstGeom prst="rect">
            <a:avLst/>
          </a:prstGeom>
          <a:noFill/>
          <a:ln/>
        </p:spPr>
        <p:txBody>
          <a:bodyPr wrap="square" lIns="0" tIns="0" rIns="0" bIns="0" rtlCol="0" anchor="ctr"/>
          <a:lstStyle/>
          <a:p>
            <a:pPr indent="0" marL="0">
              <a:buNone/>
            </a:pPr>
            <a:r>
              <a:rPr lang="en-US" sz="1150" i="1" dirty="0">
                <a:solidFill>
                  <a:srgbClr val="475569"/>
                </a:solidFill>
                <a:latin typeface="Calibri" pitchFamily="34" charset="0"/>
                <a:ea typeface="Calibri" pitchFamily="34" charset="-122"/>
                <a:cs typeface="Calibri" pitchFamily="34" charset="-120"/>
              </a:rPr>
              <a:t>A stable core system that anyone can extend by plugging in new modules — without modifying the core</a:t>
            </a:r>
            <a:endParaRPr lang="en-US" sz="1150" dirty="0"/>
          </a:p>
        </p:txBody>
      </p:sp>
      <p:sp>
        <p:nvSpPr>
          <p:cNvPr id="5" name="Shape 3"/>
          <p:cNvSpPr/>
          <p:nvPr/>
        </p:nvSpPr>
        <p:spPr>
          <a:xfrm>
            <a:off x="201168" y="960120"/>
            <a:ext cx="4251960" cy="749808"/>
          </a:xfrm>
          <a:prstGeom prst="rect">
            <a:avLst/>
          </a:prstGeom>
          <a:solidFill>
            <a:srgbClr val="F0EBFF"/>
          </a:solidFill>
          <a:ln w="12700">
            <a:solidFill>
              <a:srgbClr val="DDD6FE"/>
            </a:solidFill>
            <a:prstDash val="solid"/>
          </a:ln>
        </p:spPr>
      </p:sp>
      <p:sp>
        <p:nvSpPr>
          <p:cNvPr id="6" name="Text 4"/>
          <p:cNvSpPr/>
          <p:nvPr/>
        </p:nvSpPr>
        <p:spPr>
          <a:xfrm>
            <a:off x="310896" y="996696"/>
            <a:ext cx="4023360" cy="201168"/>
          </a:xfrm>
          <a:prstGeom prst="rect">
            <a:avLst/>
          </a:prstGeom>
          <a:noFill/>
          <a:ln/>
        </p:spPr>
        <p:txBody>
          <a:bodyPr wrap="square" lIns="0" tIns="0" rIns="0" bIns="0" rtlCol="0" anchor="ctr"/>
          <a:lstStyle/>
          <a:p>
            <a:pPr indent="0" marL="0">
              <a:buNone/>
            </a:pPr>
            <a:r>
              <a:rPr lang="en-US" sz="950" b="1" dirty="0">
                <a:solidFill>
                  <a:srgbClr val="6D28D9"/>
                </a:solidFill>
                <a:latin typeface="Calibri" pitchFamily="34" charset="0"/>
                <a:ea typeface="Calibri" pitchFamily="34" charset="-122"/>
                <a:cs typeface="Calibri" pitchFamily="34" charset="-120"/>
              </a:rPr>
              <a:t>📖  What is it?</a:t>
            </a:r>
            <a:endParaRPr lang="en-US" sz="950" dirty="0"/>
          </a:p>
        </p:txBody>
      </p:sp>
      <p:sp>
        <p:nvSpPr>
          <p:cNvPr id="7" name="Text 5"/>
          <p:cNvSpPr/>
          <p:nvPr/>
        </p:nvSpPr>
        <p:spPr>
          <a:xfrm>
            <a:off x="310896" y="1197864"/>
            <a:ext cx="4023360" cy="475488"/>
          </a:xfrm>
          <a:prstGeom prst="rect">
            <a:avLst/>
          </a:prstGeom>
          <a:noFill/>
          <a:ln/>
        </p:spPr>
        <p:txBody>
          <a:bodyPr wrap="square" lIns="0" tIns="0" rIns="0" bIns="0" rtlCol="0" anchor="t"/>
          <a:lstStyle/>
          <a:p>
            <a:pPr indent="0" marL="0">
              <a:buNone/>
            </a:pPr>
            <a:r>
              <a:rPr lang="en-US" sz="950" dirty="0">
                <a:solidFill>
                  <a:srgbClr val="1A2340"/>
                </a:solidFill>
                <a:latin typeface="Calibri" pitchFamily="34" charset="0"/>
                <a:ea typeface="Calibri" pitchFamily="34" charset="-122"/>
                <a:cs typeface="Calibri" pitchFamily="34" charset="-120"/>
              </a:rPr>
              <a:t>The core does one thing well. Extensions (plugins) register themselves and add new features. The core never needs to change. You can add, remove, or swap plugins freely.</a:t>
            </a:r>
            <a:endParaRPr lang="en-US" sz="950" dirty="0"/>
          </a:p>
        </p:txBody>
      </p:sp>
      <p:sp>
        <p:nvSpPr>
          <p:cNvPr id="8" name="Shape 6"/>
          <p:cNvSpPr/>
          <p:nvPr/>
        </p:nvSpPr>
        <p:spPr>
          <a:xfrm>
            <a:off x="201168" y="1764792"/>
            <a:ext cx="4251960" cy="1554480"/>
          </a:xfrm>
          <a:prstGeom prst="rect">
            <a:avLst/>
          </a:prstGeom>
          <a:solidFill>
            <a:srgbClr val="141E2C"/>
          </a:solidFill>
          <a:ln w="12700">
            <a:solidFill>
              <a:srgbClr val="2D3F55"/>
            </a:solidFill>
            <a:prstDash val="solid"/>
          </a:ln>
        </p:spPr>
      </p:sp>
      <p:sp>
        <p:nvSpPr>
          <p:cNvPr id="9" name="Text 7"/>
          <p:cNvSpPr/>
          <p:nvPr/>
        </p:nvSpPr>
        <p:spPr>
          <a:xfrm>
            <a:off x="310896" y="1801368"/>
            <a:ext cx="4023360" cy="201168"/>
          </a:xfrm>
          <a:prstGeom prst="rect">
            <a:avLst/>
          </a:prstGeom>
          <a:noFill/>
          <a:ln/>
        </p:spPr>
        <p:txBody>
          <a:bodyPr wrap="square" lIns="0" tIns="0" rIns="0" bIns="0" rtlCol="0" anchor="ctr"/>
          <a:lstStyle/>
          <a:p>
            <a:pPr indent="0" marL="0">
              <a:buNone/>
            </a:pPr>
            <a:r>
              <a:rPr lang="en-US" sz="950" b="1" dirty="0">
                <a:solidFill>
                  <a:srgbClr val="A78BFA"/>
                </a:solidFill>
                <a:latin typeface="Consolas" pitchFamily="34" charset="0"/>
                <a:ea typeface="Consolas" pitchFamily="34" charset="-122"/>
                <a:cs typeface="Consolas" pitchFamily="34" charset="-120"/>
              </a:rPr>
              <a:t>How it works:</a:t>
            </a:r>
            <a:endParaRPr lang="en-US" sz="950" dirty="0"/>
          </a:p>
        </p:txBody>
      </p:sp>
      <p:sp>
        <p:nvSpPr>
          <p:cNvPr id="10" name="Text 8"/>
          <p:cNvSpPr/>
          <p:nvPr/>
        </p:nvSpPr>
        <p:spPr>
          <a:xfrm>
            <a:off x="310896" y="1993392"/>
            <a:ext cx="4023360" cy="1261872"/>
          </a:xfrm>
          <a:prstGeom prst="rect">
            <a:avLst/>
          </a:prstGeom>
          <a:noFill/>
          <a:ln/>
        </p:spPr>
        <p:txBody>
          <a:bodyPr wrap="square" lIns="0" tIns="0" rIns="0" bIns="0" rtlCol="0" anchor="t"/>
          <a:lstStyle/>
          <a:p>
            <a:pPr indent="0" marL="0">
              <a:buNone/>
            </a:pPr>
            <a:r>
              <a:rPr lang="en-US" sz="900" dirty="0">
                <a:solidFill>
                  <a:srgbClr val="93C5FD"/>
                </a:solidFill>
                <a:latin typeface="Consolas" pitchFamily="34" charset="0"/>
                <a:ea typeface="Consolas" pitchFamily="34" charset="-122"/>
                <a:cs typeface="Consolas" pitchFamily="34" charset="-120"/>
              </a:rPr>
              <a:t>         [ Core System ]</a:t>
            </a:r>
            <a:endParaRPr lang="en-US" sz="900" dirty="0"/>
          </a:p>
          <a:p>
            <a:pPr indent="0" marL="0">
              <a:buNone/>
            </a:pPr>
            <a:r>
              <a:rPr lang="en-US" sz="900" dirty="0">
                <a:solidFill>
                  <a:srgbClr val="93C5FD"/>
                </a:solidFill>
                <a:latin typeface="Consolas" pitchFamily="34" charset="0"/>
                <a:ea typeface="Consolas" pitchFamily="34" charset="-122"/>
                <a:cs typeface="Consolas" pitchFamily="34" charset="-120"/>
              </a:rPr>
              <a:t>        /      |      \</a:t>
            </a:r>
            <a:endParaRPr lang="en-US" sz="900" dirty="0"/>
          </a:p>
          <a:p>
            <a:pPr indent="0" marL="0">
              <a:buNone/>
            </a:pPr>
            <a:r>
              <a:rPr lang="en-US" sz="900" dirty="0">
                <a:solidFill>
                  <a:srgbClr val="93C5FD"/>
                </a:solidFill>
                <a:latin typeface="Consolas" pitchFamily="34" charset="0"/>
                <a:ea typeface="Consolas" pitchFamily="34" charset="-122"/>
                <a:cs typeface="Consolas" pitchFamily="34" charset="-120"/>
              </a:rPr>
              <a:t>   [Plugin   [Plugin  [Plugin</a:t>
            </a:r>
            <a:endParaRPr lang="en-US" sz="900" dirty="0"/>
          </a:p>
          <a:p>
            <a:pPr indent="0" marL="0">
              <a:buNone/>
            </a:pPr>
            <a:r>
              <a:rPr lang="en-US" sz="900" dirty="0">
                <a:solidFill>
                  <a:srgbClr val="93C5FD"/>
                </a:solidFill>
                <a:latin typeface="Consolas" pitchFamily="34" charset="0"/>
                <a:ea typeface="Consolas" pitchFamily="34" charset="-122"/>
                <a:cs typeface="Consolas" pitchFamily="34" charset="-120"/>
              </a:rPr>
              <a:t>    Search]  Export]  Payment]</a:t>
            </a:r>
            <a:endParaRPr lang="en-US" sz="900" dirty="0"/>
          </a:p>
          <a:p>
            <a:pPr indent="0" marL="0">
              <a:buNone/>
            </a:pPr>
            <a:r>
              <a:rPr lang="en-US" sz="900" dirty="0">
                <a:solidFill>
                  <a:srgbClr val="93C5FD"/>
                </a:solidFill>
                <a:latin typeface="Consolas" pitchFamily="34" charset="0"/>
                <a:ea typeface="Consolas" pitchFamily="34" charset="-122"/>
                <a:cs typeface="Consolas" pitchFamily="34" charset="-120"/>
              </a:rPr>
              <a:t>   (can be added/removed anytime)</a:t>
            </a:r>
            <a:endParaRPr lang="en-US" sz="900" dirty="0"/>
          </a:p>
        </p:txBody>
      </p:sp>
      <p:sp>
        <p:nvSpPr>
          <p:cNvPr id="11" name="Shape 9"/>
          <p:cNvSpPr/>
          <p:nvPr/>
        </p:nvSpPr>
        <p:spPr>
          <a:xfrm>
            <a:off x="4663440" y="960120"/>
            <a:ext cx="4279392" cy="1581912"/>
          </a:xfrm>
          <a:prstGeom prst="rect">
            <a:avLst/>
          </a:prstGeom>
          <a:solidFill>
            <a:srgbClr val="EFF6FF"/>
          </a:solidFill>
          <a:ln w="12700">
            <a:solidFill>
              <a:srgbClr val="BFDBFE"/>
            </a:solidFill>
            <a:prstDash val="solid"/>
          </a:ln>
        </p:spPr>
      </p:sp>
      <p:sp>
        <p:nvSpPr>
          <p:cNvPr id="12" name="Shape 10"/>
          <p:cNvSpPr/>
          <p:nvPr/>
        </p:nvSpPr>
        <p:spPr>
          <a:xfrm>
            <a:off x="4663440" y="960120"/>
            <a:ext cx="4279392" cy="329184"/>
          </a:xfrm>
          <a:prstGeom prst="rect">
            <a:avLst/>
          </a:prstGeom>
          <a:solidFill>
            <a:srgbClr val="1E40AF"/>
          </a:solidFill>
          <a:ln w="12700">
            <a:solidFill>
              <a:srgbClr val="1E40AF"/>
            </a:solidFill>
            <a:prstDash val="solid"/>
          </a:ln>
        </p:spPr>
      </p:sp>
      <p:sp>
        <p:nvSpPr>
          <p:cNvPr id="13" name="Text 11"/>
          <p:cNvSpPr/>
          <p:nvPr/>
        </p:nvSpPr>
        <p:spPr>
          <a:xfrm>
            <a:off x="4773168" y="960120"/>
            <a:ext cx="4059936" cy="32918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American Companies</a:t>
            </a:r>
            <a:endParaRPr lang="en-US" sz="1050" dirty="0"/>
          </a:p>
        </p:txBody>
      </p:sp>
      <p:sp>
        <p:nvSpPr>
          <p:cNvPr id="14" name="Text 12"/>
          <p:cNvSpPr/>
          <p:nvPr/>
        </p:nvSpPr>
        <p:spPr>
          <a:xfrm>
            <a:off x="4773168" y="1325880"/>
            <a:ext cx="4059936" cy="521208"/>
          </a:xfrm>
          <a:prstGeom prst="rect">
            <a:avLst/>
          </a:prstGeom>
          <a:noFill/>
          <a:ln/>
        </p:spPr>
        <p:txBody>
          <a:bodyPr wrap="square" lIns="0" tIns="0" rIns="0" bIns="0" rtlCol="0" anchor="t"/>
          <a:lstStyle/>
          <a:p>
            <a:pPr indent="0" marL="0">
              <a:buNone/>
            </a:pPr>
            <a:r>
              <a:rPr lang="en-US" sz="950" b="1" dirty="0">
                <a:solidFill>
                  <a:srgbClr val="1E40AF"/>
                </a:solidFill>
                <a:latin typeface="Calibri" pitchFamily="34" charset="0"/>
                <a:ea typeface="Calibri" pitchFamily="34" charset="-122"/>
                <a:cs typeface="Calibri" pitchFamily="34" charset="-120"/>
              </a:rPr>
              <a:t>▸ </a:t>
            </a:r>
            <a:pPr indent="0" marL="0">
              <a:buNone/>
            </a:pPr>
            <a:r>
              <a:rPr lang="en-US" sz="950" dirty="0">
                <a:solidFill>
                  <a:srgbClr val="1A2340"/>
                </a:solidFill>
                <a:latin typeface="Calibri" pitchFamily="34" charset="0"/>
                <a:ea typeface="Calibri" pitchFamily="34" charset="-122"/>
                <a:cs typeface="Calibri" pitchFamily="34" charset="-120"/>
              </a:rPr>
              <a:t>VS Code (Microsoft): Core editor + 50,000+ extension plugins. Each developer adds their own language support, themes, or debuggers without touching VS Code's core.</a:t>
            </a:r>
            <a:endParaRPr lang="en-US" sz="950" dirty="0"/>
          </a:p>
        </p:txBody>
      </p:sp>
      <p:sp>
        <p:nvSpPr>
          <p:cNvPr id="15" name="Text 13"/>
          <p:cNvSpPr/>
          <p:nvPr/>
        </p:nvSpPr>
        <p:spPr>
          <a:xfrm>
            <a:off x="4773168" y="1892808"/>
            <a:ext cx="4059936" cy="521208"/>
          </a:xfrm>
          <a:prstGeom prst="rect">
            <a:avLst/>
          </a:prstGeom>
          <a:noFill/>
          <a:ln/>
        </p:spPr>
        <p:txBody>
          <a:bodyPr wrap="square" lIns="0" tIns="0" rIns="0" bIns="0" rtlCol="0" anchor="t"/>
          <a:lstStyle/>
          <a:p>
            <a:pPr indent="0" marL="0">
              <a:buNone/>
            </a:pPr>
            <a:r>
              <a:rPr lang="en-US" sz="950" b="1" dirty="0">
                <a:solidFill>
                  <a:srgbClr val="1E40AF"/>
                </a:solidFill>
                <a:latin typeface="Calibri" pitchFamily="34" charset="0"/>
                <a:ea typeface="Calibri" pitchFamily="34" charset="-122"/>
                <a:cs typeface="Calibri" pitchFamily="34" charset="-120"/>
              </a:rPr>
              <a:t>▸ </a:t>
            </a:r>
            <a:pPr indent="0" marL="0">
              <a:buNone/>
            </a:pPr>
            <a:r>
              <a:rPr lang="en-US" sz="950" dirty="0">
                <a:solidFill>
                  <a:srgbClr val="1A2340"/>
                </a:solidFill>
                <a:latin typeface="Calibri" pitchFamily="34" charset="0"/>
                <a:ea typeface="Calibri" pitchFamily="34" charset="-122"/>
                <a:cs typeface="Calibri" pitchFamily="34" charset="-120"/>
              </a:rPr>
              <a:t>WordPress: Core CMS + 59,000+ plugins (WooCommerce for shop, Yoast for SEO, Stripe for payment). Any plugin can be activated/deactivated instantly.</a:t>
            </a:r>
            <a:endParaRPr lang="en-US" sz="950" dirty="0"/>
          </a:p>
        </p:txBody>
      </p:sp>
      <p:sp>
        <p:nvSpPr>
          <p:cNvPr id="16" name="Shape 14"/>
          <p:cNvSpPr/>
          <p:nvPr/>
        </p:nvSpPr>
        <p:spPr>
          <a:xfrm>
            <a:off x="4663440" y="2596896"/>
            <a:ext cx="4279392" cy="1636776"/>
          </a:xfrm>
          <a:prstGeom prst="rect">
            <a:avLst/>
          </a:prstGeom>
          <a:solidFill>
            <a:srgbClr val="FFF5F5"/>
          </a:solidFill>
          <a:ln w="12700">
            <a:solidFill>
              <a:srgbClr val="FECACA"/>
            </a:solidFill>
            <a:prstDash val="solid"/>
          </a:ln>
        </p:spPr>
      </p:sp>
      <p:sp>
        <p:nvSpPr>
          <p:cNvPr id="17" name="Shape 15"/>
          <p:cNvSpPr/>
          <p:nvPr/>
        </p:nvSpPr>
        <p:spPr>
          <a:xfrm>
            <a:off x="4663440" y="2596896"/>
            <a:ext cx="4279392" cy="329184"/>
          </a:xfrm>
          <a:prstGeom prst="rect">
            <a:avLst/>
          </a:prstGeom>
          <a:solidFill>
            <a:srgbClr val="B91C1C"/>
          </a:solidFill>
          <a:ln w="12700">
            <a:solidFill>
              <a:srgbClr val="B91C1C"/>
            </a:solidFill>
            <a:prstDash val="solid"/>
          </a:ln>
        </p:spPr>
      </p:sp>
      <p:sp>
        <p:nvSpPr>
          <p:cNvPr id="18" name="Text 16"/>
          <p:cNvSpPr/>
          <p:nvPr/>
        </p:nvSpPr>
        <p:spPr>
          <a:xfrm>
            <a:off x="4773168" y="2596896"/>
            <a:ext cx="4059936" cy="32918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Indian Companies</a:t>
            </a:r>
            <a:endParaRPr lang="en-US" sz="1050" dirty="0"/>
          </a:p>
        </p:txBody>
      </p:sp>
      <p:sp>
        <p:nvSpPr>
          <p:cNvPr id="19" name="Text 17"/>
          <p:cNvSpPr/>
          <p:nvPr/>
        </p:nvSpPr>
        <p:spPr>
          <a:xfrm>
            <a:off x="4773168" y="2962656"/>
            <a:ext cx="4059936" cy="548640"/>
          </a:xfrm>
          <a:prstGeom prst="rect">
            <a:avLst/>
          </a:prstGeom>
          <a:noFill/>
          <a:ln/>
        </p:spPr>
        <p:txBody>
          <a:bodyPr wrap="square" lIns="0" tIns="0" rIns="0" bIns="0" rtlCol="0" anchor="t"/>
          <a:lstStyle/>
          <a:p>
            <a:pPr indent="0" marL="0">
              <a:buNone/>
            </a:pPr>
            <a:r>
              <a:rPr lang="en-US" sz="950" b="1" dirty="0">
                <a:solidFill>
                  <a:srgbClr val="B91C1C"/>
                </a:solidFill>
                <a:latin typeface="Calibri" pitchFamily="34" charset="0"/>
                <a:ea typeface="Calibri" pitchFamily="34" charset="-122"/>
                <a:cs typeface="Calibri" pitchFamily="34" charset="-120"/>
              </a:rPr>
              <a:t>▸ </a:t>
            </a:r>
            <a:pPr indent="0" marL="0">
              <a:buNone/>
            </a:pPr>
            <a:r>
              <a:rPr lang="en-US" sz="950" dirty="0">
                <a:solidFill>
                  <a:srgbClr val="1A2340"/>
                </a:solidFill>
                <a:latin typeface="Calibri" pitchFamily="34" charset="0"/>
                <a:ea typeface="Calibri" pitchFamily="34" charset="-122"/>
                <a:cs typeface="Calibri" pitchFamily="34" charset="-120"/>
              </a:rPr>
              <a:t>Zoho CRM: Core CRM platform + Zoho Marketplace with 1,000+ plugins — WhatsApp integration, Razorpay payment, Mailchimp email, all plugged in independently.</a:t>
            </a:r>
            <a:endParaRPr lang="en-US" sz="950" dirty="0"/>
          </a:p>
        </p:txBody>
      </p:sp>
      <p:sp>
        <p:nvSpPr>
          <p:cNvPr id="20" name="Text 18"/>
          <p:cNvSpPr/>
          <p:nvPr/>
        </p:nvSpPr>
        <p:spPr>
          <a:xfrm>
            <a:off x="4773168" y="3557016"/>
            <a:ext cx="4059936" cy="548640"/>
          </a:xfrm>
          <a:prstGeom prst="rect">
            <a:avLst/>
          </a:prstGeom>
          <a:noFill/>
          <a:ln/>
        </p:spPr>
        <p:txBody>
          <a:bodyPr wrap="square" lIns="0" tIns="0" rIns="0" bIns="0" rtlCol="0" anchor="t"/>
          <a:lstStyle/>
          <a:p>
            <a:pPr indent="0" marL="0">
              <a:buNone/>
            </a:pPr>
            <a:r>
              <a:rPr lang="en-US" sz="950" b="1" dirty="0">
                <a:solidFill>
                  <a:srgbClr val="B91C1C"/>
                </a:solidFill>
                <a:latin typeface="Calibri" pitchFamily="34" charset="0"/>
                <a:ea typeface="Calibri" pitchFamily="34" charset="-122"/>
                <a:cs typeface="Calibri" pitchFamily="34" charset="-120"/>
              </a:rPr>
              <a:t>▸ </a:t>
            </a:r>
            <a:pPr indent="0" marL="0">
              <a:buNone/>
            </a:pPr>
            <a:r>
              <a:rPr lang="en-US" sz="950" dirty="0">
                <a:solidFill>
                  <a:srgbClr val="1A2340"/>
                </a:solidFill>
                <a:latin typeface="Calibri" pitchFamily="34" charset="0"/>
                <a:ea typeface="Calibri" pitchFamily="34" charset="-122"/>
                <a:cs typeface="Calibri" pitchFamily="34" charset="-120"/>
              </a:rPr>
              <a:t>Tally ERP: Core accounting engine + TDL (Tally Definition Language) plugin system. Indian CAs write custom GST, payroll, and audit plugins without changing Tally's core.</a:t>
            </a:r>
            <a:endParaRPr lang="en-US" sz="950" dirty="0"/>
          </a:p>
        </p:txBody>
      </p:sp>
      <p:sp>
        <p:nvSpPr>
          <p:cNvPr id="21" name="Text 19"/>
          <p:cNvSpPr/>
          <p:nvPr/>
        </p:nvSpPr>
        <p:spPr>
          <a:xfrm>
            <a:off x="5120640" y="4846320"/>
            <a:ext cx="3840480" cy="201168"/>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Ruthran Raghavan, Chief AI Scientist</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A0D6E"/>
          </a:solidFill>
          <a:ln w="12700">
            <a:solidFill>
              <a:srgbClr val="3A0D6E"/>
            </a:solidFill>
            <a:prstDash val="solid"/>
          </a:ln>
        </p:spPr>
      </p:sp>
      <p:sp>
        <p:nvSpPr>
          <p:cNvPr id="3" name="Text 1"/>
          <p:cNvSpPr/>
          <p:nvPr/>
        </p:nvSpPr>
        <p:spPr>
          <a:xfrm>
            <a:off x="274320" y="0"/>
            <a:ext cx="8595360" cy="56692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Pattern 3  —  Microservices Architecture</a:t>
            </a:r>
            <a:endParaRPr lang="en-US" sz="1700" dirty="0"/>
          </a:p>
        </p:txBody>
      </p:sp>
      <p:sp>
        <p:nvSpPr>
          <p:cNvPr id="4" name="Text 2"/>
          <p:cNvSpPr/>
          <p:nvPr/>
        </p:nvSpPr>
        <p:spPr>
          <a:xfrm>
            <a:off x="228600" y="658368"/>
            <a:ext cx="8686800" cy="256032"/>
          </a:xfrm>
          <a:prstGeom prst="rect">
            <a:avLst/>
          </a:prstGeom>
          <a:noFill/>
          <a:ln/>
        </p:spPr>
        <p:txBody>
          <a:bodyPr wrap="square" lIns="0" tIns="0" rIns="0" bIns="0" rtlCol="0" anchor="ctr"/>
          <a:lstStyle/>
          <a:p>
            <a:pPr indent="0" marL="0">
              <a:buNone/>
            </a:pPr>
            <a:r>
              <a:rPr lang="en-US" sz="1150" i="1" dirty="0">
                <a:solidFill>
                  <a:srgbClr val="475569"/>
                </a:solidFill>
                <a:latin typeface="Calibri" pitchFamily="34" charset="0"/>
                <a:ea typeface="Calibri" pitchFamily="34" charset="-122"/>
                <a:cs typeface="Calibri" pitchFamily="34" charset="-120"/>
              </a:rPr>
              <a:t>Each feature of the app is a completely separate, independently deployable service — they talk over a network</a:t>
            </a:r>
            <a:endParaRPr lang="en-US" sz="1150" dirty="0"/>
          </a:p>
        </p:txBody>
      </p:sp>
      <p:sp>
        <p:nvSpPr>
          <p:cNvPr id="5" name="Shape 3"/>
          <p:cNvSpPr/>
          <p:nvPr/>
        </p:nvSpPr>
        <p:spPr>
          <a:xfrm>
            <a:off x="201168" y="960120"/>
            <a:ext cx="4251960" cy="749808"/>
          </a:xfrm>
          <a:prstGeom prst="rect">
            <a:avLst/>
          </a:prstGeom>
          <a:solidFill>
            <a:srgbClr val="F0EBFF"/>
          </a:solidFill>
          <a:ln w="12700">
            <a:solidFill>
              <a:srgbClr val="DDD6FE"/>
            </a:solidFill>
            <a:prstDash val="solid"/>
          </a:ln>
        </p:spPr>
      </p:sp>
      <p:sp>
        <p:nvSpPr>
          <p:cNvPr id="6" name="Text 4"/>
          <p:cNvSpPr/>
          <p:nvPr/>
        </p:nvSpPr>
        <p:spPr>
          <a:xfrm>
            <a:off x="310896" y="996696"/>
            <a:ext cx="4023360" cy="201168"/>
          </a:xfrm>
          <a:prstGeom prst="rect">
            <a:avLst/>
          </a:prstGeom>
          <a:noFill/>
          <a:ln/>
        </p:spPr>
        <p:txBody>
          <a:bodyPr wrap="square" lIns="0" tIns="0" rIns="0" bIns="0" rtlCol="0" anchor="ctr"/>
          <a:lstStyle/>
          <a:p>
            <a:pPr indent="0" marL="0">
              <a:buNone/>
            </a:pPr>
            <a:r>
              <a:rPr lang="en-US" sz="950" b="1" dirty="0">
                <a:solidFill>
                  <a:srgbClr val="6D28D9"/>
                </a:solidFill>
                <a:latin typeface="Calibri" pitchFamily="34" charset="0"/>
                <a:ea typeface="Calibri" pitchFamily="34" charset="-122"/>
                <a:cs typeface="Calibri" pitchFamily="34" charset="-120"/>
              </a:rPr>
              <a:t>📖  What is it?</a:t>
            </a:r>
            <a:endParaRPr lang="en-US" sz="950" dirty="0"/>
          </a:p>
        </p:txBody>
      </p:sp>
      <p:sp>
        <p:nvSpPr>
          <p:cNvPr id="7" name="Text 5"/>
          <p:cNvSpPr/>
          <p:nvPr/>
        </p:nvSpPr>
        <p:spPr>
          <a:xfrm>
            <a:off x="310896" y="1197864"/>
            <a:ext cx="4023360" cy="475488"/>
          </a:xfrm>
          <a:prstGeom prst="rect">
            <a:avLst/>
          </a:prstGeom>
          <a:noFill/>
          <a:ln/>
        </p:spPr>
        <p:txBody>
          <a:bodyPr wrap="square" lIns="0" tIns="0" rIns="0" bIns="0" rtlCol="0" anchor="t"/>
          <a:lstStyle/>
          <a:p>
            <a:pPr indent="0" marL="0">
              <a:buNone/>
            </a:pPr>
            <a:r>
              <a:rPr lang="en-US" sz="950" dirty="0">
                <a:solidFill>
                  <a:srgbClr val="1A2340"/>
                </a:solidFill>
                <a:latin typeface="Calibri" pitchFamily="34" charset="0"/>
                <a:ea typeface="Calibri" pitchFamily="34" charset="-122"/>
                <a:cs typeface="Calibri" pitchFamily="34" charset="-120"/>
              </a:rPr>
              <a:t>Instead of one big application, you have 10–100+ small services. Each service owns its own database and can be deployed independently. If one service crashes, the rest keep running.</a:t>
            </a:r>
            <a:endParaRPr lang="en-US" sz="950" dirty="0"/>
          </a:p>
        </p:txBody>
      </p:sp>
      <p:sp>
        <p:nvSpPr>
          <p:cNvPr id="8" name="Shape 6"/>
          <p:cNvSpPr/>
          <p:nvPr/>
        </p:nvSpPr>
        <p:spPr>
          <a:xfrm>
            <a:off x="201168" y="1764792"/>
            <a:ext cx="4251960" cy="1554480"/>
          </a:xfrm>
          <a:prstGeom prst="rect">
            <a:avLst/>
          </a:prstGeom>
          <a:solidFill>
            <a:srgbClr val="141E2C"/>
          </a:solidFill>
          <a:ln w="12700">
            <a:solidFill>
              <a:srgbClr val="2D3F55"/>
            </a:solidFill>
            <a:prstDash val="solid"/>
          </a:ln>
        </p:spPr>
      </p:sp>
      <p:sp>
        <p:nvSpPr>
          <p:cNvPr id="9" name="Text 7"/>
          <p:cNvSpPr/>
          <p:nvPr/>
        </p:nvSpPr>
        <p:spPr>
          <a:xfrm>
            <a:off x="310896" y="1801368"/>
            <a:ext cx="4023360" cy="201168"/>
          </a:xfrm>
          <a:prstGeom prst="rect">
            <a:avLst/>
          </a:prstGeom>
          <a:noFill/>
          <a:ln/>
        </p:spPr>
        <p:txBody>
          <a:bodyPr wrap="square" lIns="0" tIns="0" rIns="0" bIns="0" rtlCol="0" anchor="ctr"/>
          <a:lstStyle/>
          <a:p>
            <a:pPr indent="0" marL="0">
              <a:buNone/>
            </a:pPr>
            <a:r>
              <a:rPr lang="en-US" sz="950" b="1" dirty="0">
                <a:solidFill>
                  <a:srgbClr val="A78BFA"/>
                </a:solidFill>
                <a:latin typeface="Consolas" pitchFamily="34" charset="0"/>
                <a:ea typeface="Consolas" pitchFamily="34" charset="-122"/>
                <a:cs typeface="Consolas" pitchFamily="34" charset="-120"/>
              </a:rPr>
              <a:t>How it works:</a:t>
            </a:r>
            <a:endParaRPr lang="en-US" sz="950" dirty="0"/>
          </a:p>
        </p:txBody>
      </p:sp>
      <p:sp>
        <p:nvSpPr>
          <p:cNvPr id="10" name="Text 8"/>
          <p:cNvSpPr/>
          <p:nvPr/>
        </p:nvSpPr>
        <p:spPr>
          <a:xfrm>
            <a:off x="310896" y="1993392"/>
            <a:ext cx="4023360" cy="1261872"/>
          </a:xfrm>
          <a:prstGeom prst="rect">
            <a:avLst/>
          </a:prstGeom>
          <a:noFill/>
          <a:ln/>
        </p:spPr>
        <p:txBody>
          <a:bodyPr wrap="square" lIns="0" tIns="0" rIns="0" bIns="0" rtlCol="0" anchor="t"/>
          <a:lstStyle/>
          <a:p>
            <a:pPr indent="0" marL="0">
              <a:buNone/>
            </a:pPr>
            <a:r>
              <a:rPr lang="en-US" sz="900" dirty="0">
                <a:solidFill>
                  <a:srgbClr val="93C5FD"/>
                </a:solidFill>
                <a:latin typeface="Consolas" pitchFamily="34" charset="0"/>
                <a:ea typeface="Consolas" pitchFamily="34" charset="-122"/>
                <a:cs typeface="Consolas" pitchFamily="34" charset="-120"/>
              </a:rPr>
              <a:t>[Login Service] [Product Service] [Cart Service]</a:t>
            </a:r>
            <a:endParaRPr lang="en-US" sz="900" dirty="0"/>
          </a:p>
          <a:p>
            <a:pPr indent="0" marL="0">
              <a:buNone/>
            </a:pPr>
            <a:r>
              <a:rPr lang="en-US" sz="900" dirty="0">
                <a:solidFill>
                  <a:srgbClr val="93C5FD"/>
                </a:solidFill>
                <a:latin typeface="Consolas" pitchFamily="34" charset="0"/>
                <a:ea typeface="Consolas" pitchFamily="34" charset="-122"/>
                <a:cs typeface="Consolas" pitchFamily="34" charset="-120"/>
              </a:rPr>
              <a:t>       ↕               ↕                ↕</a:t>
            </a:r>
            <a:endParaRPr lang="en-US" sz="900" dirty="0"/>
          </a:p>
          <a:p>
            <a:pPr indent="0" marL="0">
              <a:buNone/>
            </a:pPr>
            <a:r>
              <a:rPr lang="en-US" sz="900" dirty="0">
                <a:solidFill>
                  <a:srgbClr val="93C5FD"/>
                </a:solidFill>
                <a:latin typeface="Consolas" pitchFamily="34" charset="0"/>
                <a:ea typeface="Consolas" pitchFamily="34" charset="-122"/>
                <a:cs typeface="Consolas" pitchFamily="34" charset="-120"/>
              </a:rPr>
              <a:t>  [Payment Service]  [Notification Service]</a:t>
            </a:r>
            <a:endParaRPr lang="en-US" sz="900" dirty="0"/>
          </a:p>
          <a:p>
            <a:pPr indent="0" marL="0">
              <a:buNone/>
            </a:pPr>
            <a:r>
              <a:rPr lang="en-US" sz="900" dirty="0">
                <a:solidFill>
                  <a:srgbClr val="93C5FD"/>
                </a:solidFill>
                <a:latin typeface="Consolas" pitchFamily="34" charset="0"/>
                <a:ea typeface="Consolas" pitchFamily="34" charset="-122"/>
                <a:cs typeface="Consolas" pitchFamily="34" charset="-120"/>
              </a:rPr>
              <a:t>         ↕                  ↕</a:t>
            </a:r>
            <a:endParaRPr lang="en-US" sz="900" dirty="0"/>
          </a:p>
          <a:p>
            <a:pPr indent="0" marL="0">
              <a:buNone/>
            </a:pPr>
            <a:r>
              <a:rPr lang="en-US" sz="900" dirty="0">
                <a:solidFill>
                  <a:srgbClr val="93C5FD"/>
                </a:solidFill>
                <a:latin typeface="Consolas" pitchFamily="34" charset="0"/>
                <a:ea typeface="Consolas" pitchFamily="34" charset="-122"/>
                <a:cs typeface="Consolas" pitchFamily="34" charset="-120"/>
              </a:rPr>
              <a:t>     [ API Gateway — single entry point ]</a:t>
            </a:r>
            <a:endParaRPr lang="en-US" sz="900" dirty="0"/>
          </a:p>
        </p:txBody>
      </p:sp>
      <p:sp>
        <p:nvSpPr>
          <p:cNvPr id="11" name="Shape 9"/>
          <p:cNvSpPr/>
          <p:nvPr/>
        </p:nvSpPr>
        <p:spPr>
          <a:xfrm>
            <a:off x="4663440" y="960120"/>
            <a:ext cx="4279392" cy="1581912"/>
          </a:xfrm>
          <a:prstGeom prst="rect">
            <a:avLst/>
          </a:prstGeom>
          <a:solidFill>
            <a:srgbClr val="EFF6FF"/>
          </a:solidFill>
          <a:ln w="12700">
            <a:solidFill>
              <a:srgbClr val="BFDBFE"/>
            </a:solidFill>
            <a:prstDash val="solid"/>
          </a:ln>
        </p:spPr>
      </p:sp>
      <p:sp>
        <p:nvSpPr>
          <p:cNvPr id="12" name="Shape 10"/>
          <p:cNvSpPr/>
          <p:nvPr/>
        </p:nvSpPr>
        <p:spPr>
          <a:xfrm>
            <a:off x="4663440" y="960120"/>
            <a:ext cx="4279392" cy="329184"/>
          </a:xfrm>
          <a:prstGeom prst="rect">
            <a:avLst/>
          </a:prstGeom>
          <a:solidFill>
            <a:srgbClr val="1E40AF"/>
          </a:solidFill>
          <a:ln w="12700">
            <a:solidFill>
              <a:srgbClr val="1E40AF"/>
            </a:solidFill>
            <a:prstDash val="solid"/>
          </a:ln>
        </p:spPr>
      </p:sp>
      <p:sp>
        <p:nvSpPr>
          <p:cNvPr id="13" name="Text 11"/>
          <p:cNvSpPr/>
          <p:nvPr/>
        </p:nvSpPr>
        <p:spPr>
          <a:xfrm>
            <a:off x="4773168" y="960120"/>
            <a:ext cx="4059936" cy="32918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American Companies</a:t>
            </a:r>
            <a:endParaRPr lang="en-US" sz="1050" dirty="0"/>
          </a:p>
        </p:txBody>
      </p:sp>
      <p:sp>
        <p:nvSpPr>
          <p:cNvPr id="14" name="Text 12"/>
          <p:cNvSpPr/>
          <p:nvPr/>
        </p:nvSpPr>
        <p:spPr>
          <a:xfrm>
            <a:off x="4773168" y="1325880"/>
            <a:ext cx="4059936" cy="521208"/>
          </a:xfrm>
          <a:prstGeom prst="rect">
            <a:avLst/>
          </a:prstGeom>
          <a:noFill/>
          <a:ln/>
        </p:spPr>
        <p:txBody>
          <a:bodyPr wrap="square" lIns="0" tIns="0" rIns="0" bIns="0" rtlCol="0" anchor="t"/>
          <a:lstStyle/>
          <a:p>
            <a:pPr indent="0" marL="0">
              <a:buNone/>
            </a:pPr>
            <a:r>
              <a:rPr lang="en-US" sz="950" b="1" dirty="0">
                <a:solidFill>
                  <a:srgbClr val="1E40AF"/>
                </a:solidFill>
                <a:latin typeface="Calibri" pitchFamily="34" charset="0"/>
                <a:ea typeface="Calibri" pitchFamily="34" charset="-122"/>
                <a:cs typeface="Calibri" pitchFamily="34" charset="-120"/>
              </a:rPr>
              <a:t>▸ </a:t>
            </a:r>
            <a:pPr indent="0" marL="0">
              <a:buNone/>
            </a:pPr>
            <a:r>
              <a:rPr lang="en-US" sz="950" dirty="0">
                <a:solidFill>
                  <a:srgbClr val="1A2340"/>
                </a:solidFill>
                <a:latin typeface="Calibri" pitchFamily="34" charset="0"/>
                <a:ea typeface="Calibri" pitchFamily="34" charset="-122"/>
                <a:cs typeface="Calibri" pitchFamily="34" charset="-120"/>
              </a:rPr>
              <a:t>Netflix: 700+ microservices. Login, Recommendations, Video Streaming, Billing, Search are ALL separate services. Recommendations can be updated without touching Streaming.</a:t>
            </a:r>
            <a:endParaRPr lang="en-US" sz="950" dirty="0"/>
          </a:p>
        </p:txBody>
      </p:sp>
      <p:sp>
        <p:nvSpPr>
          <p:cNvPr id="15" name="Text 13"/>
          <p:cNvSpPr/>
          <p:nvPr/>
        </p:nvSpPr>
        <p:spPr>
          <a:xfrm>
            <a:off x="4773168" y="1892808"/>
            <a:ext cx="4059936" cy="521208"/>
          </a:xfrm>
          <a:prstGeom prst="rect">
            <a:avLst/>
          </a:prstGeom>
          <a:noFill/>
          <a:ln/>
        </p:spPr>
        <p:txBody>
          <a:bodyPr wrap="square" lIns="0" tIns="0" rIns="0" bIns="0" rtlCol="0" anchor="t"/>
          <a:lstStyle/>
          <a:p>
            <a:pPr indent="0" marL="0">
              <a:buNone/>
            </a:pPr>
            <a:r>
              <a:rPr lang="en-US" sz="950" b="1" dirty="0">
                <a:solidFill>
                  <a:srgbClr val="1E40AF"/>
                </a:solidFill>
                <a:latin typeface="Calibri" pitchFamily="34" charset="0"/>
                <a:ea typeface="Calibri" pitchFamily="34" charset="-122"/>
                <a:cs typeface="Calibri" pitchFamily="34" charset="-120"/>
              </a:rPr>
              <a:t>▸ </a:t>
            </a:r>
            <a:pPr indent="0" marL="0">
              <a:buNone/>
            </a:pPr>
            <a:r>
              <a:rPr lang="en-US" sz="950" dirty="0">
                <a:solidFill>
                  <a:srgbClr val="1A2340"/>
                </a:solidFill>
                <a:latin typeface="Calibri" pitchFamily="34" charset="0"/>
                <a:ea typeface="Calibri" pitchFamily="34" charset="-122"/>
                <a:cs typeface="Calibri" pitchFamily="34" charset="-120"/>
              </a:rPr>
              <a:t>Uber: Trip Management, Driver Matching, Maps, Surge Pricing, and Payments are separate services. Surge pricing scales independently during peak hours.</a:t>
            </a:r>
            <a:endParaRPr lang="en-US" sz="950" dirty="0"/>
          </a:p>
        </p:txBody>
      </p:sp>
      <p:sp>
        <p:nvSpPr>
          <p:cNvPr id="16" name="Shape 14"/>
          <p:cNvSpPr/>
          <p:nvPr/>
        </p:nvSpPr>
        <p:spPr>
          <a:xfrm>
            <a:off x="4663440" y="2596896"/>
            <a:ext cx="4279392" cy="1636776"/>
          </a:xfrm>
          <a:prstGeom prst="rect">
            <a:avLst/>
          </a:prstGeom>
          <a:solidFill>
            <a:srgbClr val="FFF5F5"/>
          </a:solidFill>
          <a:ln w="12700">
            <a:solidFill>
              <a:srgbClr val="FECACA"/>
            </a:solidFill>
            <a:prstDash val="solid"/>
          </a:ln>
        </p:spPr>
      </p:sp>
      <p:sp>
        <p:nvSpPr>
          <p:cNvPr id="17" name="Shape 15"/>
          <p:cNvSpPr/>
          <p:nvPr/>
        </p:nvSpPr>
        <p:spPr>
          <a:xfrm>
            <a:off x="4663440" y="2596896"/>
            <a:ext cx="4279392" cy="329184"/>
          </a:xfrm>
          <a:prstGeom prst="rect">
            <a:avLst/>
          </a:prstGeom>
          <a:solidFill>
            <a:srgbClr val="B91C1C"/>
          </a:solidFill>
          <a:ln w="12700">
            <a:solidFill>
              <a:srgbClr val="B91C1C"/>
            </a:solidFill>
            <a:prstDash val="solid"/>
          </a:ln>
        </p:spPr>
      </p:sp>
      <p:sp>
        <p:nvSpPr>
          <p:cNvPr id="18" name="Text 16"/>
          <p:cNvSpPr/>
          <p:nvPr/>
        </p:nvSpPr>
        <p:spPr>
          <a:xfrm>
            <a:off x="4773168" y="2596896"/>
            <a:ext cx="4059936" cy="32918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Indian Companies</a:t>
            </a:r>
            <a:endParaRPr lang="en-US" sz="1050" dirty="0"/>
          </a:p>
        </p:txBody>
      </p:sp>
      <p:sp>
        <p:nvSpPr>
          <p:cNvPr id="19" name="Text 17"/>
          <p:cNvSpPr/>
          <p:nvPr/>
        </p:nvSpPr>
        <p:spPr>
          <a:xfrm>
            <a:off x="4773168" y="2962656"/>
            <a:ext cx="4059936" cy="548640"/>
          </a:xfrm>
          <a:prstGeom prst="rect">
            <a:avLst/>
          </a:prstGeom>
          <a:noFill/>
          <a:ln/>
        </p:spPr>
        <p:txBody>
          <a:bodyPr wrap="square" lIns="0" tIns="0" rIns="0" bIns="0" rtlCol="0" anchor="t"/>
          <a:lstStyle/>
          <a:p>
            <a:pPr indent="0" marL="0">
              <a:buNone/>
            </a:pPr>
            <a:r>
              <a:rPr lang="en-US" sz="950" b="1" dirty="0">
                <a:solidFill>
                  <a:srgbClr val="B91C1C"/>
                </a:solidFill>
                <a:latin typeface="Calibri" pitchFamily="34" charset="0"/>
                <a:ea typeface="Calibri" pitchFamily="34" charset="-122"/>
                <a:cs typeface="Calibri" pitchFamily="34" charset="-120"/>
              </a:rPr>
              <a:t>▸ </a:t>
            </a:r>
            <a:pPr indent="0" marL="0">
              <a:buNone/>
            </a:pPr>
            <a:r>
              <a:rPr lang="en-US" sz="950" dirty="0">
                <a:solidFill>
                  <a:srgbClr val="1A2340"/>
                </a:solidFill>
                <a:latin typeface="Calibri" pitchFamily="34" charset="0"/>
                <a:ea typeface="Calibri" pitchFamily="34" charset="-122"/>
                <a:cs typeface="Calibri" pitchFamily="34" charset="-120"/>
              </a:rPr>
              <a:t>Flipkart: 20+ microservices — Product Catalog, Cart, Checkout, Payment, Delivery Tracking, Notifications all run independently. During Big Billion Days, only Cart and Payment scale up.</a:t>
            </a:r>
            <a:endParaRPr lang="en-US" sz="950" dirty="0"/>
          </a:p>
        </p:txBody>
      </p:sp>
      <p:sp>
        <p:nvSpPr>
          <p:cNvPr id="20" name="Text 18"/>
          <p:cNvSpPr/>
          <p:nvPr/>
        </p:nvSpPr>
        <p:spPr>
          <a:xfrm>
            <a:off x="4773168" y="3557016"/>
            <a:ext cx="4059936" cy="548640"/>
          </a:xfrm>
          <a:prstGeom prst="rect">
            <a:avLst/>
          </a:prstGeom>
          <a:noFill/>
          <a:ln/>
        </p:spPr>
        <p:txBody>
          <a:bodyPr wrap="square" lIns="0" tIns="0" rIns="0" bIns="0" rtlCol="0" anchor="t"/>
          <a:lstStyle/>
          <a:p>
            <a:pPr indent="0" marL="0">
              <a:buNone/>
            </a:pPr>
            <a:r>
              <a:rPr lang="en-US" sz="950" b="1" dirty="0">
                <a:solidFill>
                  <a:srgbClr val="B91C1C"/>
                </a:solidFill>
                <a:latin typeface="Calibri" pitchFamily="34" charset="0"/>
                <a:ea typeface="Calibri" pitchFamily="34" charset="-122"/>
                <a:cs typeface="Calibri" pitchFamily="34" charset="-120"/>
              </a:rPr>
              <a:t>▸ </a:t>
            </a:r>
            <a:pPr indent="0" marL="0">
              <a:buNone/>
            </a:pPr>
            <a:r>
              <a:rPr lang="en-US" sz="950" dirty="0">
                <a:solidFill>
                  <a:srgbClr val="1A2340"/>
                </a:solidFill>
                <a:latin typeface="Calibri" pitchFamily="34" charset="0"/>
                <a:ea typeface="Calibri" pitchFamily="34" charset="-122"/>
                <a:cs typeface="Calibri" pitchFamily="34" charset="-120"/>
              </a:rPr>
              <a:t>Razorpay: Payment Processing, Settlement Engine, Fraud Detection, and Reconciliation are separate microservices. Fraud Detection can be updated without touching Payment Processing.</a:t>
            </a:r>
            <a:endParaRPr lang="en-US" sz="950" dirty="0"/>
          </a:p>
        </p:txBody>
      </p:sp>
      <p:sp>
        <p:nvSpPr>
          <p:cNvPr id="21" name="Text 19"/>
          <p:cNvSpPr/>
          <p:nvPr/>
        </p:nvSpPr>
        <p:spPr>
          <a:xfrm>
            <a:off x="5120640" y="4846320"/>
            <a:ext cx="3840480" cy="201168"/>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Ruthran Raghavan, Chief AI Scientist</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A0D6E"/>
          </a:solidFill>
          <a:ln w="12700">
            <a:solidFill>
              <a:srgbClr val="3A0D6E"/>
            </a:solidFill>
            <a:prstDash val="solid"/>
          </a:ln>
        </p:spPr>
      </p:sp>
      <p:sp>
        <p:nvSpPr>
          <p:cNvPr id="3" name="Text 1"/>
          <p:cNvSpPr/>
          <p:nvPr/>
        </p:nvSpPr>
        <p:spPr>
          <a:xfrm>
            <a:off x="274320" y="0"/>
            <a:ext cx="8595360" cy="56692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Pattern 4  —  Hexagonal Architecture</a:t>
            </a:r>
            <a:endParaRPr lang="en-US" sz="1700" dirty="0"/>
          </a:p>
        </p:txBody>
      </p:sp>
      <p:sp>
        <p:nvSpPr>
          <p:cNvPr id="4" name="Text 2"/>
          <p:cNvSpPr/>
          <p:nvPr/>
        </p:nvSpPr>
        <p:spPr>
          <a:xfrm>
            <a:off x="228600" y="658368"/>
            <a:ext cx="8686800" cy="256032"/>
          </a:xfrm>
          <a:prstGeom prst="rect">
            <a:avLst/>
          </a:prstGeom>
          <a:noFill/>
          <a:ln/>
        </p:spPr>
        <p:txBody>
          <a:bodyPr wrap="square" lIns="0" tIns="0" rIns="0" bIns="0" rtlCol="0" anchor="ctr"/>
          <a:lstStyle/>
          <a:p>
            <a:pPr indent="0" marL="0">
              <a:buNone/>
            </a:pPr>
            <a:r>
              <a:rPr lang="en-US" sz="1150" i="1" dirty="0">
                <a:solidFill>
                  <a:srgbClr val="475569"/>
                </a:solidFill>
                <a:latin typeface="Calibri" pitchFamily="34" charset="0"/>
                <a:ea typeface="Calibri" pitchFamily="34" charset="-122"/>
                <a:cs typeface="Calibri" pitchFamily="34" charset="-120"/>
              </a:rPr>
              <a:t>Business logic sits in the center — completely isolated. External systems connect through 'ports' and 'adapters'</a:t>
            </a:r>
            <a:endParaRPr lang="en-US" sz="1150" dirty="0"/>
          </a:p>
        </p:txBody>
      </p:sp>
      <p:sp>
        <p:nvSpPr>
          <p:cNvPr id="5" name="Shape 3"/>
          <p:cNvSpPr/>
          <p:nvPr/>
        </p:nvSpPr>
        <p:spPr>
          <a:xfrm>
            <a:off x="201168" y="960120"/>
            <a:ext cx="4251960" cy="749808"/>
          </a:xfrm>
          <a:prstGeom prst="rect">
            <a:avLst/>
          </a:prstGeom>
          <a:solidFill>
            <a:srgbClr val="F0EBFF"/>
          </a:solidFill>
          <a:ln w="12700">
            <a:solidFill>
              <a:srgbClr val="DDD6FE"/>
            </a:solidFill>
            <a:prstDash val="solid"/>
          </a:ln>
        </p:spPr>
      </p:sp>
      <p:sp>
        <p:nvSpPr>
          <p:cNvPr id="6" name="Text 4"/>
          <p:cNvSpPr/>
          <p:nvPr/>
        </p:nvSpPr>
        <p:spPr>
          <a:xfrm>
            <a:off x="310896" y="996696"/>
            <a:ext cx="4023360" cy="201168"/>
          </a:xfrm>
          <a:prstGeom prst="rect">
            <a:avLst/>
          </a:prstGeom>
          <a:noFill/>
          <a:ln/>
        </p:spPr>
        <p:txBody>
          <a:bodyPr wrap="square" lIns="0" tIns="0" rIns="0" bIns="0" rtlCol="0" anchor="ctr"/>
          <a:lstStyle/>
          <a:p>
            <a:pPr indent="0" marL="0">
              <a:buNone/>
            </a:pPr>
            <a:r>
              <a:rPr lang="en-US" sz="950" b="1" dirty="0">
                <a:solidFill>
                  <a:srgbClr val="6D28D9"/>
                </a:solidFill>
                <a:latin typeface="Calibri" pitchFamily="34" charset="0"/>
                <a:ea typeface="Calibri" pitchFamily="34" charset="-122"/>
                <a:cs typeface="Calibri" pitchFamily="34" charset="-120"/>
              </a:rPr>
              <a:t>📖  What is it?</a:t>
            </a:r>
            <a:endParaRPr lang="en-US" sz="950" dirty="0"/>
          </a:p>
        </p:txBody>
      </p:sp>
      <p:sp>
        <p:nvSpPr>
          <p:cNvPr id="7" name="Text 5"/>
          <p:cNvSpPr/>
          <p:nvPr/>
        </p:nvSpPr>
        <p:spPr>
          <a:xfrm>
            <a:off x="310896" y="1197864"/>
            <a:ext cx="4023360" cy="475488"/>
          </a:xfrm>
          <a:prstGeom prst="rect">
            <a:avLst/>
          </a:prstGeom>
          <a:noFill/>
          <a:ln/>
        </p:spPr>
        <p:txBody>
          <a:bodyPr wrap="square" lIns="0" tIns="0" rIns="0" bIns="0" rtlCol="0" anchor="t"/>
          <a:lstStyle/>
          <a:p>
            <a:pPr indent="0" marL="0">
              <a:buNone/>
            </a:pPr>
            <a:r>
              <a:rPr lang="en-US" sz="950" dirty="0">
                <a:solidFill>
                  <a:srgbClr val="1A2340"/>
                </a:solidFill>
                <a:latin typeface="Calibri" pitchFamily="34" charset="0"/>
                <a:ea typeface="Calibri" pitchFamily="34" charset="-122"/>
                <a:cs typeface="Calibri" pitchFamily="34" charset="-120"/>
              </a:rPr>
              <a:t>The core business rules never depend on databases, APIs, or UI. These external things connect via ports (interfaces) and adapters (implementations). Swap any external system without changing the core.</a:t>
            </a:r>
            <a:endParaRPr lang="en-US" sz="950" dirty="0"/>
          </a:p>
        </p:txBody>
      </p:sp>
      <p:sp>
        <p:nvSpPr>
          <p:cNvPr id="8" name="Shape 6"/>
          <p:cNvSpPr/>
          <p:nvPr/>
        </p:nvSpPr>
        <p:spPr>
          <a:xfrm>
            <a:off x="201168" y="1764792"/>
            <a:ext cx="4251960" cy="1554480"/>
          </a:xfrm>
          <a:prstGeom prst="rect">
            <a:avLst/>
          </a:prstGeom>
          <a:solidFill>
            <a:srgbClr val="141E2C"/>
          </a:solidFill>
          <a:ln w="12700">
            <a:solidFill>
              <a:srgbClr val="2D3F55"/>
            </a:solidFill>
            <a:prstDash val="solid"/>
          </a:ln>
        </p:spPr>
      </p:sp>
      <p:sp>
        <p:nvSpPr>
          <p:cNvPr id="9" name="Text 7"/>
          <p:cNvSpPr/>
          <p:nvPr/>
        </p:nvSpPr>
        <p:spPr>
          <a:xfrm>
            <a:off x="310896" y="1801368"/>
            <a:ext cx="4023360" cy="201168"/>
          </a:xfrm>
          <a:prstGeom prst="rect">
            <a:avLst/>
          </a:prstGeom>
          <a:noFill/>
          <a:ln/>
        </p:spPr>
        <p:txBody>
          <a:bodyPr wrap="square" lIns="0" tIns="0" rIns="0" bIns="0" rtlCol="0" anchor="ctr"/>
          <a:lstStyle/>
          <a:p>
            <a:pPr indent="0" marL="0">
              <a:buNone/>
            </a:pPr>
            <a:r>
              <a:rPr lang="en-US" sz="950" b="1" dirty="0">
                <a:solidFill>
                  <a:srgbClr val="A78BFA"/>
                </a:solidFill>
                <a:latin typeface="Consolas" pitchFamily="34" charset="0"/>
                <a:ea typeface="Consolas" pitchFamily="34" charset="-122"/>
                <a:cs typeface="Consolas" pitchFamily="34" charset="-120"/>
              </a:rPr>
              <a:t>How it works:</a:t>
            </a:r>
            <a:endParaRPr lang="en-US" sz="950" dirty="0"/>
          </a:p>
        </p:txBody>
      </p:sp>
      <p:sp>
        <p:nvSpPr>
          <p:cNvPr id="10" name="Text 8"/>
          <p:cNvSpPr/>
          <p:nvPr/>
        </p:nvSpPr>
        <p:spPr>
          <a:xfrm>
            <a:off x="310896" y="1993392"/>
            <a:ext cx="4023360" cy="1261872"/>
          </a:xfrm>
          <a:prstGeom prst="rect">
            <a:avLst/>
          </a:prstGeom>
          <a:noFill/>
          <a:ln/>
        </p:spPr>
        <p:txBody>
          <a:bodyPr wrap="square" lIns="0" tIns="0" rIns="0" bIns="0" rtlCol="0" anchor="t"/>
          <a:lstStyle/>
          <a:p>
            <a:pPr indent="0" marL="0">
              <a:buNone/>
            </a:pPr>
            <a:r>
              <a:rPr lang="en-US" sz="900" dirty="0">
                <a:solidFill>
                  <a:srgbClr val="93C5FD"/>
                </a:solidFill>
                <a:latin typeface="Consolas" pitchFamily="34" charset="0"/>
                <a:ea typeface="Consolas" pitchFamily="34" charset="-122"/>
                <a:cs typeface="Consolas" pitchFamily="34" charset="-120"/>
              </a:rPr>
              <a:t>   [REST API]  [Mobile App]  [Admin UI]</a:t>
            </a:r>
            <a:endParaRPr lang="en-US" sz="900" dirty="0"/>
          </a:p>
          <a:p>
            <a:pPr indent="0" marL="0">
              <a:buNone/>
            </a:pPr>
            <a:r>
              <a:rPr lang="en-US" sz="900" dirty="0">
                <a:solidFill>
                  <a:srgbClr val="93C5FD"/>
                </a:solidFill>
                <a:latin typeface="Consolas" pitchFamily="34" charset="0"/>
                <a:ea typeface="Consolas" pitchFamily="34" charset="-122"/>
                <a:cs typeface="Consolas" pitchFamily="34" charset="-120"/>
              </a:rPr>
              <a:t>       ↓            ↓           ↓      ← Adapters</a:t>
            </a:r>
            <a:endParaRPr lang="en-US" sz="900" dirty="0"/>
          </a:p>
          <a:p>
            <a:pPr indent="0" marL="0">
              <a:buNone/>
            </a:pPr>
            <a:r>
              <a:rPr lang="en-US" sz="900" dirty="0">
                <a:solidFill>
                  <a:srgbClr val="93C5FD"/>
                </a:solidFill>
                <a:latin typeface="Consolas" pitchFamily="34" charset="0"/>
                <a:ea typeface="Consolas" pitchFamily="34" charset="-122"/>
                <a:cs typeface="Consolas" pitchFamily="34" charset="-120"/>
              </a:rPr>
              <a:t>  ┌──── PORT ─────────────── PORT ────┐</a:t>
            </a:r>
            <a:endParaRPr lang="en-US" sz="900" dirty="0"/>
          </a:p>
          <a:p>
            <a:pPr indent="0" marL="0">
              <a:buNone/>
            </a:pPr>
            <a:r>
              <a:rPr lang="en-US" sz="900" dirty="0">
                <a:solidFill>
                  <a:srgbClr val="93C5FD"/>
                </a:solidFill>
                <a:latin typeface="Consolas" pitchFamily="34" charset="0"/>
                <a:ea typeface="Consolas" pitchFamily="34" charset="-122"/>
                <a:cs typeface="Consolas" pitchFamily="34" charset="-120"/>
              </a:rPr>
              <a:t>  │   CORE BUSINESS LOGIC (PURE)      │</a:t>
            </a:r>
            <a:endParaRPr lang="en-US" sz="900" dirty="0"/>
          </a:p>
          <a:p>
            <a:pPr indent="0" marL="0">
              <a:buNone/>
            </a:pPr>
            <a:r>
              <a:rPr lang="en-US" sz="900" dirty="0">
                <a:solidFill>
                  <a:srgbClr val="93C5FD"/>
                </a:solidFill>
                <a:latin typeface="Consolas" pitchFamily="34" charset="0"/>
                <a:ea typeface="Consolas" pitchFamily="34" charset="-122"/>
                <a:cs typeface="Consolas" pitchFamily="34" charset="-120"/>
              </a:rPr>
              <a:t>  └──── PORT ─────────────── PORT ────┘</a:t>
            </a:r>
            <a:endParaRPr lang="en-US" sz="900" dirty="0"/>
          </a:p>
          <a:p>
            <a:pPr indent="0" marL="0">
              <a:buNone/>
            </a:pPr>
            <a:r>
              <a:rPr lang="en-US" sz="900" dirty="0">
                <a:solidFill>
                  <a:srgbClr val="93C5FD"/>
                </a:solidFill>
                <a:latin typeface="Consolas" pitchFamily="34" charset="0"/>
                <a:ea typeface="Consolas" pitchFamily="34" charset="-122"/>
                <a:cs typeface="Consolas" pitchFamily="34" charset="-120"/>
              </a:rPr>
              <a:t>       ↓            ↓           ↓      ← Adapters</a:t>
            </a:r>
            <a:endParaRPr lang="en-US" sz="900" dirty="0"/>
          </a:p>
          <a:p>
            <a:pPr indent="0" marL="0">
              <a:buNone/>
            </a:pPr>
            <a:r>
              <a:rPr lang="en-US" sz="900" dirty="0">
                <a:solidFill>
                  <a:srgbClr val="93C5FD"/>
                </a:solidFill>
                <a:latin typeface="Consolas" pitchFamily="34" charset="0"/>
                <a:ea typeface="Consolas" pitchFamily="34" charset="-122"/>
                <a:cs typeface="Consolas" pitchFamily="34" charset="-120"/>
              </a:rPr>
              <a:t>  [Database]   [Email API]  [Bank API]</a:t>
            </a:r>
            <a:endParaRPr lang="en-US" sz="900" dirty="0"/>
          </a:p>
        </p:txBody>
      </p:sp>
      <p:sp>
        <p:nvSpPr>
          <p:cNvPr id="11" name="Shape 9"/>
          <p:cNvSpPr/>
          <p:nvPr/>
        </p:nvSpPr>
        <p:spPr>
          <a:xfrm>
            <a:off x="4663440" y="960120"/>
            <a:ext cx="4279392" cy="1581912"/>
          </a:xfrm>
          <a:prstGeom prst="rect">
            <a:avLst/>
          </a:prstGeom>
          <a:solidFill>
            <a:srgbClr val="EFF6FF"/>
          </a:solidFill>
          <a:ln w="12700">
            <a:solidFill>
              <a:srgbClr val="BFDBFE"/>
            </a:solidFill>
            <a:prstDash val="solid"/>
          </a:ln>
        </p:spPr>
      </p:sp>
      <p:sp>
        <p:nvSpPr>
          <p:cNvPr id="12" name="Shape 10"/>
          <p:cNvSpPr/>
          <p:nvPr/>
        </p:nvSpPr>
        <p:spPr>
          <a:xfrm>
            <a:off x="4663440" y="960120"/>
            <a:ext cx="4279392" cy="329184"/>
          </a:xfrm>
          <a:prstGeom prst="rect">
            <a:avLst/>
          </a:prstGeom>
          <a:solidFill>
            <a:srgbClr val="1E40AF"/>
          </a:solidFill>
          <a:ln w="12700">
            <a:solidFill>
              <a:srgbClr val="1E40AF"/>
            </a:solidFill>
            <a:prstDash val="solid"/>
          </a:ln>
        </p:spPr>
      </p:sp>
      <p:sp>
        <p:nvSpPr>
          <p:cNvPr id="13" name="Text 11"/>
          <p:cNvSpPr/>
          <p:nvPr/>
        </p:nvSpPr>
        <p:spPr>
          <a:xfrm>
            <a:off x="4773168" y="960120"/>
            <a:ext cx="4059936" cy="32918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American Companies</a:t>
            </a:r>
            <a:endParaRPr lang="en-US" sz="1050" dirty="0"/>
          </a:p>
        </p:txBody>
      </p:sp>
      <p:sp>
        <p:nvSpPr>
          <p:cNvPr id="14" name="Text 12"/>
          <p:cNvSpPr/>
          <p:nvPr/>
        </p:nvSpPr>
        <p:spPr>
          <a:xfrm>
            <a:off x="4773168" y="1325880"/>
            <a:ext cx="4059936" cy="521208"/>
          </a:xfrm>
          <a:prstGeom prst="rect">
            <a:avLst/>
          </a:prstGeom>
          <a:noFill/>
          <a:ln/>
        </p:spPr>
        <p:txBody>
          <a:bodyPr wrap="square" lIns="0" tIns="0" rIns="0" bIns="0" rtlCol="0" anchor="t"/>
          <a:lstStyle/>
          <a:p>
            <a:pPr indent="0" marL="0">
              <a:buNone/>
            </a:pPr>
            <a:r>
              <a:rPr lang="en-US" sz="950" b="1" dirty="0">
                <a:solidFill>
                  <a:srgbClr val="1E40AF"/>
                </a:solidFill>
                <a:latin typeface="Calibri" pitchFamily="34" charset="0"/>
                <a:ea typeface="Calibri" pitchFamily="34" charset="-122"/>
                <a:cs typeface="Calibri" pitchFamily="34" charset="-120"/>
              </a:rPr>
              <a:t>▸ </a:t>
            </a:r>
            <a:pPr indent="0" marL="0">
              <a:buNone/>
            </a:pPr>
            <a:r>
              <a:rPr lang="en-US" sz="950" dirty="0">
                <a:solidFill>
                  <a:srgbClr val="1A2340"/>
                </a:solidFill>
                <a:latin typeface="Calibri" pitchFamily="34" charset="0"/>
                <a:ea typeface="Calibri" pitchFamily="34" charset="-122"/>
                <a:cs typeface="Calibri" pitchFamily="34" charset="-120"/>
              </a:rPr>
              <a:t>Stripe: Core payment processing logic is completely isolated. Adapters connect to Visa, MasterCard, bank APIs, and webhook systems. You can add a new bank without touching payment rules.</a:t>
            </a:r>
            <a:endParaRPr lang="en-US" sz="950" dirty="0"/>
          </a:p>
        </p:txBody>
      </p:sp>
      <p:sp>
        <p:nvSpPr>
          <p:cNvPr id="15" name="Text 13"/>
          <p:cNvSpPr/>
          <p:nvPr/>
        </p:nvSpPr>
        <p:spPr>
          <a:xfrm>
            <a:off x="4773168" y="1892808"/>
            <a:ext cx="4059936" cy="521208"/>
          </a:xfrm>
          <a:prstGeom prst="rect">
            <a:avLst/>
          </a:prstGeom>
          <a:noFill/>
          <a:ln/>
        </p:spPr>
        <p:txBody>
          <a:bodyPr wrap="square" lIns="0" tIns="0" rIns="0" bIns="0" rtlCol="0" anchor="t"/>
          <a:lstStyle/>
          <a:p>
            <a:pPr indent="0" marL="0">
              <a:buNone/>
            </a:pPr>
            <a:r>
              <a:rPr lang="en-US" sz="950" b="1" dirty="0">
                <a:solidFill>
                  <a:srgbClr val="1E40AF"/>
                </a:solidFill>
                <a:latin typeface="Calibri" pitchFamily="34" charset="0"/>
                <a:ea typeface="Calibri" pitchFamily="34" charset="-122"/>
                <a:cs typeface="Calibri" pitchFamily="34" charset="-120"/>
              </a:rPr>
              <a:t>▸ </a:t>
            </a:r>
            <a:pPr indent="0" marL="0">
              <a:buNone/>
            </a:pPr>
            <a:r>
              <a:rPr lang="en-US" sz="950" dirty="0">
                <a:solidFill>
                  <a:srgbClr val="1A2340"/>
                </a:solidFill>
                <a:latin typeface="Calibri" pitchFamily="34" charset="0"/>
                <a:ea typeface="Calibri" pitchFamily="34" charset="-122"/>
                <a:cs typeface="Calibri" pitchFamily="34" charset="-120"/>
              </a:rPr>
              <a:t>Shopify: Core commerce engine (pricing, inventory, checkout rules) stays pure. Adapters connect to payment gateways, shipping providers, and tax services.</a:t>
            </a:r>
            <a:endParaRPr lang="en-US" sz="950" dirty="0"/>
          </a:p>
        </p:txBody>
      </p:sp>
      <p:sp>
        <p:nvSpPr>
          <p:cNvPr id="16" name="Shape 14"/>
          <p:cNvSpPr/>
          <p:nvPr/>
        </p:nvSpPr>
        <p:spPr>
          <a:xfrm>
            <a:off x="4663440" y="2596896"/>
            <a:ext cx="4279392" cy="1636776"/>
          </a:xfrm>
          <a:prstGeom prst="rect">
            <a:avLst/>
          </a:prstGeom>
          <a:solidFill>
            <a:srgbClr val="FFF5F5"/>
          </a:solidFill>
          <a:ln w="12700">
            <a:solidFill>
              <a:srgbClr val="FECACA"/>
            </a:solidFill>
            <a:prstDash val="solid"/>
          </a:ln>
        </p:spPr>
      </p:sp>
      <p:sp>
        <p:nvSpPr>
          <p:cNvPr id="17" name="Shape 15"/>
          <p:cNvSpPr/>
          <p:nvPr/>
        </p:nvSpPr>
        <p:spPr>
          <a:xfrm>
            <a:off x="4663440" y="2596896"/>
            <a:ext cx="4279392" cy="329184"/>
          </a:xfrm>
          <a:prstGeom prst="rect">
            <a:avLst/>
          </a:prstGeom>
          <a:solidFill>
            <a:srgbClr val="B91C1C"/>
          </a:solidFill>
          <a:ln w="12700">
            <a:solidFill>
              <a:srgbClr val="B91C1C"/>
            </a:solidFill>
            <a:prstDash val="solid"/>
          </a:ln>
        </p:spPr>
      </p:sp>
      <p:sp>
        <p:nvSpPr>
          <p:cNvPr id="18" name="Text 16"/>
          <p:cNvSpPr/>
          <p:nvPr/>
        </p:nvSpPr>
        <p:spPr>
          <a:xfrm>
            <a:off x="4773168" y="2596896"/>
            <a:ext cx="4059936" cy="32918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Indian Companies</a:t>
            </a:r>
            <a:endParaRPr lang="en-US" sz="1050" dirty="0"/>
          </a:p>
        </p:txBody>
      </p:sp>
      <p:sp>
        <p:nvSpPr>
          <p:cNvPr id="19" name="Text 17"/>
          <p:cNvSpPr/>
          <p:nvPr/>
        </p:nvSpPr>
        <p:spPr>
          <a:xfrm>
            <a:off x="4773168" y="2962656"/>
            <a:ext cx="4059936" cy="548640"/>
          </a:xfrm>
          <a:prstGeom prst="rect">
            <a:avLst/>
          </a:prstGeom>
          <a:noFill/>
          <a:ln/>
        </p:spPr>
        <p:txBody>
          <a:bodyPr wrap="square" lIns="0" tIns="0" rIns="0" bIns="0" rtlCol="0" anchor="t"/>
          <a:lstStyle/>
          <a:p>
            <a:pPr indent="0" marL="0">
              <a:buNone/>
            </a:pPr>
            <a:r>
              <a:rPr lang="en-US" sz="950" b="1" dirty="0">
                <a:solidFill>
                  <a:srgbClr val="B91C1C"/>
                </a:solidFill>
                <a:latin typeface="Calibri" pitchFamily="34" charset="0"/>
                <a:ea typeface="Calibri" pitchFamily="34" charset="-122"/>
                <a:cs typeface="Calibri" pitchFamily="34" charset="-120"/>
              </a:rPr>
              <a:t>▸ </a:t>
            </a:r>
            <a:pPr indent="0" marL="0">
              <a:buNone/>
            </a:pPr>
            <a:r>
              <a:rPr lang="en-US" sz="950" dirty="0">
                <a:solidFill>
                  <a:srgbClr val="1A2340"/>
                </a:solidFill>
                <a:latin typeface="Calibri" pitchFamily="34" charset="0"/>
                <a:ea typeface="Calibri" pitchFamily="34" charset="-122"/>
                <a:cs typeface="Calibri" pitchFamily="34" charset="-120"/>
              </a:rPr>
              <a:t>Paytm: Core UPI transaction logic sits in the center. Bank adapters (HDFC, SBI, ICICI), merchant adapters, and RBI regulatory adapters all plug in via ports. Core logic never changes when banks update APIs.</a:t>
            </a:r>
            <a:endParaRPr lang="en-US" sz="950" dirty="0"/>
          </a:p>
        </p:txBody>
      </p:sp>
      <p:sp>
        <p:nvSpPr>
          <p:cNvPr id="20" name="Text 18"/>
          <p:cNvSpPr/>
          <p:nvPr/>
        </p:nvSpPr>
        <p:spPr>
          <a:xfrm>
            <a:off x="4773168" y="3557016"/>
            <a:ext cx="4059936" cy="548640"/>
          </a:xfrm>
          <a:prstGeom prst="rect">
            <a:avLst/>
          </a:prstGeom>
          <a:noFill/>
          <a:ln/>
        </p:spPr>
        <p:txBody>
          <a:bodyPr wrap="square" lIns="0" tIns="0" rIns="0" bIns="0" rtlCol="0" anchor="t"/>
          <a:lstStyle/>
          <a:p>
            <a:pPr indent="0" marL="0">
              <a:buNone/>
            </a:pPr>
            <a:r>
              <a:rPr lang="en-US" sz="950" b="1" dirty="0">
                <a:solidFill>
                  <a:srgbClr val="B91C1C"/>
                </a:solidFill>
                <a:latin typeface="Calibri" pitchFamily="34" charset="0"/>
                <a:ea typeface="Calibri" pitchFamily="34" charset="-122"/>
                <a:cs typeface="Calibri" pitchFamily="34" charset="-120"/>
              </a:rPr>
              <a:t>▸ </a:t>
            </a:r>
            <a:pPr indent="0" marL="0">
              <a:buNone/>
            </a:pPr>
            <a:r>
              <a:rPr lang="en-US" sz="950" dirty="0">
                <a:solidFill>
                  <a:srgbClr val="1A2340"/>
                </a:solidFill>
                <a:latin typeface="Calibri" pitchFamily="34" charset="0"/>
                <a:ea typeface="Calibri" pitchFamily="34" charset="-122"/>
                <a:cs typeface="Calibri" pitchFamily="34" charset="-120"/>
              </a:rPr>
              <a:t>PhonePe: Core P2P transfer logic is isolated from NPCI, bank connections, and UX layers. When NPCI updated UPI protocol, only the NPCI adapter was changed — not the core.</a:t>
            </a:r>
            <a:endParaRPr lang="en-US" sz="950" dirty="0"/>
          </a:p>
        </p:txBody>
      </p:sp>
      <p:sp>
        <p:nvSpPr>
          <p:cNvPr id="21" name="Text 19"/>
          <p:cNvSpPr/>
          <p:nvPr/>
        </p:nvSpPr>
        <p:spPr>
          <a:xfrm>
            <a:off x="5120640" y="4846320"/>
            <a:ext cx="3840480" cy="201168"/>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Ruthran Raghavan, Chief AI Scientist</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A0D6E"/>
          </a:solidFill>
          <a:ln w="12700">
            <a:solidFill>
              <a:srgbClr val="3A0D6E"/>
            </a:solidFill>
            <a:prstDash val="solid"/>
          </a:ln>
        </p:spPr>
      </p:sp>
      <p:sp>
        <p:nvSpPr>
          <p:cNvPr id="3" name="Text 1"/>
          <p:cNvSpPr/>
          <p:nvPr/>
        </p:nvSpPr>
        <p:spPr>
          <a:xfrm>
            <a:off x="274320" y="0"/>
            <a:ext cx="8595360" cy="56692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Pattern 5  —  Event-Driven Architecture</a:t>
            </a:r>
            <a:endParaRPr lang="en-US" sz="1700" dirty="0"/>
          </a:p>
        </p:txBody>
      </p:sp>
      <p:sp>
        <p:nvSpPr>
          <p:cNvPr id="4" name="Text 2"/>
          <p:cNvSpPr/>
          <p:nvPr/>
        </p:nvSpPr>
        <p:spPr>
          <a:xfrm>
            <a:off x="228600" y="658368"/>
            <a:ext cx="8686800" cy="256032"/>
          </a:xfrm>
          <a:prstGeom prst="rect">
            <a:avLst/>
          </a:prstGeom>
          <a:noFill/>
          <a:ln/>
        </p:spPr>
        <p:txBody>
          <a:bodyPr wrap="square" lIns="0" tIns="0" rIns="0" bIns="0" rtlCol="0" anchor="ctr"/>
          <a:lstStyle/>
          <a:p>
            <a:pPr indent="0" marL="0">
              <a:buNone/>
            </a:pPr>
            <a:r>
              <a:rPr lang="en-US" sz="1150" i="1" dirty="0">
                <a:solidFill>
                  <a:srgbClr val="475569"/>
                </a:solidFill>
                <a:latin typeface="Calibri" pitchFamily="34" charset="0"/>
                <a:ea typeface="Calibri" pitchFamily="34" charset="-122"/>
                <a:cs typeface="Calibri" pitchFamily="34" charset="-120"/>
              </a:rPr>
              <a:t>Services do NOT call each other. Instead, they publish events. Other services listen and react independently.</a:t>
            </a:r>
            <a:endParaRPr lang="en-US" sz="1150" dirty="0"/>
          </a:p>
        </p:txBody>
      </p:sp>
      <p:sp>
        <p:nvSpPr>
          <p:cNvPr id="5" name="Shape 3"/>
          <p:cNvSpPr/>
          <p:nvPr/>
        </p:nvSpPr>
        <p:spPr>
          <a:xfrm>
            <a:off x="201168" y="960120"/>
            <a:ext cx="4251960" cy="749808"/>
          </a:xfrm>
          <a:prstGeom prst="rect">
            <a:avLst/>
          </a:prstGeom>
          <a:solidFill>
            <a:srgbClr val="F0EBFF"/>
          </a:solidFill>
          <a:ln w="12700">
            <a:solidFill>
              <a:srgbClr val="DDD6FE"/>
            </a:solidFill>
            <a:prstDash val="solid"/>
          </a:ln>
        </p:spPr>
      </p:sp>
      <p:sp>
        <p:nvSpPr>
          <p:cNvPr id="6" name="Text 4"/>
          <p:cNvSpPr/>
          <p:nvPr/>
        </p:nvSpPr>
        <p:spPr>
          <a:xfrm>
            <a:off x="310896" y="996696"/>
            <a:ext cx="4023360" cy="201168"/>
          </a:xfrm>
          <a:prstGeom prst="rect">
            <a:avLst/>
          </a:prstGeom>
          <a:noFill/>
          <a:ln/>
        </p:spPr>
        <p:txBody>
          <a:bodyPr wrap="square" lIns="0" tIns="0" rIns="0" bIns="0" rtlCol="0" anchor="ctr"/>
          <a:lstStyle/>
          <a:p>
            <a:pPr indent="0" marL="0">
              <a:buNone/>
            </a:pPr>
            <a:r>
              <a:rPr lang="en-US" sz="950" b="1" dirty="0">
                <a:solidFill>
                  <a:srgbClr val="6D28D9"/>
                </a:solidFill>
                <a:latin typeface="Calibri" pitchFamily="34" charset="0"/>
                <a:ea typeface="Calibri" pitchFamily="34" charset="-122"/>
                <a:cs typeface="Calibri" pitchFamily="34" charset="-120"/>
              </a:rPr>
              <a:t>📖  What is it?</a:t>
            </a:r>
            <a:endParaRPr lang="en-US" sz="950" dirty="0"/>
          </a:p>
        </p:txBody>
      </p:sp>
      <p:sp>
        <p:nvSpPr>
          <p:cNvPr id="7" name="Text 5"/>
          <p:cNvSpPr/>
          <p:nvPr/>
        </p:nvSpPr>
        <p:spPr>
          <a:xfrm>
            <a:off x="310896" y="1197864"/>
            <a:ext cx="4023360" cy="475488"/>
          </a:xfrm>
          <a:prstGeom prst="rect">
            <a:avLst/>
          </a:prstGeom>
          <a:noFill/>
          <a:ln/>
        </p:spPr>
        <p:txBody>
          <a:bodyPr wrap="square" lIns="0" tIns="0" rIns="0" bIns="0" rtlCol="0" anchor="t"/>
          <a:lstStyle/>
          <a:p>
            <a:pPr indent="0" marL="0">
              <a:buNone/>
            </a:pPr>
            <a:r>
              <a:rPr lang="en-US" sz="950" dirty="0">
                <a:solidFill>
                  <a:srgbClr val="1A2340"/>
                </a:solidFill>
                <a:latin typeface="Calibri" pitchFamily="34" charset="0"/>
                <a:ea typeface="Calibri" pitchFamily="34" charset="-122"/>
                <a:cs typeface="Calibri" pitchFamily="34" charset="-120"/>
              </a:rPr>
              <a:t>When something happens (an order is placed), a service publishes an event. Multiple other services (inventory, email, billing) listen for that event and react — without knowing about each other. Loosely coupled.</a:t>
            </a:r>
            <a:endParaRPr lang="en-US" sz="950" dirty="0"/>
          </a:p>
        </p:txBody>
      </p:sp>
      <p:sp>
        <p:nvSpPr>
          <p:cNvPr id="8" name="Shape 6"/>
          <p:cNvSpPr/>
          <p:nvPr/>
        </p:nvSpPr>
        <p:spPr>
          <a:xfrm>
            <a:off x="201168" y="1764792"/>
            <a:ext cx="4251960" cy="1554480"/>
          </a:xfrm>
          <a:prstGeom prst="rect">
            <a:avLst/>
          </a:prstGeom>
          <a:solidFill>
            <a:srgbClr val="141E2C"/>
          </a:solidFill>
          <a:ln w="12700">
            <a:solidFill>
              <a:srgbClr val="2D3F55"/>
            </a:solidFill>
            <a:prstDash val="solid"/>
          </a:ln>
        </p:spPr>
      </p:sp>
      <p:sp>
        <p:nvSpPr>
          <p:cNvPr id="9" name="Text 7"/>
          <p:cNvSpPr/>
          <p:nvPr/>
        </p:nvSpPr>
        <p:spPr>
          <a:xfrm>
            <a:off x="310896" y="1801368"/>
            <a:ext cx="4023360" cy="201168"/>
          </a:xfrm>
          <a:prstGeom prst="rect">
            <a:avLst/>
          </a:prstGeom>
          <a:noFill/>
          <a:ln/>
        </p:spPr>
        <p:txBody>
          <a:bodyPr wrap="square" lIns="0" tIns="0" rIns="0" bIns="0" rtlCol="0" anchor="ctr"/>
          <a:lstStyle/>
          <a:p>
            <a:pPr indent="0" marL="0">
              <a:buNone/>
            </a:pPr>
            <a:r>
              <a:rPr lang="en-US" sz="950" b="1" dirty="0">
                <a:solidFill>
                  <a:srgbClr val="A78BFA"/>
                </a:solidFill>
                <a:latin typeface="Consolas" pitchFamily="34" charset="0"/>
                <a:ea typeface="Consolas" pitchFamily="34" charset="-122"/>
                <a:cs typeface="Consolas" pitchFamily="34" charset="-120"/>
              </a:rPr>
              <a:t>How it works:</a:t>
            </a:r>
            <a:endParaRPr lang="en-US" sz="950" dirty="0"/>
          </a:p>
        </p:txBody>
      </p:sp>
      <p:sp>
        <p:nvSpPr>
          <p:cNvPr id="10" name="Text 8"/>
          <p:cNvSpPr/>
          <p:nvPr/>
        </p:nvSpPr>
        <p:spPr>
          <a:xfrm>
            <a:off x="310896" y="1993392"/>
            <a:ext cx="4023360" cy="1261872"/>
          </a:xfrm>
          <a:prstGeom prst="rect">
            <a:avLst/>
          </a:prstGeom>
          <a:noFill/>
          <a:ln/>
        </p:spPr>
        <p:txBody>
          <a:bodyPr wrap="square" lIns="0" tIns="0" rIns="0" bIns="0" rtlCol="0" anchor="t"/>
          <a:lstStyle/>
          <a:p>
            <a:pPr indent="0" marL="0">
              <a:buNone/>
            </a:pPr>
            <a:r>
              <a:rPr lang="en-US" sz="900" dirty="0">
                <a:solidFill>
                  <a:srgbClr val="93C5FD"/>
                </a:solidFill>
                <a:latin typeface="Consolas" pitchFamily="34" charset="0"/>
                <a:ea typeface="Consolas" pitchFamily="34" charset="-122"/>
                <a:cs typeface="Consolas" pitchFamily="34" charset="-120"/>
              </a:rPr>
              <a:t>  [Order Service] → publishes 'OrderPlaced' event</a:t>
            </a:r>
            <a:endParaRPr lang="en-US" sz="900" dirty="0"/>
          </a:p>
          <a:p>
            <a:pPr indent="0" marL="0">
              <a:buNone/>
            </a:pPr>
            <a:r>
              <a:rPr lang="en-US" sz="900" dirty="0">
                <a:solidFill>
                  <a:srgbClr val="93C5FD"/>
                </a:solidFill>
                <a:latin typeface="Consolas" pitchFamily="34" charset="0"/>
                <a:ea typeface="Consolas" pitchFamily="34" charset="-122"/>
                <a:cs typeface="Consolas" pitchFamily="34" charset="-120"/>
              </a:rPr>
              <a:t>                          ↓</a:t>
            </a:r>
            <a:endParaRPr lang="en-US" sz="900" dirty="0"/>
          </a:p>
          <a:p>
            <a:pPr indent="0" marL="0">
              <a:buNone/>
            </a:pPr>
            <a:r>
              <a:rPr lang="en-US" sz="900" dirty="0">
                <a:solidFill>
                  <a:srgbClr val="93C5FD"/>
                </a:solidFill>
                <a:latin typeface="Consolas" pitchFamily="34" charset="0"/>
                <a:ea typeface="Consolas" pitchFamily="34" charset="-122"/>
                <a:cs typeface="Consolas" pitchFamily="34" charset="-120"/>
              </a:rPr>
              <a:t>         ┌────────────────┼────────────────┐</a:t>
            </a:r>
            <a:endParaRPr lang="en-US" sz="900" dirty="0"/>
          </a:p>
          <a:p>
            <a:pPr indent="0" marL="0">
              <a:buNone/>
            </a:pPr>
            <a:r>
              <a:rPr lang="en-US" sz="900" dirty="0">
                <a:solidFill>
                  <a:srgbClr val="93C5FD"/>
                </a:solidFill>
                <a:latin typeface="Consolas" pitchFamily="34" charset="0"/>
                <a:ea typeface="Consolas" pitchFamily="34" charset="-122"/>
                <a:cs typeface="Consolas" pitchFamily="34" charset="-120"/>
              </a:rPr>
              <a:t>         ↓                ↓                 ↓</a:t>
            </a:r>
            <a:endParaRPr lang="en-US" sz="900" dirty="0"/>
          </a:p>
          <a:p>
            <a:pPr indent="0" marL="0">
              <a:buNone/>
            </a:pPr>
            <a:r>
              <a:rPr lang="en-US" sz="900" dirty="0">
                <a:solidFill>
                  <a:srgbClr val="93C5FD"/>
                </a:solidFill>
                <a:latin typeface="Consolas" pitchFamily="34" charset="0"/>
                <a:ea typeface="Consolas" pitchFamily="34" charset="-122"/>
                <a:cs typeface="Consolas" pitchFamily="34" charset="-120"/>
              </a:rPr>
              <a:t> [Inventory Svc]  [Email/SMS Svc]  [Billing Svc]</a:t>
            </a:r>
            <a:endParaRPr lang="en-US" sz="900" dirty="0"/>
          </a:p>
          <a:p>
            <a:pPr indent="0" marL="0">
              <a:buNone/>
            </a:pPr>
            <a:r>
              <a:rPr lang="en-US" sz="900" dirty="0">
                <a:solidFill>
                  <a:srgbClr val="93C5FD"/>
                </a:solidFill>
                <a:latin typeface="Consolas" pitchFamily="34" charset="0"/>
                <a:ea typeface="Consolas" pitchFamily="34" charset="-122"/>
                <a:cs typeface="Consolas" pitchFamily="34" charset="-120"/>
              </a:rPr>
              <a:t> (updates stock)  (sends receipt)  (charges card)</a:t>
            </a:r>
            <a:endParaRPr lang="en-US" sz="900" dirty="0"/>
          </a:p>
        </p:txBody>
      </p:sp>
      <p:sp>
        <p:nvSpPr>
          <p:cNvPr id="11" name="Shape 9"/>
          <p:cNvSpPr/>
          <p:nvPr/>
        </p:nvSpPr>
        <p:spPr>
          <a:xfrm>
            <a:off x="4663440" y="960120"/>
            <a:ext cx="4279392" cy="1581912"/>
          </a:xfrm>
          <a:prstGeom prst="rect">
            <a:avLst/>
          </a:prstGeom>
          <a:solidFill>
            <a:srgbClr val="EFF6FF"/>
          </a:solidFill>
          <a:ln w="12700">
            <a:solidFill>
              <a:srgbClr val="BFDBFE"/>
            </a:solidFill>
            <a:prstDash val="solid"/>
          </a:ln>
        </p:spPr>
      </p:sp>
      <p:sp>
        <p:nvSpPr>
          <p:cNvPr id="12" name="Shape 10"/>
          <p:cNvSpPr/>
          <p:nvPr/>
        </p:nvSpPr>
        <p:spPr>
          <a:xfrm>
            <a:off x="4663440" y="960120"/>
            <a:ext cx="4279392" cy="329184"/>
          </a:xfrm>
          <a:prstGeom prst="rect">
            <a:avLst/>
          </a:prstGeom>
          <a:solidFill>
            <a:srgbClr val="1E40AF"/>
          </a:solidFill>
          <a:ln w="12700">
            <a:solidFill>
              <a:srgbClr val="1E40AF"/>
            </a:solidFill>
            <a:prstDash val="solid"/>
          </a:ln>
        </p:spPr>
      </p:sp>
      <p:sp>
        <p:nvSpPr>
          <p:cNvPr id="13" name="Text 11"/>
          <p:cNvSpPr/>
          <p:nvPr/>
        </p:nvSpPr>
        <p:spPr>
          <a:xfrm>
            <a:off x="4773168" y="960120"/>
            <a:ext cx="4059936" cy="32918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American Companies</a:t>
            </a:r>
            <a:endParaRPr lang="en-US" sz="1050" dirty="0"/>
          </a:p>
        </p:txBody>
      </p:sp>
      <p:sp>
        <p:nvSpPr>
          <p:cNvPr id="14" name="Text 12"/>
          <p:cNvSpPr/>
          <p:nvPr/>
        </p:nvSpPr>
        <p:spPr>
          <a:xfrm>
            <a:off x="4773168" y="1325880"/>
            <a:ext cx="4059936" cy="521208"/>
          </a:xfrm>
          <a:prstGeom prst="rect">
            <a:avLst/>
          </a:prstGeom>
          <a:noFill/>
          <a:ln/>
        </p:spPr>
        <p:txBody>
          <a:bodyPr wrap="square" lIns="0" tIns="0" rIns="0" bIns="0" rtlCol="0" anchor="t"/>
          <a:lstStyle/>
          <a:p>
            <a:pPr indent="0" marL="0">
              <a:buNone/>
            </a:pPr>
            <a:r>
              <a:rPr lang="en-US" sz="950" b="1" dirty="0">
                <a:solidFill>
                  <a:srgbClr val="1E40AF"/>
                </a:solidFill>
                <a:latin typeface="Calibri" pitchFamily="34" charset="0"/>
                <a:ea typeface="Calibri" pitchFamily="34" charset="-122"/>
                <a:cs typeface="Calibri" pitchFamily="34" charset="-120"/>
              </a:rPr>
              <a:t>▸ </a:t>
            </a:r>
            <a:pPr indent="0" marL="0">
              <a:buNone/>
            </a:pPr>
            <a:r>
              <a:rPr lang="en-US" sz="950" dirty="0">
                <a:solidFill>
                  <a:srgbClr val="1A2340"/>
                </a:solidFill>
                <a:latin typeface="Calibri" pitchFamily="34" charset="0"/>
                <a:ea typeface="Calibri" pitchFamily="34" charset="-122"/>
                <a:cs typeface="Calibri" pitchFamily="34" charset="-120"/>
              </a:rPr>
              <a:t>Uber: 'RideRequested' event → Driver Matching, Surge Pricing, Maps, and Push Notifications all react independently. Adding a new reaction (e.g. safety check) requires only a new listener.</a:t>
            </a:r>
            <a:endParaRPr lang="en-US" sz="950" dirty="0"/>
          </a:p>
        </p:txBody>
      </p:sp>
      <p:sp>
        <p:nvSpPr>
          <p:cNvPr id="15" name="Text 13"/>
          <p:cNvSpPr/>
          <p:nvPr/>
        </p:nvSpPr>
        <p:spPr>
          <a:xfrm>
            <a:off x="4773168" y="1892808"/>
            <a:ext cx="4059936" cy="521208"/>
          </a:xfrm>
          <a:prstGeom prst="rect">
            <a:avLst/>
          </a:prstGeom>
          <a:noFill/>
          <a:ln/>
        </p:spPr>
        <p:txBody>
          <a:bodyPr wrap="square" lIns="0" tIns="0" rIns="0" bIns="0" rtlCol="0" anchor="t"/>
          <a:lstStyle/>
          <a:p>
            <a:pPr indent="0" marL="0">
              <a:buNone/>
            </a:pPr>
            <a:r>
              <a:rPr lang="en-US" sz="950" b="1" dirty="0">
                <a:solidFill>
                  <a:srgbClr val="1E40AF"/>
                </a:solidFill>
                <a:latin typeface="Calibri" pitchFamily="34" charset="0"/>
                <a:ea typeface="Calibri" pitchFamily="34" charset="-122"/>
                <a:cs typeface="Calibri" pitchFamily="34" charset="-120"/>
              </a:rPr>
              <a:t>▸ </a:t>
            </a:r>
            <a:pPr indent="0" marL="0">
              <a:buNone/>
            </a:pPr>
            <a:r>
              <a:rPr lang="en-US" sz="950" dirty="0">
                <a:solidFill>
                  <a:srgbClr val="1A2340"/>
                </a:solidFill>
                <a:latin typeface="Calibri" pitchFamily="34" charset="0"/>
                <a:ea typeface="Calibri" pitchFamily="34" charset="-122"/>
                <a:cs typeface="Calibri" pitchFamily="34" charset="-120"/>
              </a:rPr>
              <a:t>Twitter/X: 'TweetPosted' event → Timeline Service, Notification Service, Search Index, and Analytics all react. No service calls another — they only listen to events.</a:t>
            </a:r>
            <a:endParaRPr lang="en-US" sz="950" dirty="0"/>
          </a:p>
        </p:txBody>
      </p:sp>
      <p:sp>
        <p:nvSpPr>
          <p:cNvPr id="16" name="Shape 14"/>
          <p:cNvSpPr/>
          <p:nvPr/>
        </p:nvSpPr>
        <p:spPr>
          <a:xfrm>
            <a:off x="4663440" y="2596896"/>
            <a:ext cx="4279392" cy="1636776"/>
          </a:xfrm>
          <a:prstGeom prst="rect">
            <a:avLst/>
          </a:prstGeom>
          <a:solidFill>
            <a:srgbClr val="FFF5F5"/>
          </a:solidFill>
          <a:ln w="12700">
            <a:solidFill>
              <a:srgbClr val="FECACA"/>
            </a:solidFill>
            <a:prstDash val="solid"/>
          </a:ln>
        </p:spPr>
      </p:sp>
      <p:sp>
        <p:nvSpPr>
          <p:cNvPr id="17" name="Shape 15"/>
          <p:cNvSpPr/>
          <p:nvPr/>
        </p:nvSpPr>
        <p:spPr>
          <a:xfrm>
            <a:off x="4663440" y="2596896"/>
            <a:ext cx="4279392" cy="329184"/>
          </a:xfrm>
          <a:prstGeom prst="rect">
            <a:avLst/>
          </a:prstGeom>
          <a:solidFill>
            <a:srgbClr val="B91C1C"/>
          </a:solidFill>
          <a:ln w="12700">
            <a:solidFill>
              <a:srgbClr val="B91C1C"/>
            </a:solidFill>
            <a:prstDash val="solid"/>
          </a:ln>
        </p:spPr>
      </p:sp>
      <p:sp>
        <p:nvSpPr>
          <p:cNvPr id="18" name="Text 16"/>
          <p:cNvSpPr/>
          <p:nvPr/>
        </p:nvSpPr>
        <p:spPr>
          <a:xfrm>
            <a:off x="4773168" y="2596896"/>
            <a:ext cx="4059936" cy="32918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Indian Companies</a:t>
            </a:r>
            <a:endParaRPr lang="en-US" sz="1050" dirty="0"/>
          </a:p>
        </p:txBody>
      </p:sp>
      <p:sp>
        <p:nvSpPr>
          <p:cNvPr id="19" name="Text 17"/>
          <p:cNvSpPr/>
          <p:nvPr/>
        </p:nvSpPr>
        <p:spPr>
          <a:xfrm>
            <a:off x="4773168" y="2962656"/>
            <a:ext cx="4059936" cy="548640"/>
          </a:xfrm>
          <a:prstGeom prst="rect">
            <a:avLst/>
          </a:prstGeom>
          <a:noFill/>
          <a:ln/>
        </p:spPr>
        <p:txBody>
          <a:bodyPr wrap="square" lIns="0" tIns="0" rIns="0" bIns="0" rtlCol="0" anchor="t"/>
          <a:lstStyle/>
          <a:p>
            <a:pPr indent="0" marL="0">
              <a:buNone/>
            </a:pPr>
            <a:r>
              <a:rPr lang="en-US" sz="950" b="1" dirty="0">
                <a:solidFill>
                  <a:srgbClr val="B91C1C"/>
                </a:solidFill>
                <a:latin typeface="Calibri" pitchFamily="34" charset="0"/>
                <a:ea typeface="Calibri" pitchFamily="34" charset="-122"/>
                <a:cs typeface="Calibri" pitchFamily="34" charset="-120"/>
              </a:rPr>
              <a:t>▸ </a:t>
            </a:r>
            <a:pPr indent="0" marL="0">
              <a:buNone/>
            </a:pPr>
            <a:r>
              <a:rPr lang="en-US" sz="950" dirty="0">
                <a:solidFill>
                  <a:srgbClr val="1A2340"/>
                </a:solidFill>
                <a:latin typeface="Calibri" pitchFamily="34" charset="0"/>
                <a:ea typeface="Calibri" pitchFamily="34" charset="-122"/>
                <a:cs typeface="Calibri" pitchFamily="34" charset="-120"/>
              </a:rPr>
              <a:t>Swiggy: 'OrderPlaced' event → Restaurant Notification, Delivery Partner Assignment, Payment Processing, and Customer SMS all fire independently. Swiggy can add a new reaction (carbon offset tracker) without changing OrderService.</a:t>
            </a:r>
            <a:endParaRPr lang="en-US" sz="950" dirty="0"/>
          </a:p>
        </p:txBody>
      </p:sp>
      <p:sp>
        <p:nvSpPr>
          <p:cNvPr id="20" name="Text 18"/>
          <p:cNvSpPr/>
          <p:nvPr/>
        </p:nvSpPr>
        <p:spPr>
          <a:xfrm>
            <a:off x="4773168" y="3557016"/>
            <a:ext cx="4059936" cy="548640"/>
          </a:xfrm>
          <a:prstGeom prst="rect">
            <a:avLst/>
          </a:prstGeom>
          <a:noFill/>
          <a:ln/>
        </p:spPr>
        <p:txBody>
          <a:bodyPr wrap="square" lIns="0" tIns="0" rIns="0" bIns="0" rtlCol="0" anchor="t"/>
          <a:lstStyle/>
          <a:p>
            <a:pPr indent="0" marL="0">
              <a:buNone/>
            </a:pPr>
            <a:r>
              <a:rPr lang="en-US" sz="950" b="1" dirty="0">
                <a:solidFill>
                  <a:srgbClr val="B91C1C"/>
                </a:solidFill>
                <a:latin typeface="Calibri" pitchFamily="34" charset="0"/>
                <a:ea typeface="Calibri" pitchFamily="34" charset="-122"/>
                <a:cs typeface="Calibri" pitchFamily="34" charset="-120"/>
              </a:rPr>
              <a:t>▸ </a:t>
            </a:r>
            <a:pPr indent="0" marL="0">
              <a:buNone/>
            </a:pPr>
            <a:r>
              <a:rPr lang="en-US" sz="950" dirty="0">
                <a:solidFill>
                  <a:srgbClr val="1A2340"/>
                </a:solidFill>
                <a:latin typeface="Calibri" pitchFamily="34" charset="0"/>
                <a:ea typeface="Calibri" pitchFamily="34" charset="-122"/>
                <a:cs typeface="Calibri" pitchFamily="34" charset="-120"/>
              </a:rPr>
              <a:t>NPCI/UPI: 'PaymentInitiated' event → Payer Bank Debit, Payee Bank Credit, SMS Alert, and Fraud Check all react to one event. Powers 12+ billion UPI transactions per month in India.</a:t>
            </a:r>
            <a:endParaRPr lang="en-US" sz="950" dirty="0"/>
          </a:p>
        </p:txBody>
      </p:sp>
      <p:sp>
        <p:nvSpPr>
          <p:cNvPr id="21" name="Text 19"/>
          <p:cNvSpPr/>
          <p:nvPr/>
        </p:nvSpPr>
        <p:spPr>
          <a:xfrm>
            <a:off x="5120640" y="4846320"/>
            <a:ext cx="3840480" cy="201168"/>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Ruthran Raghavan, Chief AI Scientist</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A0D6E"/>
          </a:solidFill>
          <a:ln w="12700">
            <a:solidFill>
              <a:srgbClr val="3A0D6E"/>
            </a:solidFill>
            <a:prstDash val="solid"/>
          </a:ln>
        </p:spPr>
      </p:sp>
      <p:sp>
        <p:nvSpPr>
          <p:cNvPr id="3" name="Text 1"/>
          <p:cNvSpPr/>
          <p:nvPr/>
        </p:nvSpPr>
        <p:spPr>
          <a:xfrm>
            <a:off x="274320" y="0"/>
            <a:ext cx="8595360" cy="56692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Pattern 6  —  Domain-Driven Design (DDD)</a:t>
            </a:r>
            <a:endParaRPr lang="en-US" sz="1700" dirty="0"/>
          </a:p>
        </p:txBody>
      </p:sp>
      <p:sp>
        <p:nvSpPr>
          <p:cNvPr id="4" name="Text 2"/>
          <p:cNvSpPr/>
          <p:nvPr/>
        </p:nvSpPr>
        <p:spPr>
          <a:xfrm>
            <a:off x="228600" y="658368"/>
            <a:ext cx="8686800" cy="256032"/>
          </a:xfrm>
          <a:prstGeom prst="rect">
            <a:avLst/>
          </a:prstGeom>
          <a:noFill/>
          <a:ln/>
        </p:spPr>
        <p:txBody>
          <a:bodyPr wrap="square" lIns="0" tIns="0" rIns="0" bIns="0" rtlCol="0" anchor="ctr"/>
          <a:lstStyle/>
          <a:p>
            <a:pPr indent="0" marL="0">
              <a:buNone/>
            </a:pPr>
            <a:r>
              <a:rPr lang="en-US" sz="1150" i="1" dirty="0">
                <a:solidFill>
                  <a:srgbClr val="475569"/>
                </a:solidFill>
                <a:latin typeface="Calibri" pitchFamily="34" charset="0"/>
                <a:ea typeface="Calibri" pitchFamily="34" charset="-122"/>
                <a:cs typeface="Calibri" pitchFamily="34" charset="-120"/>
              </a:rPr>
              <a:t>Organise your entire codebase around business domains — each domain owns its own data and rules completely</a:t>
            </a:r>
            <a:endParaRPr lang="en-US" sz="1150" dirty="0"/>
          </a:p>
        </p:txBody>
      </p:sp>
      <p:sp>
        <p:nvSpPr>
          <p:cNvPr id="5" name="Shape 3"/>
          <p:cNvSpPr/>
          <p:nvPr/>
        </p:nvSpPr>
        <p:spPr>
          <a:xfrm>
            <a:off x="201168" y="960120"/>
            <a:ext cx="4251960" cy="749808"/>
          </a:xfrm>
          <a:prstGeom prst="rect">
            <a:avLst/>
          </a:prstGeom>
          <a:solidFill>
            <a:srgbClr val="F0EBFF"/>
          </a:solidFill>
          <a:ln w="12700">
            <a:solidFill>
              <a:srgbClr val="DDD6FE"/>
            </a:solidFill>
            <a:prstDash val="solid"/>
          </a:ln>
        </p:spPr>
      </p:sp>
      <p:sp>
        <p:nvSpPr>
          <p:cNvPr id="6" name="Text 4"/>
          <p:cNvSpPr/>
          <p:nvPr/>
        </p:nvSpPr>
        <p:spPr>
          <a:xfrm>
            <a:off x="310896" y="996696"/>
            <a:ext cx="4023360" cy="201168"/>
          </a:xfrm>
          <a:prstGeom prst="rect">
            <a:avLst/>
          </a:prstGeom>
          <a:noFill/>
          <a:ln/>
        </p:spPr>
        <p:txBody>
          <a:bodyPr wrap="square" lIns="0" tIns="0" rIns="0" bIns="0" rtlCol="0" anchor="ctr"/>
          <a:lstStyle/>
          <a:p>
            <a:pPr indent="0" marL="0">
              <a:buNone/>
            </a:pPr>
            <a:r>
              <a:rPr lang="en-US" sz="950" b="1" dirty="0">
                <a:solidFill>
                  <a:srgbClr val="6D28D9"/>
                </a:solidFill>
                <a:latin typeface="Calibri" pitchFamily="34" charset="0"/>
                <a:ea typeface="Calibri" pitchFamily="34" charset="-122"/>
                <a:cs typeface="Calibri" pitchFamily="34" charset="-120"/>
              </a:rPr>
              <a:t>📖  What is it?</a:t>
            </a:r>
            <a:endParaRPr lang="en-US" sz="950" dirty="0"/>
          </a:p>
        </p:txBody>
      </p:sp>
      <p:sp>
        <p:nvSpPr>
          <p:cNvPr id="7" name="Text 5"/>
          <p:cNvSpPr/>
          <p:nvPr/>
        </p:nvSpPr>
        <p:spPr>
          <a:xfrm>
            <a:off x="310896" y="1197864"/>
            <a:ext cx="4023360" cy="475488"/>
          </a:xfrm>
          <a:prstGeom prst="rect">
            <a:avLst/>
          </a:prstGeom>
          <a:noFill/>
          <a:ln/>
        </p:spPr>
        <p:txBody>
          <a:bodyPr wrap="square" lIns="0" tIns="0" rIns="0" bIns="0" rtlCol="0" anchor="t"/>
          <a:lstStyle/>
          <a:p>
            <a:pPr indent="0" marL="0">
              <a:buNone/>
            </a:pPr>
            <a:r>
              <a:rPr lang="en-US" sz="950" dirty="0">
                <a:solidFill>
                  <a:srgbClr val="1A2340"/>
                </a:solidFill>
                <a:latin typeface="Calibri" pitchFamily="34" charset="0"/>
                <a:ea typeface="Calibri" pitchFamily="34" charset="-122"/>
                <a:cs typeface="Calibri" pitchFamily="34" charset="-120"/>
              </a:rPr>
              <a:t>Identify the major business areas (domains). Each domain is a self-contained module with its own models, logic, database, and team. Domains communicate via clear APIs. Code matches how the business thinks.</a:t>
            </a:r>
            <a:endParaRPr lang="en-US" sz="950" dirty="0"/>
          </a:p>
        </p:txBody>
      </p:sp>
      <p:sp>
        <p:nvSpPr>
          <p:cNvPr id="8" name="Shape 6"/>
          <p:cNvSpPr/>
          <p:nvPr/>
        </p:nvSpPr>
        <p:spPr>
          <a:xfrm>
            <a:off x="201168" y="1764792"/>
            <a:ext cx="4251960" cy="1554480"/>
          </a:xfrm>
          <a:prstGeom prst="rect">
            <a:avLst/>
          </a:prstGeom>
          <a:solidFill>
            <a:srgbClr val="141E2C"/>
          </a:solidFill>
          <a:ln w="12700">
            <a:solidFill>
              <a:srgbClr val="2D3F55"/>
            </a:solidFill>
            <a:prstDash val="solid"/>
          </a:ln>
        </p:spPr>
      </p:sp>
      <p:sp>
        <p:nvSpPr>
          <p:cNvPr id="9" name="Text 7"/>
          <p:cNvSpPr/>
          <p:nvPr/>
        </p:nvSpPr>
        <p:spPr>
          <a:xfrm>
            <a:off x="310896" y="1801368"/>
            <a:ext cx="4023360" cy="201168"/>
          </a:xfrm>
          <a:prstGeom prst="rect">
            <a:avLst/>
          </a:prstGeom>
          <a:noFill/>
          <a:ln/>
        </p:spPr>
        <p:txBody>
          <a:bodyPr wrap="square" lIns="0" tIns="0" rIns="0" bIns="0" rtlCol="0" anchor="ctr"/>
          <a:lstStyle/>
          <a:p>
            <a:pPr indent="0" marL="0">
              <a:buNone/>
            </a:pPr>
            <a:r>
              <a:rPr lang="en-US" sz="950" b="1" dirty="0">
                <a:solidFill>
                  <a:srgbClr val="A78BFA"/>
                </a:solidFill>
                <a:latin typeface="Consolas" pitchFamily="34" charset="0"/>
                <a:ea typeface="Consolas" pitchFamily="34" charset="-122"/>
                <a:cs typeface="Consolas" pitchFamily="34" charset="-120"/>
              </a:rPr>
              <a:t>How it works:</a:t>
            </a:r>
            <a:endParaRPr lang="en-US" sz="950" dirty="0"/>
          </a:p>
        </p:txBody>
      </p:sp>
      <p:sp>
        <p:nvSpPr>
          <p:cNvPr id="10" name="Text 8"/>
          <p:cNvSpPr/>
          <p:nvPr/>
        </p:nvSpPr>
        <p:spPr>
          <a:xfrm>
            <a:off x="310896" y="1993392"/>
            <a:ext cx="4023360" cy="1261872"/>
          </a:xfrm>
          <a:prstGeom prst="rect">
            <a:avLst/>
          </a:prstGeom>
          <a:noFill/>
          <a:ln/>
        </p:spPr>
        <p:txBody>
          <a:bodyPr wrap="square" lIns="0" tIns="0" rIns="0" bIns="0" rtlCol="0" anchor="t"/>
          <a:lstStyle/>
          <a:p>
            <a:pPr indent="0" marL="0">
              <a:buNone/>
            </a:pPr>
            <a:r>
              <a:rPr lang="en-US" sz="900" dirty="0">
                <a:solidFill>
                  <a:srgbClr val="93C5FD"/>
                </a:solidFill>
                <a:latin typeface="Consolas" pitchFamily="34" charset="0"/>
                <a:ea typeface="Consolas" pitchFamily="34" charset="-122"/>
                <a:cs typeface="Consolas" pitchFamily="34" charset="-120"/>
              </a:rPr>
              <a:t>┌──────────────┐  ┌──────────────┐  ┌──────────────┐</a:t>
            </a:r>
            <a:endParaRPr lang="en-US" sz="900" dirty="0"/>
          </a:p>
          <a:p>
            <a:pPr indent="0" marL="0">
              <a:buNone/>
            </a:pPr>
            <a:r>
              <a:rPr lang="en-US" sz="900" dirty="0">
                <a:solidFill>
                  <a:srgbClr val="93C5FD"/>
                </a:solidFill>
                <a:latin typeface="Consolas" pitchFamily="34" charset="0"/>
                <a:ea typeface="Consolas" pitchFamily="34" charset="-122"/>
                <a:cs typeface="Consolas" pitchFamily="34" charset="-120"/>
              </a:rPr>
              <a:t>│ Orders Domain│  │ Users Domain │  │Product Domain│</a:t>
            </a:r>
            <a:endParaRPr lang="en-US" sz="900" dirty="0"/>
          </a:p>
          <a:p>
            <a:pPr indent="0" marL="0">
              <a:buNone/>
            </a:pPr>
            <a:r>
              <a:rPr lang="en-US" sz="900" dirty="0">
                <a:solidFill>
                  <a:srgbClr val="93C5FD"/>
                </a:solidFill>
                <a:latin typeface="Consolas" pitchFamily="34" charset="0"/>
                <a:ea typeface="Consolas" pitchFamily="34" charset="-122"/>
                <a:cs typeface="Consolas" pitchFamily="34" charset="-120"/>
              </a:rPr>
              <a:t>│ cart, checkout│  │ auth, profile│  │catalog, price│</a:t>
            </a:r>
            <a:endParaRPr lang="en-US" sz="900" dirty="0"/>
          </a:p>
          <a:p>
            <a:pPr indent="0" marL="0">
              <a:buNone/>
            </a:pPr>
            <a:r>
              <a:rPr lang="en-US" sz="900" dirty="0">
                <a:solidFill>
                  <a:srgbClr val="93C5FD"/>
                </a:solidFill>
                <a:latin typeface="Consolas" pitchFamily="34" charset="0"/>
                <a:ea typeface="Consolas" pitchFamily="34" charset="-122"/>
                <a:cs typeface="Consolas" pitchFamily="34" charset="-120"/>
              </a:rPr>
              <a:t>│ own database │  │ own database │  │ own database │</a:t>
            </a:r>
            <a:endParaRPr lang="en-US" sz="900" dirty="0"/>
          </a:p>
          <a:p>
            <a:pPr indent="0" marL="0">
              <a:buNone/>
            </a:pPr>
            <a:r>
              <a:rPr lang="en-US" sz="900" dirty="0">
                <a:solidFill>
                  <a:srgbClr val="93C5FD"/>
                </a:solidFill>
                <a:latin typeface="Consolas" pitchFamily="34" charset="0"/>
                <a:ea typeface="Consolas" pitchFamily="34" charset="-122"/>
                <a:cs typeface="Consolas" pitchFamily="34" charset="-120"/>
              </a:rPr>
              <a:t>└──────────────┘  └──────────────┘  └──────────────┘</a:t>
            </a:r>
            <a:endParaRPr lang="en-US" sz="900" dirty="0"/>
          </a:p>
          <a:p>
            <a:pPr indent="0" marL="0">
              <a:buNone/>
            </a:pPr>
            <a:r>
              <a:rPr lang="en-US" sz="900" dirty="0">
                <a:solidFill>
                  <a:srgbClr val="93C5FD"/>
                </a:solidFill>
                <a:latin typeface="Consolas" pitchFamily="34" charset="0"/>
                <a:ea typeface="Consolas" pitchFamily="34" charset="-122"/>
                <a:cs typeface="Consolas" pitchFamily="34" charset="-120"/>
              </a:rPr>
              <a:t>      ↕  ↕  ↕  ←── Clear APIs only ──→  ↕  ↕  ↕</a:t>
            </a:r>
            <a:endParaRPr lang="en-US" sz="900" dirty="0"/>
          </a:p>
        </p:txBody>
      </p:sp>
      <p:sp>
        <p:nvSpPr>
          <p:cNvPr id="11" name="Shape 9"/>
          <p:cNvSpPr/>
          <p:nvPr/>
        </p:nvSpPr>
        <p:spPr>
          <a:xfrm>
            <a:off x="4663440" y="960120"/>
            <a:ext cx="4279392" cy="1581912"/>
          </a:xfrm>
          <a:prstGeom prst="rect">
            <a:avLst/>
          </a:prstGeom>
          <a:solidFill>
            <a:srgbClr val="EFF6FF"/>
          </a:solidFill>
          <a:ln w="12700">
            <a:solidFill>
              <a:srgbClr val="BFDBFE"/>
            </a:solidFill>
            <a:prstDash val="solid"/>
          </a:ln>
        </p:spPr>
      </p:sp>
      <p:sp>
        <p:nvSpPr>
          <p:cNvPr id="12" name="Shape 10"/>
          <p:cNvSpPr/>
          <p:nvPr/>
        </p:nvSpPr>
        <p:spPr>
          <a:xfrm>
            <a:off x="4663440" y="960120"/>
            <a:ext cx="4279392" cy="329184"/>
          </a:xfrm>
          <a:prstGeom prst="rect">
            <a:avLst/>
          </a:prstGeom>
          <a:solidFill>
            <a:srgbClr val="1E40AF"/>
          </a:solidFill>
          <a:ln w="12700">
            <a:solidFill>
              <a:srgbClr val="1E40AF"/>
            </a:solidFill>
            <a:prstDash val="solid"/>
          </a:ln>
        </p:spPr>
      </p:sp>
      <p:sp>
        <p:nvSpPr>
          <p:cNvPr id="13" name="Text 11"/>
          <p:cNvSpPr/>
          <p:nvPr/>
        </p:nvSpPr>
        <p:spPr>
          <a:xfrm>
            <a:off x="4773168" y="960120"/>
            <a:ext cx="4059936" cy="32918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American Companies</a:t>
            </a:r>
            <a:endParaRPr lang="en-US" sz="1050" dirty="0"/>
          </a:p>
        </p:txBody>
      </p:sp>
      <p:sp>
        <p:nvSpPr>
          <p:cNvPr id="14" name="Text 12"/>
          <p:cNvSpPr/>
          <p:nvPr/>
        </p:nvSpPr>
        <p:spPr>
          <a:xfrm>
            <a:off x="4773168" y="1325880"/>
            <a:ext cx="4059936" cy="521208"/>
          </a:xfrm>
          <a:prstGeom prst="rect">
            <a:avLst/>
          </a:prstGeom>
          <a:noFill/>
          <a:ln/>
        </p:spPr>
        <p:txBody>
          <a:bodyPr wrap="square" lIns="0" tIns="0" rIns="0" bIns="0" rtlCol="0" anchor="t"/>
          <a:lstStyle/>
          <a:p>
            <a:pPr indent="0" marL="0">
              <a:buNone/>
            </a:pPr>
            <a:r>
              <a:rPr lang="en-US" sz="950" b="1" dirty="0">
                <a:solidFill>
                  <a:srgbClr val="1E40AF"/>
                </a:solidFill>
                <a:latin typeface="Calibri" pitchFamily="34" charset="0"/>
                <a:ea typeface="Calibri" pitchFamily="34" charset="-122"/>
                <a:cs typeface="Calibri" pitchFamily="34" charset="-120"/>
              </a:rPr>
              <a:t>▸ </a:t>
            </a:r>
            <a:pPr indent="0" marL="0">
              <a:buNone/>
            </a:pPr>
            <a:r>
              <a:rPr lang="en-US" sz="950" dirty="0">
                <a:solidFill>
                  <a:srgbClr val="1A2340"/>
                </a:solidFill>
                <a:latin typeface="Calibri" pitchFamily="34" charset="0"/>
                <a:ea typeface="Calibri" pitchFamily="34" charset="-122"/>
                <a:cs typeface="Calibri" pitchFamily="34" charset="-120"/>
              </a:rPr>
              <a:t>Amazon: Orders Domain (cart, checkout, order history), Inventory Domain (stock, warehouse), Pricing Domain (discounts, surge), Users Domain (accounts, addresses) — each owned by separate teams.</a:t>
            </a:r>
            <a:endParaRPr lang="en-US" sz="950" dirty="0"/>
          </a:p>
        </p:txBody>
      </p:sp>
      <p:sp>
        <p:nvSpPr>
          <p:cNvPr id="15" name="Text 13"/>
          <p:cNvSpPr/>
          <p:nvPr/>
        </p:nvSpPr>
        <p:spPr>
          <a:xfrm>
            <a:off x="4773168" y="1892808"/>
            <a:ext cx="4059936" cy="521208"/>
          </a:xfrm>
          <a:prstGeom prst="rect">
            <a:avLst/>
          </a:prstGeom>
          <a:noFill/>
          <a:ln/>
        </p:spPr>
        <p:txBody>
          <a:bodyPr wrap="square" lIns="0" tIns="0" rIns="0" bIns="0" rtlCol="0" anchor="t"/>
          <a:lstStyle/>
          <a:p>
            <a:pPr indent="0" marL="0">
              <a:buNone/>
            </a:pPr>
            <a:r>
              <a:rPr lang="en-US" sz="950" b="1" dirty="0">
                <a:solidFill>
                  <a:srgbClr val="1E40AF"/>
                </a:solidFill>
                <a:latin typeface="Calibri" pitchFamily="34" charset="0"/>
                <a:ea typeface="Calibri" pitchFamily="34" charset="-122"/>
                <a:cs typeface="Calibri" pitchFamily="34" charset="-120"/>
              </a:rPr>
              <a:t>▸ </a:t>
            </a:r>
            <a:pPr indent="0" marL="0">
              <a:buNone/>
            </a:pPr>
            <a:r>
              <a:rPr lang="en-US" sz="950" dirty="0">
                <a:solidFill>
                  <a:srgbClr val="1A2340"/>
                </a:solidFill>
                <a:latin typeface="Calibri" pitchFamily="34" charset="0"/>
                <a:ea typeface="Calibri" pitchFamily="34" charset="-122"/>
                <a:cs typeface="Calibri" pitchFamily="34" charset="-120"/>
              </a:rPr>
              <a:t>Shopify: Products Domain, Orders Domain, Customers Domain, Payments Domain, Shipping Domain — each with their own business rules. Pricing logic lives only in Pricing Domain.</a:t>
            </a:r>
            <a:endParaRPr lang="en-US" sz="950" dirty="0"/>
          </a:p>
        </p:txBody>
      </p:sp>
      <p:sp>
        <p:nvSpPr>
          <p:cNvPr id="16" name="Shape 14"/>
          <p:cNvSpPr/>
          <p:nvPr/>
        </p:nvSpPr>
        <p:spPr>
          <a:xfrm>
            <a:off x="4663440" y="2596896"/>
            <a:ext cx="4279392" cy="1636776"/>
          </a:xfrm>
          <a:prstGeom prst="rect">
            <a:avLst/>
          </a:prstGeom>
          <a:solidFill>
            <a:srgbClr val="FFF5F5"/>
          </a:solidFill>
          <a:ln w="12700">
            <a:solidFill>
              <a:srgbClr val="FECACA"/>
            </a:solidFill>
            <a:prstDash val="solid"/>
          </a:ln>
        </p:spPr>
      </p:sp>
      <p:sp>
        <p:nvSpPr>
          <p:cNvPr id="17" name="Shape 15"/>
          <p:cNvSpPr/>
          <p:nvPr/>
        </p:nvSpPr>
        <p:spPr>
          <a:xfrm>
            <a:off x="4663440" y="2596896"/>
            <a:ext cx="4279392" cy="329184"/>
          </a:xfrm>
          <a:prstGeom prst="rect">
            <a:avLst/>
          </a:prstGeom>
          <a:solidFill>
            <a:srgbClr val="B91C1C"/>
          </a:solidFill>
          <a:ln w="12700">
            <a:solidFill>
              <a:srgbClr val="B91C1C"/>
            </a:solidFill>
            <a:prstDash val="solid"/>
          </a:ln>
        </p:spPr>
      </p:sp>
      <p:sp>
        <p:nvSpPr>
          <p:cNvPr id="18" name="Text 16"/>
          <p:cNvSpPr/>
          <p:nvPr/>
        </p:nvSpPr>
        <p:spPr>
          <a:xfrm>
            <a:off x="4773168" y="2596896"/>
            <a:ext cx="4059936" cy="32918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Indian Companies</a:t>
            </a:r>
            <a:endParaRPr lang="en-US" sz="1050" dirty="0"/>
          </a:p>
        </p:txBody>
      </p:sp>
      <p:sp>
        <p:nvSpPr>
          <p:cNvPr id="19" name="Text 17"/>
          <p:cNvSpPr/>
          <p:nvPr/>
        </p:nvSpPr>
        <p:spPr>
          <a:xfrm>
            <a:off x="4773168" y="2962656"/>
            <a:ext cx="4059936" cy="548640"/>
          </a:xfrm>
          <a:prstGeom prst="rect">
            <a:avLst/>
          </a:prstGeom>
          <a:noFill/>
          <a:ln/>
        </p:spPr>
        <p:txBody>
          <a:bodyPr wrap="square" lIns="0" tIns="0" rIns="0" bIns="0" rtlCol="0" anchor="t"/>
          <a:lstStyle/>
          <a:p>
            <a:pPr indent="0" marL="0">
              <a:buNone/>
            </a:pPr>
            <a:r>
              <a:rPr lang="en-US" sz="950" b="1" dirty="0">
                <a:solidFill>
                  <a:srgbClr val="B91C1C"/>
                </a:solidFill>
                <a:latin typeface="Calibri" pitchFamily="34" charset="0"/>
                <a:ea typeface="Calibri" pitchFamily="34" charset="-122"/>
                <a:cs typeface="Calibri" pitchFamily="34" charset="-120"/>
              </a:rPr>
              <a:t>▸ </a:t>
            </a:r>
            <a:pPr indent="0" marL="0">
              <a:buNone/>
            </a:pPr>
            <a:r>
              <a:rPr lang="en-US" sz="950" dirty="0">
                <a:solidFill>
                  <a:srgbClr val="1A2340"/>
                </a:solidFill>
                <a:latin typeface="Calibri" pitchFamily="34" charset="0"/>
                <a:ea typeface="Calibri" pitchFamily="34" charset="-122"/>
                <a:cs typeface="Calibri" pitchFamily="34" charset="-120"/>
              </a:rPr>
              <a:t>Zomato: Restaurant Domain (menus, ratings, photos), Order Domain (cart, live tracking), Delivery Domain (partner assignment, routing), Payment Domain — each team owns their domain end-to-end.</a:t>
            </a:r>
            <a:endParaRPr lang="en-US" sz="950" dirty="0"/>
          </a:p>
        </p:txBody>
      </p:sp>
      <p:sp>
        <p:nvSpPr>
          <p:cNvPr id="20" name="Text 18"/>
          <p:cNvSpPr/>
          <p:nvPr/>
        </p:nvSpPr>
        <p:spPr>
          <a:xfrm>
            <a:off x="4773168" y="3557016"/>
            <a:ext cx="4059936" cy="548640"/>
          </a:xfrm>
          <a:prstGeom prst="rect">
            <a:avLst/>
          </a:prstGeom>
          <a:noFill/>
          <a:ln/>
        </p:spPr>
        <p:txBody>
          <a:bodyPr wrap="square" lIns="0" tIns="0" rIns="0" bIns="0" rtlCol="0" anchor="t"/>
          <a:lstStyle/>
          <a:p>
            <a:pPr indent="0" marL="0">
              <a:buNone/>
            </a:pPr>
            <a:r>
              <a:rPr lang="en-US" sz="950" b="1" dirty="0">
                <a:solidFill>
                  <a:srgbClr val="B91C1C"/>
                </a:solidFill>
                <a:latin typeface="Calibri" pitchFamily="34" charset="0"/>
                <a:ea typeface="Calibri" pitchFamily="34" charset="-122"/>
                <a:cs typeface="Calibri" pitchFamily="34" charset="-120"/>
              </a:rPr>
              <a:t>▸ </a:t>
            </a:r>
            <a:pPr indent="0" marL="0">
              <a:buNone/>
            </a:pPr>
            <a:r>
              <a:rPr lang="en-US" sz="950" dirty="0">
                <a:solidFill>
                  <a:srgbClr val="1A2340"/>
                </a:solidFill>
                <a:latin typeface="Calibri" pitchFamily="34" charset="0"/>
                <a:ea typeface="Calibri" pitchFamily="34" charset="-122"/>
                <a:cs typeface="Calibri" pitchFamily="34" charset="-120"/>
              </a:rPr>
              <a:t>Myntra: Fashion Domain (catalog, size charts, styling), Order Domain (purchase, exchanges), Returns Domain (reverse logistics, quality check), Warehouse Domain — teams work independently per domain.</a:t>
            </a:r>
            <a:endParaRPr lang="en-US" sz="950" dirty="0"/>
          </a:p>
        </p:txBody>
      </p:sp>
      <p:sp>
        <p:nvSpPr>
          <p:cNvPr id="21" name="Text 19"/>
          <p:cNvSpPr/>
          <p:nvPr/>
        </p:nvSpPr>
        <p:spPr>
          <a:xfrm>
            <a:off x="5120640" y="4846320"/>
            <a:ext cx="3840480" cy="201168"/>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Ruthran Raghavan, Chief AI Scientist</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A0D6E"/>
          </a:solidFill>
          <a:ln w="12700">
            <a:solidFill>
              <a:srgbClr val="3A0D6E"/>
            </a:solidFill>
            <a:prstDash val="solid"/>
          </a:ln>
        </p:spPr>
      </p:sp>
      <p:sp>
        <p:nvSpPr>
          <p:cNvPr id="3" name="Text 1"/>
          <p:cNvSpPr/>
          <p:nvPr/>
        </p:nvSpPr>
        <p:spPr>
          <a:xfrm>
            <a:off x="274320" y="0"/>
            <a:ext cx="8595360" cy="56692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Architecture Patterns — Quick Reference</a:t>
            </a:r>
            <a:endParaRPr lang="en-US" sz="17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228600" y="667512"/>
          <a:ext cx="8686800" cy="4251960"/>
        </p:xfrm>
        <a:graphic>
          <a:graphicData uri="http://schemas.openxmlformats.org/drawingml/2006/table">
            <a:tbl>
              <a:tblPr/>
              <a:tblGrid>
                <a:gridCol w="1371600"/>
                <a:gridCol w="1600200"/>
                <a:gridCol w="1920240"/>
                <a:gridCol w="1874520"/>
                <a:gridCol w="1920240"/>
              </a:tblGrid>
              <a:tr h="607423">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Pattern</a:t>
                      </a:r>
                      <a:endParaRPr lang="en-US" sz="10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3A0D6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Best For</a:t>
                      </a:r>
                      <a:endParaRPr lang="en-US" sz="10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3A0D6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Key Benefit</a:t>
                      </a:r>
                      <a:endParaRPr lang="en-US" sz="10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3A0D6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US Example</a:t>
                      </a:r>
                      <a:endParaRPr lang="en-US" sz="10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40A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India Example</a:t>
                      </a:r>
                      <a:endParaRPr lang="en-US" sz="10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B91C1C"/>
                    </a:solidFill>
                  </a:tcPr>
                </a:tc>
              </a:tr>
              <a:tr h="607423">
                <a:tc>
                  <a:txBody>
                    <a:bodyPr/>
                    <a:lstStyle/>
                    <a:p>
                      <a:pPr indent="0" marL="0">
                        <a:buNone/>
                      </a:pPr>
                      <a:r>
                        <a:rPr lang="en-US" sz="1000" dirty="0">
                          <a:solidFill>
                            <a:srgbClr val="1A2340"/>
                          </a:solidFill>
                          <a:latin typeface="Calibri" pitchFamily="34" charset="0"/>
                          <a:ea typeface="Calibri" pitchFamily="34" charset="-122"/>
                          <a:cs typeface="Calibri" pitchFamily="34" charset="-120"/>
                        </a:rPr>
                        <a:t>Layered</a:t>
                      </a:r>
                      <a:endParaRPr lang="en-US" sz="10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A2340"/>
                          </a:solidFill>
                          <a:latin typeface="Calibri" pitchFamily="34" charset="0"/>
                          <a:ea typeface="Calibri" pitchFamily="34" charset="-122"/>
                          <a:cs typeface="Calibri" pitchFamily="34" charset="-120"/>
                        </a:rPr>
                        <a:t>Web apps, Banking</a:t>
                      </a:r>
                      <a:endParaRPr lang="en-US" sz="10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A2340"/>
                          </a:solidFill>
                          <a:latin typeface="Calibri" pitchFamily="34" charset="0"/>
                          <a:ea typeface="Calibri" pitchFamily="34" charset="-122"/>
                          <a:cs typeface="Calibri" pitchFamily="34" charset="-120"/>
                        </a:rPr>
                        <a:t>Clear separation of concerns</a:t>
                      </a:r>
                      <a:endParaRPr lang="en-US" sz="10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A2340"/>
                          </a:solidFill>
                          <a:latin typeface="Calibri" pitchFamily="34" charset="0"/>
                          <a:ea typeface="Calibri" pitchFamily="34" charset="-122"/>
                          <a:cs typeface="Calibri" pitchFamily="34" charset="-120"/>
                        </a:rPr>
                        <a:t>Facebook, LinkedIn</a:t>
                      </a:r>
                      <a:endParaRPr lang="en-US" sz="10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A2340"/>
                          </a:solidFill>
                          <a:latin typeface="Calibri" pitchFamily="34" charset="0"/>
                          <a:ea typeface="Calibri" pitchFamily="34" charset="-122"/>
                          <a:cs typeface="Calibri" pitchFamily="34" charset="-120"/>
                        </a:rPr>
                        <a:t>HDFC Bank, MakeMyTrip</a:t>
                      </a:r>
                      <a:endParaRPr lang="en-US" sz="10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607423">
                <a:tc>
                  <a:txBody>
                    <a:bodyPr/>
                    <a:lstStyle/>
                    <a:p>
                      <a:pPr indent="0" marL="0">
                        <a:buNone/>
                      </a:pPr>
                      <a:r>
                        <a:rPr lang="en-US" sz="1000" dirty="0">
                          <a:solidFill>
                            <a:srgbClr val="1A2340"/>
                          </a:solidFill>
                          <a:latin typeface="Calibri" pitchFamily="34" charset="0"/>
                          <a:ea typeface="Calibri" pitchFamily="34" charset="-122"/>
                          <a:cs typeface="Calibri" pitchFamily="34" charset="-120"/>
                        </a:rPr>
                        <a:t>Plugin</a:t>
                      </a:r>
                      <a:endParaRPr lang="en-US" sz="10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A2340"/>
                          </a:solidFill>
                          <a:latin typeface="Calibri" pitchFamily="34" charset="0"/>
                          <a:ea typeface="Calibri" pitchFamily="34" charset="-122"/>
                          <a:cs typeface="Calibri" pitchFamily="34" charset="-120"/>
                        </a:rPr>
                        <a:t>Extensible tools</a:t>
                      </a:r>
                      <a:endParaRPr lang="en-US" sz="10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A2340"/>
                          </a:solidFill>
                          <a:latin typeface="Calibri" pitchFamily="34" charset="0"/>
                          <a:ea typeface="Calibri" pitchFamily="34" charset="-122"/>
                          <a:cs typeface="Calibri" pitchFamily="34" charset="-120"/>
                        </a:rPr>
                        <a:t>Add features without core change</a:t>
                      </a:r>
                      <a:endParaRPr lang="en-US" sz="10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A2340"/>
                          </a:solidFill>
                          <a:latin typeface="Calibri" pitchFamily="34" charset="0"/>
                          <a:ea typeface="Calibri" pitchFamily="34" charset="-122"/>
                          <a:cs typeface="Calibri" pitchFamily="34" charset="-120"/>
                        </a:rPr>
                        <a:t>VS Code, WordPress</a:t>
                      </a:r>
                      <a:endParaRPr lang="en-US" sz="10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A2340"/>
                          </a:solidFill>
                          <a:latin typeface="Calibri" pitchFamily="34" charset="0"/>
                          <a:ea typeface="Calibri" pitchFamily="34" charset="-122"/>
                          <a:cs typeface="Calibri" pitchFamily="34" charset="-120"/>
                        </a:rPr>
                        <a:t>Zoho CRM, Tally ERP</a:t>
                      </a:r>
                      <a:endParaRPr lang="en-US" sz="10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607423">
                <a:tc>
                  <a:txBody>
                    <a:bodyPr/>
                    <a:lstStyle/>
                    <a:p>
                      <a:pPr indent="0" marL="0">
                        <a:buNone/>
                      </a:pPr>
                      <a:r>
                        <a:rPr lang="en-US" sz="1000" dirty="0">
                          <a:solidFill>
                            <a:srgbClr val="1A2340"/>
                          </a:solidFill>
                          <a:latin typeface="Calibri" pitchFamily="34" charset="0"/>
                          <a:ea typeface="Calibri" pitchFamily="34" charset="-122"/>
                          <a:cs typeface="Calibri" pitchFamily="34" charset="-120"/>
                        </a:rPr>
                        <a:t>Microservices</a:t>
                      </a:r>
                      <a:endParaRPr lang="en-US" sz="10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A2340"/>
                          </a:solidFill>
                          <a:latin typeface="Calibri" pitchFamily="34" charset="0"/>
                          <a:ea typeface="Calibri" pitchFamily="34" charset="-122"/>
                          <a:cs typeface="Calibri" pitchFamily="34" charset="-120"/>
                        </a:rPr>
                        <a:t>Large-scale platforms</a:t>
                      </a:r>
                      <a:endParaRPr lang="en-US" sz="10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A2340"/>
                          </a:solidFill>
                          <a:latin typeface="Calibri" pitchFamily="34" charset="0"/>
                          <a:ea typeface="Calibri" pitchFamily="34" charset="-122"/>
                          <a:cs typeface="Calibri" pitchFamily="34" charset="-120"/>
                        </a:rPr>
                        <a:t>Scale each feature independently</a:t>
                      </a:r>
                      <a:endParaRPr lang="en-US" sz="10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A2340"/>
                          </a:solidFill>
                          <a:latin typeface="Calibri" pitchFamily="34" charset="0"/>
                          <a:ea typeface="Calibri" pitchFamily="34" charset="-122"/>
                          <a:cs typeface="Calibri" pitchFamily="34" charset="-120"/>
                        </a:rPr>
                        <a:t>Netflix, Uber</a:t>
                      </a:r>
                      <a:endParaRPr lang="en-US" sz="10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A2340"/>
                          </a:solidFill>
                          <a:latin typeface="Calibri" pitchFamily="34" charset="0"/>
                          <a:ea typeface="Calibri" pitchFamily="34" charset="-122"/>
                          <a:cs typeface="Calibri" pitchFamily="34" charset="-120"/>
                        </a:rPr>
                        <a:t>Flipkart, Razorpay</a:t>
                      </a:r>
                      <a:endParaRPr lang="en-US" sz="10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607423">
                <a:tc>
                  <a:txBody>
                    <a:bodyPr/>
                    <a:lstStyle/>
                    <a:p>
                      <a:pPr indent="0" marL="0">
                        <a:buNone/>
                      </a:pPr>
                      <a:r>
                        <a:rPr lang="en-US" sz="1000" dirty="0">
                          <a:solidFill>
                            <a:srgbClr val="1A2340"/>
                          </a:solidFill>
                          <a:latin typeface="Calibri" pitchFamily="34" charset="0"/>
                          <a:ea typeface="Calibri" pitchFamily="34" charset="-122"/>
                          <a:cs typeface="Calibri" pitchFamily="34" charset="-120"/>
                        </a:rPr>
                        <a:t>Hexagonal</a:t>
                      </a:r>
                      <a:endParaRPr lang="en-US" sz="10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A2340"/>
                          </a:solidFill>
                          <a:latin typeface="Calibri" pitchFamily="34" charset="0"/>
                          <a:ea typeface="Calibri" pitchFamily="34" charset="-122"/>
                          <a:cs typeface="Calibri" pitchFamily="34" charset="-120"/>
                        </a:rPr>
                        <a:t>Testable business logic</a:t>
                      </a:r>
                      <a:endParaRPr lang="en-US" sz="10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A2340"/>
                          </a:solidFill>
                          <a:latin typeface="Calibri" pitchFamily="34" charset="0"/>
                          <a:ea typeface="Calibri" pitchFamily="34" charset="-122"/>
                          <a:cs typeface="Calibri" pitchFamily="34" charset="-120"/>
                        </a:rPr>
                        <a:t>Core never depends on infra</a:t>
                      </a:r>
                      <a:endParaRPr lang="en-US" sz="10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A2340"/>
                          </a:solidFill>
                          <a:latin typeface="Calibri" pitchFamily="34" charset="0"/>
                          <a:ea typeface="Calibri" pitchFamily="34" charset="-122"/>
                          <a:cs typeface="Calibri" pitchFamily="34" charset="-120"/>
                        </a:rPr>
                        <a:t>Stripe, Shopify</a:t>
                      </a:r>
                      <a:endParaRPr lang="en-US" sz="10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A2340"/>
                          </a:solidFill>
                          <a:latin typeface="Calibri" pitchFamily="34" charset="0"/>
                          <a:ea typeface="Calibri" pitchFamily="34" charset="-122"/>
                          <a:cs typeface="Calibri" pitchFamily="34" charset="-120"/>
                        </a:rPr>
                        <a:t>Paytm, PhonePe</a:t>
                      </a:r>
                      <a:endParaRPr lang="en-US" sz="10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607423">
                <a:tc>
                  <a:txBody>
                    <a:bodyPr/>
                    <a:lstStyle/>
                    <a:p>
                      <a:pPr indent="0" marL="0">
                        <a:buNone/>
                      </a:pPr>
                      <a:r>
                        <a:rPr lang="en-US" sz="1000" dirty="0">
                          <a:solidFill>
                            <a:srgbClr val="1A2340"/>
                          </a:solidFill>
                          <a:latin typeface="Calibri" pitchFamily="34" charset="0"/>
                          <a:ea typeface="Calibri" pitchFamily="34" charset="-122"/>
                          <a:cs typeface="Calibri" pitchFamily="34" charset="-120"/>
                        </a:rPr>
                        <a:t>Event-Driven</a:t>
                      </a:r>
                      <a:endParaRPr lang="en-US" sz="10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A2340"/>
                          </a:solidFill>
                          <a:latin typeface="Calibri" pitchFamily="34" charset="0"/>
                          <a:ea typeface="Calibri" pitchFamily="34" charset="-122"/>
                          <a:cs typeface="Calibri" pitchFamily="34" charset="-120"/>
                        </a:rPr>
                        <a:t>Real-time systems</a:t>
                      </a:r>
                      <a:endParaRPr lang="en-US" sz="10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A2340"/>
                          </a:solidFill>
                          <a:latin typeface="Calibri" pitchFamily="34" charset="0"/>
                          <a:ea typeface="Calibri" pitchFamily="34" charset="-122"/>
                          <a:cs typeface="Calibri" pitchFamily="34" charset="-120"/>
                        </a:rPr>
                        <a:t>Services fully decoupled</a:t>
                      </a:r>
                      <a:endParaRPr lang="en-US" sz="10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A2340"/>
                          </a:solidFill>
                          <a:latin typeface="Calibri" pitchFamily="34" charset="0"/>
                          <a:ea typeface="Calibri" pitchFamily="34" charset="-122"/>
                          <a:cs typeface="Calibri" pitchFamily="34" charset="-120"/>
                        </a:rPr>
                        <a:t>Uber, Twitter/X</a:t>
                      </a:r>
                      <a:endParaRPr lang="en-US" sz="10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A2340"/>
                          </a:solidFill>
                          <a:latin typeface="Calibri" pitchFamily="34" charset="0"/>
                          <a:ea typeface="Calibri" pitchFamily="34" charset="-122"/>
                          <a:cs typeface="Calibri" pitchFamily="34" charset="-120"/>
                        </a:rPr>
                        <a:t>Swiggy, NPCI/UPI</a:t>
                      </a:r>
                      <a:endParaRPr lang="en-US" sz="10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607423">
                <a:tc>
                  <a:txBody>
                    <a:bodyPr/>
                    <a:lstStyle/>
                    <a:p>
                      <a:pPr indent="0" marL="0">
                        <a:buNone/>
                      </a:pPr>
                      <a:r>
                        <a:rPr lang="en-US" sz="1000" dirty="0">
                          <a:solidFill>
                            <a:srgbClr val="1A2340"/>
                          </a:solidFill>
                          <a:latin typeface="Calibri" pitchFamily="34" charset="0"/>
                          <a:ea typeface="Calibri" pitchFamily="34" charset="-122"/>
                          <a:cs typeface="Calibri" pitchFamily="34" charset="-120"/>
                        </a:rPr>
                        <a:t>DDD</a:t>
                      </a:r>
                      <a:endParaRPr lang="en-US" sz="10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A2340"/>
                          </a:solidFill>
                          <a:latin typeface="Calibri" pitchFamily="34" charset="0"/>
                          <a:ea typeface="Calibri" pitchFamily="34" charset="-122"/>
                          <a:cs typeface="Calibri" pitchFamily="34" charset="-120"/>
                        </a:rPr>
                        <a:t>Complex business rules</a:t>
                      </a:r>
                      <a:endParaRPr lang="en-US" sz="10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A2340"/>
                          </a:solidFill>
                          <a:latin typeface="Calibri" pitchFamily="34" charset="0"/>
                          <a:ea typeface="Calibri" pitchFamily="34" charset="-122"/>
                          <a:cs typeface="Calibri" pitchFamily="34" charset="-120"/>
                        </a:rPr>
                        <a:t>Code mirrors the business model</a:t>
                      </a:r>
                      <a:endParaRPr lang="en-US" sz="10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A2340"/>
                          </a:solidFill>
                          <a:latin typeface="Calibri" pitchFamily="34" charset="0"/>
                          <a:ea typeface="Calibri" pitchFamily="34" charset="-122"/>
                          <a:cs typeface="Calibri" pitchFamily="34" charset="-120"/>
                        </a:rPr>
                        <a:t>Amazon, Shopify</a:t>
                      </a:r>
                      <a:endParaRPr lang="en-US" sz="10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A2340"/>
                          </a:solidFill>
                          <a:latin typeface="Calibri" pitchFamily="34" charset="0"/>
                          <a:ea typeface="Calibri" pitchFamily="34" charset="-122"/>
                          <a:cs typeface="Calibri" pitchFamily="34" charset="-120"/>
                        </a:rPr>
                        <a:t>Zomato, Myntra</a:t>
                      </a:r>
                      <a:endParaRPr lang="en-US" sz="1000" dirty="0">
                        <a:latin typeface="Calibri" charset="0"/>
                        <a:ea typeface="Calibri" charset="0"/>
                        <a:cs typeface="Calibri"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bl>
          </a:graphicData>
        </a:graphic>
      </p:graphicFrame>
      <p:sp>
        <p:nvSpPr>
          <p:cNvPr id="5" name="Text 2"/>
          <p:cNvSpPr/>
          <p:nvPr/>
        </p:nvSpPr>
        <p:spPr>
          <a:xfrm>
            <a:off x="5120640" y="4846320"/>
            <a:ext cx="3840480" cy="201168"/>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Ruthran Raghavan, Chief AI Scientist</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3B82F6"/>
          </a:solidFill>
          <a:ln w="12700">
            <a:solidFill>
              <a:srgbClr val="3B82F6"/>
            </a:solidFill>
            <a:prstDash val="solid"/>
          </a:ln>
        </p:spPr>
      </p:sp>
      <p:sp>
        <p:nvSpPr>
          <p:cNvPr id="3" name="Shape 1"/>
          <p:cNvSpPr/>
          <p:nvPr/>
        </p:nvSpPr>
        <p:spPr>
          <a:xfrm>
            <a:off x="0" y="3200400"/>
            <a:ext cx="9144000" cy="1943100"/>
          </a:xfrm>
          <a:prstGeom prst="rect">
            <a:avLst/>
          </a:prstGeom>
          <a:solidFill>
            <a:srgbClr val="080E18"/>
          </a:solidFill>
          <a:ln w="12700">
            <a:solidFill>
              <a:srgbClr val="080E18"/>
            </a:solidFill>
            <a:prstDash val="solid"/>
          </a:ln>
        </p:spPr>
      </p:sp>
      <p:sp>
        <p:nvSpPr>
          <p:cNvPr id="4" name="Text 2"/>
          <p:cNvSpPr/>
          <p:nvPr/>
        </p:nvSpPr>
        <p:spPr>
          <a:xfrm>
            <a:off x="365760" y="914400"/>
            <a:ext cx="8503920" cy="822960"/>
          </a:xfrm>
          <a:prstGeom prst="rect">
            <a:avLst/>
          </a:prstGeom>
          <a:noFill/>
          <a:ln/>
        </p:spPr>
        <p:txBody>
          <a:bodyPr wrap="square" lIns="0" tIns="0" rIns="0" bIns="0"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Thank You!</a:t>
            </a:r>
            <a:endParaRPr lang="en-US" sz="5200" dirty="0"/>
          </a:p>
        </p:txBody>
      </p:sp>
      <p:sp>
        <p:nvSpPr>
          <p:cNvPr id="5" name="Text 3"/>
          <p:cNvSpPr/>
          <p:nvPr/>
        </p:nvSpPr>
        <p:spPr>
          <a:xfrm>
            <a:off x="365760" y="1783080"/>
            <a:ext cx="8503920" cy="384048"/>
          </a:xfrm>
          <a:prstGeom prst="rect">
            <a:avLst/>
          </a:prstGeom>
          <a:noFill/>
          <a:ln/>
        </p:spPr>
        <p:txBody>
          <a:bodyPr wrap="square" lIns="0" tIns="0" rIns="0" bIns="0" rtlCol="0" anchor="ctr"/>
          <a:lstStyle/>
          <a:p>
            <a:pPr indent="0" marL="0">
              <a:buNone/>
            </a:pPr>
            <a:r>
              <a:rPr lang="en-US" sz="1600" dirty="0">
                <a:solidFill>
                  <a:srgbClr val="93C5FD"/>
                </a:solidFill>
                <a:latin typeface="Calibri" pitchFamily="34" charset="0"/>
                <a:ea typeface="Calibri" pitchFamily="34" charset="-122"/>
                <a:cs typeface="Calibri" pitchFamily="34" charset="-120"/>
              </a:rPr>
              <a:t>You have covered all 12 OOP concepts and 6 Architecture Patterns.</a:t>
            </a:r>
            <a:endParaRPr lang="en-US" sz="1600" dirty="0"/>
          </a:p>
        </p:txBody>
      </p:sp>
      <p:sp>
        <p:nvSpPr>
          <p:cNvPr id="6" name="Shape 4"/>
          <p:cNvSpPr/>
          <p:nvPr/>
        </p:nvSpPr>
        <p:spPr>
          <a:xfrm>
            <a:off x="365760" y="2331720"/>
            <a:ext cx="4160520" cy="777240"/>
          </a:xfrm>
          <a:prstGeom prst="rect">
            <a:avLst/>
          </a:prstGeom>
          <a:solidFill>
            <a:srgbClr val="1E3A5F"/>
          </a:solidFill>
          <a:ln w="12700">
            <a:solidFill>
              <a:srgbClr val="3B82F6"/>
            </a:solidFill>
            <a:prstDash val="solid"/>
          </a:ln>
        </p:spPr>
      </p:sp>
      <p:sp>
        <p:nvSpPr>
          <p:cNvPr id="7" name="Text 5"/>
          <p:cNvSpPr/>
          <p:nvPr/>
        </p:nvSpPr>
        <p:spPr>
          <a:xfrm>
            <a:off x="502920" y="2368296"/>
            <a:ext cx="3886200" cy="237744"/>
          </a:xfrm>
          <a:prstGeom prst="rect">
            <a:avLst/>
          </a:prstGeom>
          <a:noFill/>
          <a:ln/>
        </p:spPr>
        <p:txBody>
          <a:bodyPr wrap="square" lIns="0" tIns="0" rIns="0" bIns="0" rtlCol="0" anchor="ctr"/>
          <a:lstStyle/>
          <a:p>
            <a:pPr indent="0" marL="0">
              <a:buNone/>
            </a:pPr>
            <a:r>
              <a:rPr lang="en-US" sz="1100" b="1" dirty="0">
                <a:solidFill>
                  <a:srgbClr val="93C5FD"/>
                </a:solidFill>
                <a:latin typeface="Calibri" pitchFamily="34" charset="0"/>
                <a:ea typeface="Calibri" pitchFamily="34" charset="-122"/>
                <a:cs typeface="Calibri" pitchFamily="34" charset="-120"/>
              </a:rPr>
              <a:t>12 OOP Concepts</a:t>
            </a:r>
            <a:endParaRPr lang="en-US" sz="1100" dirty="0"/>
          </a:p>
        </p:txBody>
      </p:sp>
      <p:sp>
        <p:nvSpPr>
          <p:cNvPr id="8" name="Text 6"/>
          <p:cNvSpPr/>
          <p:nvPr/>
        </p:nvSpPr>
        <p:spPr>
          <a:xfrm>
            <a:off x="502920" y="2606040"/>
            <a:ext cx="3886200" cy="457200"/>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Encapsulation · Inheritance · Polymorphism · Abstraction</a:t>
            </a:r>
            <a:endParaRPr lang="en-US" sz="950" dirty="0"/>
          </a:p>
          <a:p>
            <a:pPr indent="0" marL="0">
              <a:buNone/>
            </a:pPr>
            <a:r>
              <a:rPr lang="en-US" sz="950" dirty="0">
                <a:solidFill>
                  <a:srgbClr val="CBD5E1"/>
                </a:solidFill>
                <a:latin typeface="Calibri" pitchFamily="34" charset="0"/>
                <a:ea typeface="Calibri" pitchFamily="34" charset="-122"/>
                <a:cs typeface="Calibri" pitchFamily="34" charset="-120"/>
              </a:rPr>
              <a:t>Magic Methods · Properties · Metaclasses · MRO</a:t>
            </a:r>
            <a:endParaRPr lang="en-US" sz="950" dirty="0"/>
          </a:p>
          <a:p>
            <a:pPr indent="0" marL="0">
              <a:buNone/>
            </a:pPr>
            <a:r>
              <a:rPr lang="en-US" sz="950" dirty="0">
                <a:solidFill>
                  <a:srgbClr val="CBD5E1"/>
                </a:solidFill>
                <a:latin typeface="Calibri" pitchFamily="34" charset="0"/>
                <a:ea typeface="Calibri" pitchFamily="34" charset="-122"/>
                <a:cs typeface="Calibri" pitchFamily="34" charset="-120"/>
              </a:rPr>
              <a:t>Dataclasses · Mixins · Context Managers · __slots__</a:t>
            </a:r>
            <a:endParaRPr lang="en-US" sz="950" dirty="0"/>
          </a:p>
        </p:txBody>
      </p:sp>
      <p:sp>
        <p:nvSpPr>
          <p:cNvPr id="9" name="Shape 7"/>
          <p:cNvSpPr/>
          <p:nvPr/>
        </p:nvSpPr>
        <p:spPr>
          <a:xfrm>
            <a:off x="4800600" y="2331720"/>
            <a:ext cx="4160520" cy="777240"/>
          </a:xfrm>
          <a:prstGeom prst="rect">
            <a:avLst/>
          </a:prstGeom>
          <a:solidFill>
            <a:srgbClr val="1E3A5F"/>
          </a:solidFill>
          <a:ln w="12700">
            <a:solidFill>
              <a:srgbClr val="3B82F6"/>
            </a:solidFill>
            <a:prstDash val="solid"/>
          </a:ln>
        </p:spPr>
      </p:sp>
      <p:sp>
        <p:nvSpPr>
          <p:cNvPr id="10" name="Text 8"/>
          <p:cNvSpPr/>
          <p:nvPr/>
        </p:nvSpPr>
        <p:spPr>
          <a:xfrm>
            <a:off x="4937760" y="2368296"/>
            <a:ext cx="3886200" cy="237744"/>
          </a:xfrm>
          <a:prstGeom prst="rect">
            <a:avLst/>
          </a:prstGeom>
          <a:noFill/>
          <a:ln/>
        </p:spPr>
        <p:txBody>
          <a:bodyPr wrap="square" lIns="0" tIns="0" rIns="0" bIns="0" rtlCol="0" anchor="ctr"/>
          <a:lstStyle/>
          <a:p>
            <a:pPr indent="0" marL="0">
              <a:buNone/>
            </a:pPr>
            <a:r>
              <a:rPr lang="en-US" sz="1100" b="1" dirty="0">
                <a:solidFill>
                  <a:srgbClr val="93C5FD"/>
                </a:solidFill>
                <a:latin typeface="Calibri" pitchFamily="34" charset="0"/>
                <a:ea typeface="Calibri" pitchFamily="34" charset="-122"/>
                <a:cs typeface="Calibri" pitchFamily="34" charset="-120"/>
              </a:rPr>
              <a:t>6 Architecture Patterns</a:t>
            </a:r>
            <a:endParaRPr lang="en-US" sz="1100" dirty="0"/>
          </a:p>
        </p:txBody>
      </p:sp>
      <p:sp>
        <p:nvSpPr>
          <p:cNvPr id="11" name="Text 9"/>
          <p:cNvSpPr/>
          <p:nvPr/>
        </p:nvSpPr>
        <p:spPr>
          <a:xfrm>
            <a:off x="4937760" y="2606040"/>
            <a:ext cx="3886200" cy="457200"/>
          </a:xfrm>
          <a:prstGeom prst="rect">
            <a:avLst/>
          </a:prstGeom>
          <a:noFill/>
          <a:ln/>
        </p:spPr>
        <p:txBody>
          <a:bodyPr wrap="square" lIns="0" tIns="0" rIns="0" bIns="0" rtlCol="0" anchor="ctr"/>
          <a:lstStyle/>
          <a:p>
            <a:pPr indent="0" marL="0">
              <a:buNone/>
            </a:pPr>
            <a:r>
              <a:rPr lang="en-US" sz="950" dirty="0">
                <a:solidFill>
                  <a:srgbClr val="CBD5E1"/>
                </a:solidFill>
                <a:latin typeface="Calibri" pitchFamily="34" charset="0"/>
                <a:ea typeface="Calibri" pitchFamily="34" charset="-122"/>
                <a:cs typeface="Calibri" pitchFamily="34" charset="-120"/>
              </a:rPr>
              <a:t>Layered · Plugin · Microservices</a:t>
            </a:r>
            <a:endParaRPr lang="en-US" sz="950" dirty="0"/>
          </a:p>
          <a:p>
            <a:pPr indent="0" marL="0">
              <a:buNone/>
            </a:pPr>
            <a:r>
              <a:rPr lang="en-US" sz="950" dirty="0">
                <a:solidFill>
                  <a:srgbClr val="CBD5E1"/>
                </a:solidFill>
                <a:latin typeface="Calibri" pitchFamily="34" charset="0"/>
                <a:ea typeface="Calibri" pitchFamily="34" charset="-122"/>
                <a:cs typeface="Calibri" pitchFamily="34" charset="-120"/>
              </a:rPr>
              <a:t>Hexagonal · Event-Driven · DDD</a:t>
            </a:r>
            <a:endParaRPr lang="en-US" sz="950" dirty="0"/>
          </a:p>
        </p:txBody>
      </p:sp>
      <p:sp>
        <p:nvSpPr>
          <p:cNvPr id="12" name="Text 10"/>
          <p:cNvSpPr/>
          <p:nvPr/>
        </p:nvSpPr>
        <p:spPr>
          <a:xfrm>
            <a:off x="365760" y="3337560"/>
            <a:ext cx="457200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Ruthran Raghavan</a:t>
            </a:r>
            <a:endParaRPr lang="en-US" sz="1800" dirty="0"/>
          </a:p>
        </p:txBody>
      </p:sp>
      <p:sp>
        <p:nvSpPr>
          <p:cNvPr id="13" name="Text 11"/>
          <p:cNvSpPr/>
          <p:nvPr/>
        </p:nvSpPr>
        <p:spPr>
          <a:xfrm>
            <a:off x="365760" y="3703320"/>
            <a:ext cx="4572000" cy="274320"/>
          </a:xfrm>
          <a:prstGeom prst="rect">
            <a:avLst/>
          </a:prstGeom>
          <a:noFill/>
          <a:ln/>
        </p:spPr>
        <p:txBody>
          <a:bodyPr wrap="square" lIns="0" tIns="0" rIns="0" bIns="0" rtlCol="0" anchor="ctr"/>
          <a:lstStyle/>
          <a:p>
            <a:pPr indent="0" marL="0">
              <a:buNone/>
            </a:pPr>
            <a:r>
              <a:rPr lang="en-US" sz="1300" dirty="0">
                <a:solidFill>
                  <a:srgbClr val="93C5FD"/>
                </a:solidFill>
                <a:latin typeface="Calibri" pitchFamily="34" charset="0"/>
                <a:ea typeface="Calibri" pitchFamily="34" charset="-122"/>
                <a:cs typeface="Calibri" pitchFamily="34" charset="-120"/>
              </a:rPr>
              <a:t>Chief AI Scientist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12 OOP Concepts &amp; Modular Architecture Design Patterns</dc:title>
  <dc:subject>PptxGenJS Presentation</dc:subject>
  <dc:creator>Ruthran Raghavan</dc:creator>
  <cp:lastModifiedBy>Ruthran Raghavan</cp:lastModifiedBy>
  <cp:revision>1</cp:revision>
  <dcterms:created xsi:type="dcterms:W3CDTF">2026-06-04T15:44:13Z</dcterms:created>
  <dcterms:modified xsi:type="dcterms:W3CDTF">2026-06-04T15:44:13Z</dcterms:modified>
</cp:coreProperties>
</file>